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ileron Light" charset="1" panose="00000400000000000000"/>
      <p:regular r:id="rId18"/>
    </p:embeddedFont>
    <p:embeddedFont>
      <p:font typeface="Aileron Ultra-Bold" charset="1" panose="00000A00000000000000"/>
      <p:regular r:id="rId19"/>
    </p:embeddedFont>
    <p:embeddedFont>
      <p:font typeface="Canva Sans Bold" charset="1" panose="020B0803030501040103"/>
      <p:regular r:id="rId20"/>
    </p:embeddedFont>
    <p:embeddedFont>
      <p:font typeface="Canva Sans" charset="1" panose="020B0503030501040103"/>
      <p:regular r:id="rId21"/>
    </p:embeddedFont>
    <p:embeddedFont>
      <p:font typeface="Aileron" charset="1" panose="00000500000000000000"/>
      <p:regular r:id="rId22"/>
    </p:embeddedFont>
    <p:embeddedFont>
      <p:font typeface="Aileron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4922042">
            <a:off x="980119" y="-3449052"/>
            <a:ext cx="5423860" cy="8217969"/>
          </a:xfrm>
          <a:custGeom>
            <a:avLst/>
            <a:gdLst/>
            <a:ahLst/>
            <a:cxnLst/>
            <a:rect r="r" b="b" t="t" l="l"/>
            <a:pathLst>
              <a:path h="8217969" w="5423860">
                <a:moveTo>
                  <a:pt x="0" y="0"/>
                </a:moveTo>
                <a:lnTo>
                  <a:pt x="5423859" y="0"/>
                </a:lnTo>
                <a:lnTo>
                  <a:pt x="5423859" y="8217969"/>
                </a:lnTo>
                <a:lnTo>
                  <a:pt x="0" y="8217969"/>
                </a:lnTo>
                <a:lnTo>
                  <a:pt x="0" y="0"/>
                </a:lnTo>
                <a:close/>
              </a:path>
            </a:pathLst>
          </a:custGeom>
          <a:blipFill>
            <a:blip r:embed="rId3">
              <a:alphaModFix amt="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120089">
            <a:off x="5207817" y="2248886"/>
            <a:ext cx="10753075" cy="10753075"/>
          </a:xfrm>
          <a:custGeom>
            <a:avLst/>
            <a:gdLst/>
            <a:ahLst/>
            <a:cxnLst/>
            <a:rect r="r" b="b" t="t" l="l"/>
            <a:pathLst>
              <a:path h="10753075" w="10753075">
                <a:moveTo>
                  <a:pt x="0" y="0"/>
                </a:moveTo>
                <a:lnTo>
                  <a:pt x="10753075" y="0"/>
                </a:lnTo>
                <a:lnTo>
                  <a:pt x="10753075" y="10753075"/>
                </a:lnTo>
                <a:lnTo>
                  <a:pt x="0" y="10753075"/>
                </a:lnTo>
                <a:lnTo>
                  <a:pt x="0" y="0"/>
                </a:lnTo>
                <a:close/>
              </a:path>
            </a:pathLst>
          </a:custGeom>
          <a:blipFill>
            <a:blip r:embed="rId5">
              <a:alphaModFix amt="12000"/>
            </a:blip>
            <a:stretch>
              <a:fillRect l="0" t="0" r="0" b="0"/>
            </a:stretch>
          </a:blipFill>
        </p:spPr>
      </p:sp>
      <p:sp>
        <p:nvSpPr>
          <p:cNvPr name="Freeform 5" id="5"/>
          <p:cNvSpPr/>
          <p:nvPr/>
        </p:nvSpPr>
        <p:spPr>
          <a:xfrm flipH="false" flipV="false" rot="5120089">
            <a:off x="12010048" y="4263016"/>
            <a:ext cx="7416075" cy="7416075"/>
          </a:xfrm>
          <a:custGeom>
            <a:avLst/>
            <a:gdLst/>
            <a:ahLst/>
            <a:cxnLst/>
            <a:rect r="r" b="b" t="t" l="l"/>
            <a:pathLst>
              <a:path h="7416075" w="7416075">
                <a:moveTo>
                  <a:pt x="0" y="0"/>
                </a:moveTo>
                <a:lnTo>
                  <a:pt x="7416075" y="0"/>
                </a:lnTo>
                <a:lnTo>
                  <a:pt x="7416075" y="7416075"/>
                </a:lnTo>
                <a:lnTo>
                  <a:pt x="0" y="7416075"/>
                </a:lnTo>
                <a:lnTo>
                  <a:pt x="0" y="0"/>
                </a:lnTo>
                <a:close/>
              </a:path>
            </a:pathLst>
          </a:custGeom>
          <a:blipFill>
            <a:blip r:embed="rId5">
              <a:alphaModFix amt="12000"/>
            </a:blip>
            <a:stretch>
              <a:fillRect l="0" t="0" r="0" b="0"/>
            </a:stretch>
          </a:blipFill>
        </p:spPr>
      </p:sp>
      <p:sp>
        <p:nvSpPr>
          <p:cNvPr name="TextBox 6" id="6"/>
          <p:cNvSpPr txBox="true"/>
          <p:nvPr/>
        </p:nvSpPr>
        <p:spPr>
          <a:xfrm rot="0">
            <a:off x="1077632" y="6461019"/>
            <a:ext cx="10555613" cy="541598"/>
          </a:xfrm>
          <a:prstGeom prst="rect">
            <a:avLst/>
          </a:prstGeom>
        </p:spPr>
        <p:txBody>
          <a:bodyPr anchor="t" rtlCol="false" tIns="0" lIns="0" bIns="0" rIns="0">
            <a:spAutoFit/>
          </a:bodyPr>
          <a:lstStyle/>
          <a:p>
            <a:pPr algn="l">
              <a:lnSpc>
                <a:spcPts val="4072"/>
              </a:lnSpc>
            </a:pPr>
            <a:r>
              <a:rPr lang="en-US" sz="4072" spc="-203">
                <a:solidFill>
                  <a:srgbClr val="FFFFFF"/>
                </a:solidFill>
                <a:latin typeface="Aileron Light"/>
                <a:ea typeface="Aileron Light"/>
                <a:cs typeface="Aileron Light"/>
                <a:sym typeface="Aileron Light"/>
              </a:rPr>
              <a:t>ABA Hackathon Spring ‘26</a:t>
            </a:r>
          </a:p>
        </p:txBody>
      </p:sp>
      <p:grpSp>
        <p:nvGrpSpPr>
          <p:cNvPr name="Group 7" id="7"/>
          <p:cNvGrpSpPr/>
          <p:nvPr/>
        </p:nvGrpSpPr>
        <p:grpSpPr>
          <a:xfrm rot="0">
            <a:off x="1028700" y="7625424"/>
            <a:ext cx="7519283" cy="755650"/>
            <a:chOff x="0" y="0"/>
            <a:chExt cx="1980387" cy="199019"/>
          </a:xfrm>
        </p:grpSpPr>
        <p:sp>
          <p:nvSpPr>
            <p:cNvPr name="Freeform 8" id="8"/>
            <p:cNvSpPr/>
            <p:nvPr/>
          </p:nvSpPr>
          <p:spPr>
            <a:xfrm flipH="false" flipV="false" rot="0">
              <a:off x="0" y="0"/>
              <a:ext cx="1980387" cy="199019"/>
            </a:xfrm>
            <a:custGeom>
              <a:avLst/>
              <a:gdLst/>
              <a:ahLst/>
              <a:cxnLst/>
              <a:rect r="r" b="b" t="t" l="l"/>
              <a:pathLst>
                <a:path h="199019" w="1980387">
                  <a:moveTo>
                    <a:pt x="52510" y="0"/>
                  </a:moveTo>
                  <a:lnTo>
                    <a:pt x="1927877" y="0"/>
                  </a:lnTo>
                  <a:cubicBezTo>
                    <a:pt x="1956878" y="0"/>
                    <a:pt x="1980387" y="23510"/>
                    <a:pt x="1980387" y="52510"/>
                  </a:cubicBezTo>
                  <a:lnTo>
                    <a:pt x="1980387" y="146509"/>
                  </a:lnTo>
                  <a:cubicBezTo>
                    <a:pt x="1980387" y="175509"/>
                    <a:pt x="1956878" y="199019"/>
                    <a:pt x="1927877" y="199019"/>
                  </a:cubicBezTo>
                  <a:lnTo>
                    <a:pt x="52510" y="199019"/>
                  </a:lnTo>
                  <a:cubicBezTo>
                    <a:pt x="23510" y="199019"/>
                    <a:pt x="0" y="175509"/>
                    <a:pt x="0" y="146509"/>
                  </a:cubicBezTo>
                  <a:lnTo>
                    <a:pt x="0" y="52510"/>
                  </a:lnTo>
                  <a:cubicBezTo>
                    <a:pt x="0" y="23510"/>
                    <a:pt x="23510" y="0"/>
                    <a:pt x="5251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9" id="9"/>
            <p:cNvSpPr txBox="true"/>
            <p:nvPr/>
          </p:nvSpPr>
          <p:spPr>
            <a:xfrm>
              <a:off x="0" y="85725"/>
              <a:ext cx="1980387" cy="113294"/>
            </a:xfrm>
            <a:prstGeom prst="rect">
              <a:avLst/>
            </a:prstGeom>
          </p:spPr>
          <p:txBody>
            <a:bodyPr anchor="ctr" rtlCol="false" tIns="50800" lIns="50800" bIns="50800" rIns="50800"/>
            <a:lstStyle/>
            <a:p>
              <a:pPr algn="ctr">
                <a:lnSpc>
                  <a:spcPts val="2218"/>
                </a:lnSpc>
              </a:pPr>
              <a:r>
                <a:rPr lang="en-US" b="true" sz="2609" spc="-195">
                  <a:solidFill>
                    <a:srgbClr val="FFFFFF"/>
                  </a:solidFill>
                  <a:latin typeface="Aileron Ultra-Bold"/>
                  <a:ea typeface="Aileron Ultra-Bold"/>
                  <a:cs typeface="Aileron Ultra-Bold"/>
                  <a:sym typeface="Aileron Ultra-Bold"/>
                </a:rPr>
                <a:t>Coding Rookie</a:t>
              </a:r>
            </a:p>
          </p:txBody>
        </p:sp>
      </p:grpSp>
      <p:sp>
        <p:nvSpPr>
          <p:cNvPr name="TextBox 10" id="10"/>
          <p:cNvSpPr txBox="true"/>
          <p:nvPr/>
        </p:nvSpPr>
        <p:spPr>
          <a:xfrm rot="0">
            <a:off x="1432087" y="7863549"/>
            <a:ext cx="1728101" cy="278130"/>
          </a:xfrm>
          <a:prstGeom prst="rect">
            <a:avLst/>
          </a:prstGeom>
        </p:spPr>
        <p:txBody>
          <a:bodyPr anchor="t" rtlCol="false" tIns="0" lIns="0" bIns="0" rIns="0">
            <a:spAutoFit/>
          </a:bodyPr>
          <a:lstStyle/>
          <a:p>
            <a:pPr algn="l">
              <a:lnSpc>
                <a:spcPts val="2160"/>
              </a:lnSpc>
            </a:pPr>
            <a:r>
              <a:rPr lang="en-US" sz="2000" spc="-14">
                <a:solidFill>
                  <a:srgbClr val="FFFFFF"/>
                </a:solidFill>
                <a:latin typeface="Aileron Light"/>
                <a:ea typeface="Aileron Light"/>
                <a:cs typeface="Aileron Light"/>
                <a:sym typeface="Aileron Light"/>
              </a:rPr>
              <a:t>Presented by :</a:t>
            </a:r>
          </a:p>
        </p:txBody>
      </p:sp>
      <p:grpSp>
        <p:nvGrpSpPr>
          <p:cNvPr name="Group 11" id="11"/>
          <p:cNvGrpSpPr/>
          <p:nvPr/>
        </p:nvGrpSpPr>
        <p:grpSpPr>
          <a:xfrm rot="0">
            <a:off x="14571115" y="706101"/>
            <a:ext cx="2688185" cy="504746"/>
            <a:chOff x="0" y="0"/>
            <a:chExt cx="707999" cy="132937"/>
          </a:xfrm>
        </p:grpSpPr>
        <p:sp>
          <p:nvSpPr>
            <p:cNvPr name="Freeform 12" id="12"/>
            <p:cNvSpPr/>
            <p:nvPr/>
          </p:nvSpPr>
          <p:spPr>
            <a:xfrm flipH="false" flipV="false" rot="0">
              <a:off x="0" y="0"/>
              <a:ext cx="707999" cy="132937"/>
            </a:xfrm>
            <a:custGeom>
              <a:avLst/>
              <a:gdLst/>
              <a:ahLst/>
              <a:cxnLst/>
              <a:rect r="r" b="b" t="t" l="l"/>
              <a:pathLst>
                <a:path h="132937" w="707999">
                  <a:moveTo>
                    <a:pt x="66469" y="0"/>
                  </a:moveTo>
                  <a:lnTo>
                    <a:pt x="641531" y="0"/>
                  </a:lnTo>
                  <a:cubicBezTo>
                    <a:pt x="678240" y="0"/>
                    <a:pt x="707999" y="29759"/>
                    <a:pt x="707999" y="66469"/>
                  </a:cubicBezTo>
                  <a:lnTo>
                    <a:pt x="707999" y="66469"/>
                  </a:lnTo>
                  <a:cubicBezTo>
                    <a:pt x="707999" y="84097"/>
                    <a:pt x="700996" y="101004"/>
                    <a:pt x="688531" y="113469"/>
                  </a:cubicBezTo>
                  <a:cubicBezTo>
                    <a:pt x="676066" y="125934"/>
                    <a:pt x="659159" y="132937"/>
                    <a:pt x="641531" y="132937"/>
                  </a:cubicBezTo>
                  <a:lnTo>
                    <a:pt x="66469" y="132937"/>
                  </a:lnTo>
                  <a:cubicBezTo>
                    <a:pt x="29759" y="132937"/>
                    <a:pt x="0" y="103178"/>
                    <a:pt x="0" y="66469"/>
                  </a:cubicBezTo>
                  <a:lnTo>
                    <a:pt x="0" y="66469"/>
                  </a:lnTo>
                  <a:cubicBezTo>
                    <a:pt x="0" y="29759"/>
                    <a:pt x="29759" y="0"/>
                    <a:pt x="664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13" id="13"/>
            <p:cNvSpPr txBox="true"/>
            <p:nvPr/>
          </p:nvSpPr>
          <p:spPr>
            <a:xfrm>
              <a:off x="0" y="85725"/>
              <a:ext cx="707999" cy="47212"/>
            </a:xfrm>
            <a:prstGeom prst="rect">
              <a:avLst/>
            </a:prstGeom>
          </p:spPr>
          <p:txBody>
            <a:bodyPr anchor="ctr" rtlCol="false" tIns="50800" lIns="50800" bIns="50800" rIns="50800"/>
            <a:lstStyle/>
            <a:p>
              <a:pPr algn="ctr">
                <a:lnSpc>
                  <a:spcPts val="2218"/>
                </a:lnSpc>
              </a:pPr>
            </a:p>
          </p:txBody>
        </p:sp>
      </p:grpSp>
      <p:sp>
        <p:nvSpPr>
          <p:cNvPr name="TextBox 14" id="14"/>
          <p:cNvSpPr txBox="true"/>
          <p:nvPr/>
        </p:nvSpPr>
        <p:spPr>
          <a:xfrm rot="0">
            <a:off x="14571115" y="828934"/>
            <a:ext cx="2688185" cy="278130"/>
          </a:xfrm>
          <a:prstGeom prst="rect">
            <a:avLst/>
          </a:prstGeom>
        </p:spPr>
        <p:txBody>
          <a:bodyPr anchor="t" rtlCol="false" tIns="0" lIns="0" bIns="0" rIns="0">
            <a:spAutoFit/>
          </a:bodyPr>
          <a:lstStyle/>
          <a:p>
            <a:pPr algn="ctr">
              <a:lnSpc>
                <a:spcPts val="2160"/>
              </a:lnSpc>
            </a:pPr>
            <a:r>
              <a:rPr lang="en-US" sz="2000" spc="-14">
                <a:solidFill>
                  <a:srgbClr val="FFFFFF"/>
                </a:solidFill>
                <a:latin typeface="Aileron Light"/>
                <a:ea typeface="Aileron Light"/>
                <a:cs typeface="Aileron Light"/>
                <a:sym typeface="Aileron Light"/>
              </a:rPr>
              <a:t>March 27 - 28</a:t>
            </a:r>
          </a:p>
        </p:txBody>
      </p:sp>
      <p:sp>
        <p:nvSpPr>
          <p:cNvPr name="TextBox 15" id="15"/>
          <p:cNvSpPr txBox="true"/>
          <p:nvPr/>
        </p:nvSpPr>
        <p:spPr>
          <a:xfrm rot="0">
            <a:off x="1077632" y="1981811"/>
            <a:ext cx="16181668" cy="4278698"/>
          </a:xfrm>
          <a:prstGeom prst="rect">
            <a:avLst/>
          </a:prstGeom>
        </p:spPr>
        <p:txBody>
          <a:bodyPr anchor="t" rtlCol="false" tIns="0" lIns="0" bIns="0" rIns="0">
            <a:spAutoFit/>
          </a:bodyPr>
          <a:lstStyle/>
          <a:p>
            <a:pPr algn="l">
              <a:lnSpc>
                <a:spcPts val="11133"/>
              </a:lnSpc>
            </a:pPr>
            <a:r>
              <a:rPr lang="en-US" sz="10603" spc="-996" b="true">
                <a:solidFill>
                  <a:srgbClr val="FFFFFF"/>
                </a:solidFill>
                <a:latin typeface="Canva Sans Bold"/>
                <a:ea typeface="Canva Sans Bold"/>
                <a:cs typeface="Canva Sans Bold"/>
                <a:sym typeface="Canva Sans Bold"/>
              </a:rPr>
              <a:t>Digital streaming: who upgrades, who waits &amp; who never will</a:t>
            </a:r>
          </a:p>
        </p:txBody>
      </p:sp>
      <p:grpSp>
        <p:nvGrpSpPr>
          <p:cNvPr name="Group 16" id="16"/>
          <p:cNvGrpSpPr/>
          <p:nvPr/>
        </p:nvGrpSpPr>
        <p:grpSpPr>
          <a:xfrm rot="0">
            <a:off x="1028700" y="8628849"/>
            <a:ext cx="7519283" cy="755650"/>
            <a:chOff x="0" y="0"/>
            <a:chExt cx="1980387" cy="199019"/>
          </a:xfrm>
        </p:grpSpPr>
        <p:sp>
          <p:nvSpPr>
            <p:cNvPr name="Freeform 17" id="17"/>
            <p:cNvSpPr/>
            <p:nvPr/>
          </p:nvSpPr>
          <p:spPr>
            <a:xfrm flipH="false" flipV="false" rot="0">
              <a:off x="0" y="0"/>
              <a:ext cx="1980387" cy="199019"/>
            </a:xfrm>
            <a:custGeom>
              <a:avLst/>
              <a:gdLst/>
              <a:ahLst/>
              <a:cxnLst/>
              <a:rect r="r" b="b" t="t" l="l"/>
              <a:pathLst>
                <a:path h="199019" w="1980387">
                  <a:moveTo>
                    <a:pt x="52510" y="0"/>
                  </a:moveTo>
                  <a:lnTo>
                    <a:pt x="1927877" y="0"/>
                  </a:lnTo>
                  <a:cubicBezTo>
                    <a:pt x="1956878" y="0"/>
                    <a:pt x="1980387" y="23510"/>
                    <a:pt x="1980387" y="52510"/>
                  </a:cubicBezTo>
                  <a:lnTo>
                    <a:pt x="1980387" y="146509"/>
                  </a:lnTo>
                  <a:cubicBezTo>
                    <a:pt x="1980387" y="175509"/>
                    <a:pt x="1956878" y="199019"/>
                    <a:pt x="1927877" y="199019"/>
                  </a:cubicBezTo>
                  <a:lnTo>
                    <a:pt x="52510" y="199019"/>
                  </a:lnTo>
                  <a:cubicBezTo>
                    <a:pt x="23510" y="199019"/>
                    <a:pt x="0" y="175509"/>
                    <a:pt x="0" y="146509"/>
                  </a:cubicBezTo>
                  <a:lnTo>
                    <a:pt x="0" y="52510"/>
                  </a:lnTo>
                  <a:cubicBezTo>
                    <a:pt x="0" y="23510"/>
                    <a:pt x="23510" y="0"/>
                    <a:pt x="5251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18" id="18"/>
            <p:cNvSpPr txBox="true"/>
            <p:nvPr/>
          </p:nvSpPr>
          <p:spPr>
            <a:xfrm>
              <a:off x="0" y="85725"/>
              <a:ext cx="1980387" cy="113294"/>
            </a:xfrm>
            <a:prstGeom prst="rect">
              <a:avLst/>
            </a:prstGeom>
          </p:spPr>
          <p:txBody>
            <a:bodyPr anchor="ctr" rtlCol="false" tIns="50800" lIns="50800" bIns="50800" rIns="50800"/>
            <a:lstStyle/>
            <a:p>
              <a:pPr algn="ctr">
                <a:lnSpc>
                  <a:spcPts val="2218"/>
                </a:lnSpc>
              </a:pPr>
            </a:p>
          </p:txBody>
        </p:sp>
      </p:grpSp>
      <p:sp>
        <p:nvSpPr>
          <p:cNvPr name="TextBox 19" id="19"/>
          <p:cNvSpPr txBox="true"/>
          <p:nvPr/>
        </p:nvSpPr>
        <p:spPr>
          <a:xfrm rot="0">
            <a:off x="2296137" y="8877134"/>
            <a:ext cx="4923352" cy="278130"/>
          </a:xfrm>
          <a:prstGeom prst="rect">
            <a:avLst/>
          </a:prstGeom>
        </p:spPr>
        <p:txBody>
          <a:bodyPr anchor="t" rtlCol="false" tIns="0" lIns="0" bIns="0" rIns="0">
            <a:spAutoFit/>
          </a:bodyPr>
          <a:lstStyle/>
          <a:p>
            <a:pPr algn="l">
              <a:lnSpc>
                <a:spcPts val="2160"/>
              </a:lnSpc>
            </a:pPr>
            <a:r>
              <a:rPr lang="en-US" sz="2000" spc="-14">
                <a:solidFill>
                  <a:srgbClr val="FFFFFF"/>
                </a:solidFill>
                <a:latin typeface="Aileron Light"/>
                <a:ea typeface="Aileron Light"/>
                <a:cs typeface="Aileron Light"/>
                <a:sym typeface="Aileron Light"/>
              </a:rPr>
              <a:t>Team Members: Julie, Simon, Antara, Apoorv</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650679" y="1506683"/>
            <a:ext cx="796570" cy="79657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4" id="4"/>
            <p:cNvSpPr txBox="true"/>
            <p:nvPr/>
          </p:nvSpPr>
          <p:spPr>
            <a:xfrm>
              <a:off x="76200" y="85725"/>
              <a:ext cx="660400" cy="650875"/>
            </a:xfrm>
            <a:prstGeom prst="rect">
              <a:avLst/>
            </a:prstGeom>
          </p:spPr>
          <p:txBody>
            <a:bodyPr anchor="ctr" rtlCol="false" tIns="50800" lIns="50800" bIns="50800" rIns="50800"/>
            <a:lstStyle/>
            <a:p>
              <a:pPr algn="ctr">
                <a:lnSpc>
                  <a:spcPts val="2666"/>
                </a:lnSpc>
              </a:pPr>
            </a:p>
          </p:txBody>
        </p:sp>
      </p:grpSp>
      <p:grpSp>
        <p:nvGrpSpPr>
          <p:cNvPr name="Group 5" id="5"/>
          <p:cNvGrpSpPr/>
          <p:nvPr/>
        </p:nvGrpSpPr>
        <p:grpSpPr>
          <a:xfrm rot="0">
            <a:off x="10650679" y="2586193"/>
            <a:ext cx="796570" cy="79657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7" id="7"/>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8" id="8"/>
          <p:cNvSpPr txBox="true"/>
          <p:nvPr/>
        </p:nvSpPr>
        <p:spPr>
          <a:xfrm rot="0">
            <a:off x="1077632" y="2023378"/>
            <a:ext cx="9231618" cy="3592831"/>
          </a:xfrm>
          <a:prstGeom prst="rect">
            <a:avLst/>
          </a:prstGeom>
        </p:spPr>
        <p:txBody>
          <a:bodyPr anchor="t" rtlCol="false" tIns="0" lIns="0" bIns="0" rIns="0">
            <a:spAutoFit/>
          </a:bodyPr>
          <a:lstStyle/>
          <a:p>
            <a:pPr algn="l">
              <a:lnSpc>
                <a:spcPts val="13860"/>
              </a:lnSpc>
            </a:pPr>
            <a:r>
              <a:rPr lang="en-US" sz="14000" spc="-1316" b="true">
                <a:solidFill>
                  <a:srgbClr val="163B42"/>
                </a:solidFill>
                <a:latin typeface="Canva Sans Bold"/>
                <a:ea typeface="Canva Sans Bold"/>
                <a:cs typeface="Canva Sans Bold"/>
                <a:sym typeface="Canva Sans Bold"/>
              </a:rPr>
              <a:t>List of Contents</a:t>
            </a:r>
          </a:p>
        </p:txBody>
      </p:sp>
      <p:sp>
        <p:nvSpPr>
          <p:cNvPr name="TextBox 9" id="9"/>
          <p:cNvSpPr txBox="true"/>
          <p:nvPr/>
        </p:nvSpPr>
        <p:spPr>
          <a:xfrm rot="0">
            <a:off x="10826653" y="1689541"/>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1</a:t>
            </a:r>
          </a:p>
        </p:txBody>
      </p:sp>
      <p:sp>
        <p:nvSpPr>
          <p:cNvPr name="TextBox 10" id="10"/>
          <p:cNvSpPr txBox="true"/>
          <p:nvPr/>
        </p:nvSpPr>
        <p:spPr>
          <a:xfrm rot="0">
            <a:off x="10826653" y="2769052"/>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2</a:t>
            </a:r>
          </a:p>
        </p:txBody>
      </p:sp>
      <p:grpSp>
        <p:nvGrpSpPr>
          <p:cNvPr name="Group 11" id="11"/>
          <p:cNvGrpSpPr/>
          <p:nvPr/>
        </p:nvGrpSpPr>
        <p:grpSpPr>
          <a:xfrm rot="6146271">
            <a:off x="-1266511" y="7490800"/>
            <a:ext cx="8137868" cy="813786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22000"/>
                  </a:srgbClr>
                </a:gs>
                <a:gs pos="100000">
                  <a:srgbClr val="6F9F97">
                    <a:alpha val="22000"/>
                  </a:srgbClr>
                </a:gs>
              </a:gsLst>
              <a:lin ang="0"/>
            </a:gradFill>
            <a:ln w="19050" cap="sq">
              <a:solidFill>
                <a:srgbClr val="163B42">
                  <a:alpha val="21961"/>
                </a:srgbClr>
              </a:solidFill>
              <a:prstDash val="solid"/>
              <a:miter/>
            </a:ln>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grpSp>
        <p:nvGrpSpPr>
          <p:cNvPr name="Group 14" id="14"/>
          <p:cNvGrpSpPr/>
          <p:nvPr/>
        </p:nvGrpSpPr>
        <p:grpSpPr>
          <a:xfrm rot="0">
            <a:off x="5519316" y="9343357"/>
            <a:ext cx="2412326" cy="241232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22000"/>
                  </a:srgbClr>
                </a:gs>
                <a:gs pos="100000">
                  <a:srgbClr val="6F9F97">
                    <a:alpha val="22000"/>
                  </a:srgbClr>
                </a:gs>
              </a:gsLst>
              <a:lin ang="0"/>
            </a:gradFill>
            <a:ln w="19050" cap="sq">
              <a:solidFill>
                <a:srgbClr val="163B42">
                  <a:alpha val="21961"/>
                </a:srgbClr>
              </a:solidFill>
              <a:prstDash val="solid"/>
              <a:miter/>
            </a:ln>
          </p:spPr>
        </p:sp>
        <p:sp>
          <p:nvSpPr>
            <p:cNvPr name="TextBox 16" id="16"/>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sp>
        <p:nvSpPr>
          <p:cNvPr name="TextBox 17" id="17"/>
          <p:cNvSpPr txBox="true"/>
          <p:nvPr/>
        </p:nvSpPr>
        <p:spPr>
          <a:xfrm rot="0">
            <a:off x="12061371" y="1707308"/>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Problem statement</a:t>
            </a:r>
          </a:p>
        </p:txBody>
      </p:sp>
      <p:sp>
        <p:nvSpPr>
          <p:cNvPr name="TextBox 18" id="18"/>
          <p:cNvSpPr txBox="true"/>
          <p:nvPr/>
        </p:nvSpPr>
        <p:spPr>
          <a:xfrm rot="0">
            <a:off x="12061371" y="2786819"/>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Dataset ETL</a:t>
            </a:r>
          </a:p>
        </p:txBody>
      </p:sp>
      <p:grpSp>
        <p:nvGrpSpPr>
          <p:cNvPr name="Group 19" id="19"/>
          <p:cNvGrpSpPr/>
          <p:nvPr/>
        </p:nvGrpSpPr>
        <p:grpSpPr>
          <a:xfrm rot="0">
            <a:off x="10650679" y="3665704"/>
            <a:ext cx="796570" cy="79657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21" id="21"/>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22" id="22"/>
          <p:cNvSpPr txBox="true"/>
          <p:nvPr/>
        </p:nvSpPr>
        <p:spPr>
          <a:xfrm rot="0">
            <a:off x="10826653" y="3848562"/>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3</a:t>
            </a:r>
          </a:p>
        </p:txBody>
      </p:sp>
      <p:sp>
        <p:nvSpPr>
          <p:cNvPr name="TextBox 23" id="23"/>
          <p:cNvSpPr txBox="true"/>
          <p:nvPr/>
        </p:nvSpPr>
        <p:spPr>
          <a:xfrm rot="0">
            <a:off x="12061371" y="3866329"/>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EDA Snapshot</a:t>
            </a:r>
          </a:p>
        </p:txBody>
      </p:sp>
      <p:grpSp>
        <p:nvGrpSpPr>
          <p:cNvPr name="Group 24" id="24"/>
          <p:cNvGrpSpPr/>
          <p:nvPr/>
        </p:nvGrpSpPr>
        <p:grpSpPr>
          <a:xfrm rot="0">
            <a:off x="10650679" y="4745215"/>
            <a:ext cx="796570" cy="79657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26" id="26"/>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27" id="27"/>
          <p:cNvSpPr txBox="true"/>
          <p:nvPr/>
        </p:nvSpPr>
        <p:spPr>
          <a:xfrm rot="0">
            <a:off x="10826653" y="4928073"/>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4</a:t>
            </a:r>
          </a:p>
        </p:txBody>
      </p:sp>
      <p:sp>
        <p:nvSpPr>
          <p:cNvPr name="TextBox 28" id="28"/>
          <p:cNvSpPr txBox="true"/>
          <p:nvPr/>
        </p:nvSpPr>
        <p:spPr>
          <a:xfrm rot="0">
            <a:off x="12061371" y="4945840"/>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Model choice &amp; rationale</a:t>
            </a:r>
          </a:p>
        </p:txBody>
      </p:sp>
      <p:grpSp>
        <p:nvGrpSpPr>
          <p:cNvPr name="Group 29" id="29"/>
          <p:cNvGrpSpPr/>
          <p:nvPr/>
        </p:nvGrpSpPr>
        <p:grpSpPr>
          <a:xfrm rot="0">
            <a:off x="10650679" y="5824725"/>
            <a:ext cx="796570" cy="79657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31" id="31"/>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32" id="32"/>
          <p:cNvSpPr txBox="true"/>
          <p:nvPr/>
        </p:nvSpPr>
        <p:spPr>
          <a:xfrm rot="0">
            <a:off x="10826653" y="6007584"/>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5</a:t>
            </a:r>
          </a:p>
        </p:txBody>
      </p:sp>
      <p:sp>
        <p:nvSpPr>
          <p:cNvPr name="TextBox 33" id="33"/>
          <p:cNvSpPr txBox="true"/>
          <p:nvPr/>
        </p:nvSpPr>
        <p:spPr>
          <a:xfrm rot="0">
            <a:off x="12061371" y="6025350"/>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Feature Engineering</a:t>
            </a:r>
          </a:p>
        </p:txBody>
      </p:sp>
      <p:grpSp>
        <p:nvGrpSpPr>
          <p:cNvPr name="Group 34" id="34"/>
          <p:cNvGrpSpPr/>
          <p:nvPr/>
        </p:nvGrpSpPr>
        <p:grpSpPr>
          <a:xfrm rot="0">
            <a:off x="10650679" y="6904236"/>
            <a:ext cx="796570" cy="796570"/>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36" id="36"/>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37" id="37"/>
          <p:cNvSpPr txBox="true"/>
          <p:nvPr/>
        </p:nvSpPr>
        <p:spPr>
          <a:xfrm rot="0">
            <a:off x="10826653" y="7087094"/>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6</a:t>
            </a:r>
          </a:p>
        </p:txBody>
      </p:sp>
      <p:sp>
        <p:nvSpPr>
          <p:cNvPr name="TextBox 38" id="38"/>
          <p:cNvSpPr txBox="true"/>
          <p:nvPr/>
        </p:nvSpPr>
        <p:spPr>
          <a:xfrm rot="0">
            <a:off x="12061371" y="7104861"/>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Model results</a:t>
            </a:r>
          </a:p>
        </p:txBody>
      </p:sp>
      <p:grpSp>
        <p:nvGrpSpPr>
          <p:cNvPr name="Group 39" id="39"/>
          <p:cNvGrpSpPr/>
          <p:nvPr/>
        </p:nvGrpSpPr>
        <p:grpSpPr>
          <a:xfrm rot="0">
            <a:off x="10650679" y="7983747"/>
            <a:ext cx="796570" cy="796570"/>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0"/>
                  </a:srgbClr>
                </a:gs>
                <a:gs pos="100000">
                  <a:srgbClr val="6F9F97">
                    <a:alpha val="100000"/>
                  </a:srgbClr>
                </a:gs>
              </a:gsLst>
              <a:lin ang="0"/>
            </a:gradFill>
            <a:ln w="9525" cap="sq">
              <a:gradFill>
                <a:gsLst>
                  <a:gs pos="0">
                    <a:srgbClr val="FFFFFF">
                      <a:alpha val="7000"/>
                    </a:srgbClr>
                  </a:gs>
                  <a:gs pos="100000">
                    <a:srgbClr val="FFFFFF">
                      <a:alpha val="14000"/>
                    </a:srgbClr>
                  </a:gs>
                </a:gsLst>
                <a:path path="circle">
                  <a:fillToRect l="0" r="100000" t="0" b="100000"/>
                </a:path>
                <a:tileRect r="0" l="-100000" b="0" t="-100000"/>
              </a:gradFill>
              <a:prstDash val="solid"/>
              <a:miter/>
            </a:ln>
          </p:spPr>
        </p:sp>
        <p:sp>
          <p:nvSpPr>
            <p:cNvPr name="TextBox 41" id="41"/>
            <p:cNvSpPr txBox="true"/>
            <p:nvPr/>
          </p:nvSpPr>
          <p:spPr>
            <a:xfrm>
              <a:off x="76200" y="85725"/>
              <a:ext cx="660400" cy="650875"/>
            </a:xfrm>
            <a:prstGeom prst="rect">
              <a:avLst/>
            </a:prstGeom>
          </p:spPr>
          <p:txBody>
            <a:bodyPr anchor="ctr" rtlCol="false" tIns="50800" lIns="50800" bIns="50800" rIns="50800"/>
            <a:lstStyle/>
            <a:p>
              <a:pPr algn="ctr" marL="0" indent="0" lvl="0">
                <a:lnSpc>
                  <a:spcPts val="2666"/>
                </a:lnSpc>
                <a:spcBef>
                  <a:spcPct val="0"/>
                </a:spcBef>
              </a:pPr>
            </a:p>
          </p:txBody>
        </p:sp>
      </p:grpSp>
      <p:sp>
        <p:nvSpPr>
          <p:cNvPr name="TextBox 42" id="42"/>
          <p:cNvSpPr txBox="true"/>
          <p:nvPr/>
        </p:nvSpPr>
        <p:spPr>
          <a:xfrm rot="0">
            <a:off x="10826653" y="8166605"/>
            <a:ext cx="467337" cy="457871"/>
          </a:xfrm>
          <a:prstGeom prst="rect">
            <a:avLst/>
          </a:prstGeom>
        </p:spPr>
        <p:txBody>
          <a:bodyPr anchor="t" rtlCol="false" tIns="0" lIns="0" bIns="0" rIns="0">
            <a:spAutoFit/>
          </a:bodyPr>
          <a:lstStyle/>
          <a:p>
            <a:pPr algn="ctr">
              <a:lnSpc>
                <a:spcPts val="3639"/>
              </a:lnSpc>
            </a:pPr>
            <a:r>
              <a:rPr lang="en-US" b="true" sz="3466" spc="-103">
                <a:solidFill>
                  <a:srgbClr val="FFFFFF"/>
                </a:solidFill>
                <a:latin typeface="Canva Sans Bold"/>
                <a:ea typeface="Canva Sans Bold"/>
                <a:cs typeface="Canva Sans Bold"/>
                <a:sym typeface="Canva Sans Bold"/>
              </a:rPr>
              <a:t>7</a:t>
            </a:r>
          </a:p>
        </p:txBody>
      </p:sp>
      <p:sp>
        <p:nvSpPr>
          <p:cNvPr name="TextBox 43" id="43"/>
          <p:cNvSpPr txBox="true"/>
          <p:nvPr/>
        </p:nvSpPr>
        <p:spPr>
          <a:xfrm rot="0">
            <a:off x="12061371" y="8184372"/>
            <a:ext cx="4772410" cy="400566"/>
          </a:xfrm>
          <a:prstGeom prst="rect">
            <a:avLst/>
          </a:prstGeom>
        </p:spPr>
        <p:txBody>
          <a:bodyPr anchor="t" rtlCol="false" tIns="0" lIns="0" bIns="0" rIns="0">
            <a:spAutoFit/>
          </a:bodyPr>
          <a:lstStyle/>
          <a:p>
            <a:pPr algn="l">
              <a:lnSpc>
                <a:spcPts val="3003"/>
              </a:lnSpc>
            </a:pPr>
            <a:r>
              <a:rPr lang="en-US" sz="3003" spc="-150">
                <a:solidFill>
                  <a:srgbClr val="163B42"/>
                </a:solidFill>
                <a:latin typeface="Aileron"/>
                <a:ea typeface="Aileron"/>
                <a:cs typeface="Aileron"/>
                <a:sym typeface="Aileron"/>
              </a:rPr>
              <a:t>Limitations And Conclusion</a:t>
            </a:r>
          </a:p>
        </p:txBody>
      </p:sp>
      <p:sp>
        <p:nvSpPr>
          <p:cNvPr name="TextBox 44" id="4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1032504" y="-239619"/>
            <a:ext cx="11490266" cy="11490266"/>
          </a:xfrm>
          <a:custGeom>
            <a:avLst/>
            <a:gdLst/>
            <a:ahLst/>
            <a:cxnLst/>
            <a:rect r="r" b="b" t="t" l="l"/>
            <a:pathLst>
              <a:path h="11490266" w="11490266">
                <a:moveTo>
                  <a:pt x="0" y="0"/>
                </a:moveTo>
                <a:lnTo>
                  <a:pt x="11490266" y="0"/>
                </a:lnTo>
                <a:lnTo>
                  <a:pt x="11490266" y="11490266"/>
                </a:lnTo>
                <a:lnTo>
                  <a:pt x="0" y="1149026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722287" y="1456459"/>
            <a:ext cx="8098110" cy="8098110"/>
          </a:xfrm>
          <a:custGeom>
            <a:avLst/>
            <a:gdLst/>
            <a:ahLst/>
            <a:cxnLst/>
            <a:rect r="r" b="b" t="t" l="l"/>
            <a:pathLst>
              <a:path h="8098110" w="8098110">
                <a:moveTo>
                  <a:pt x="0" y="0"/>
                </a:moveTo>
                <a:lnTo>
                  <a:pt x="8098110" y="0"/>
                </a:lnTo>
                <a:lnTo>
                  <a:pt x="8098110" y="8098110"/>
                </a:lnTo>
                <a:lnTo>
                  <a:pt x="0" y="8098110"/>
                </a:lnTo>
                <a:lnTo>
                  <a:pt x="0" y="0"/>
                </a:lnTo>
                <a:close/>
              </a:path>
            </a:pathLst>
          </a:custGeom>
          <a:blipFill>
            <a:blip r:embed="rId3">
              <a:alphaModFix amt="12000"/>
            </a:blip>
            <a:stretch>
              <a:fillRect l="0" t="0" r="0" b="0"/>
            </a:stretch>
          </a:blipFill>
        </p:spPr>
      </p:sp>
      <p:sp>
        <p:nvSpPr>
          <p:cNvPr name="TextBox 5" id="5"/>
          <p:cNvSpPr txBox="true"/>
          <p:nvPr/>
        </p:nvSpPr>
        <p:spPr>
          <a:xfrm rot="0">
            <a:off x="2221588" y="1343039"/>
            <a:ext cx="14599741" cy="1341353"/>
          </a:xfrm>
          <a:prstGeom prst="rect">
            <a:avLst/>
          </a:prstGeom>
        </p:spPr>
        <p:txBody>
          <a:bodyPr anchor="t" rtlCol="false" tIns="0" lIns="0" bIns="0" rIns="0">
            <a:spAutoFit/>
          </a:bodyPr>
          <a:lstStyle/>
          <a:p>
            <a:pPr algn="r">
              <a:lnSpc>
                <a:spcPts val="5281"/>
              </a:lnSpc>
              <a:spcBef>
                <a:spcPct val="0"/>
              </a:spcBef>
            </a:pPr>
            <a:r>
              <a:rPr lang="en-US" b="true" sz="4890" spc="-34">
                <a:solidFill>
                  <a:srgbClr val="FFFFFF"/>
                </a:solidFill>
                <a:latin typeface="Canva Sans Bold"/>
                <a:ea typeface="Canva Sans Bold"/>
                <a:cs typeface="Canva Sans Bold"/>
                <a:sym typeface="Canva Sans Bold"/>
              </a:rPr>
              <a:t>Let’s </a:t>
            </a:r>
            <a:r>
              <a:rPr lang="en-US" b="true" sz="4890" spc="-34">
                <a:solidFill>
                  <a:srgbClr val="FFFFFF"/>
                </a:solidFill>
                <a:latin typeface="Canva Sans Bold"/>
                <a:ea typeface="Canva Sans Bold"/>
                <a:cs typeface="Canva Sans Bold"/>
                <a:sym typeface="Canva Sans Bold"/>
              </a:rPr>
              <a:t>predict when your streaming user will</a:t>
            </a:r>
          </a:p>
          <a:p>
            <a:pPr algn="r">
              <a:lnSpc>
                <a:spcPts val="5281"/>
              </a:lnSpc>
              <a:spcBef>
                <a:spcPct val="0"/>
              </a:spcBef>
            </a:pPr>
            <a:r>
              <a:rPr lang="en-US" b="true" sz="4890" spc="-34">
                <a:solidFill>
                  <a:srgbClr val="FFFFFF"/>
                </a:solidFill>
                <a:latin typeface="Canva Sans Bold"/>
                <a:ea typeface="Canva Sans Bold"/>
                <a:cs typeface="Canva Sans Bold"/>
                <a:sym typeface="Canva Sans Bold"/>
              </a:rPr>
              <a:t>choose short-term savings over long-term value..</a:t>
            </a:r>
          </a:p>
        </p:txBody>
      </p:sp>
      <p:grpSp>
        <p:nvGrpSpPr>
          <p:cNvPr name="Group 6" id="6"/>
          <p:cNvGrpSpPr/>
          <p:nvPr/>
        </p:nvGrpSpPr>
        <p:grpSpPr>
          <a:xfrm rot="0">
            <a:off x="913204" y="5505514"/>
            <a:ext cx="5303992" cy="2929890"/>
            <a:chOff x="0" y="0"/>
            <a:chExt cx="1473647" cy="814033"/>
          </a:xfrm>
        </p:grpSpPr>
        <p:sp>
          <p:nvSpPr>
            <p:cNvPr name="Freeform 7" id="7"/>
            <p:cNvSpPr/>
            <p:nvPr/>
          </p:nvSpPr>
          <p:spPr>
            <a:xfrm flipH="false" flipV="false" rot="0">
              <a:off x="0" y="0"/>
              <a:ext cx="1473647" cy="814033"/>
            </a:xfrm>
            <a:custGeom>
              <a:avLst/>
              <a:gdLst/>
              <a:ahLst/>
              <a:cxnLst/>
              <a:rect r="r" b="b" t="t" l="l"/>
              <a:pathLst>
                <a:path h="814033" w="1473647">
                  <a:moveTo>
                    <a:pt x="49628" y="0"/>
                  </a:moveTo>
                  <a:lnTo>
                    <a:pt x="1424020" y="0"/>
                  </a:lnTo>
                  <a:cubicBezTo>
                    <a:pt x="1451428" y="0"/>
                    <a:pt x="1473647" y="22219"/>
                    <a:pt x="1473647" y="49628"/>
                  </a:cubicBezTo>
                  <a:lnTo>
                    <a:pt x="1473647" y="764405"/>
                  </a:lnTo>
                  <a:cubicBezTo>
                    <a:pt x="1473647" y="777567"/>
                    <a:pt x="1468419" y="790190"/>
                    <a:pt x="1459112" y="799497"/>
                  </a:cubicBezTo>
                  <a:cubicBezTo>
                    <a:pt x="1449805" y="808804"/>
                    <a:pt x="1437182" y="814033"/>
                    <a:pt x="1424020" y="814033"/>
                  </a:cubicBezTo>
                  <a:lnTo>
                    <a:pt x="49628" y="814033"/>
                  </a:lnTo>
                  <a:cubicBezTo>
                    <a:pt x="36466" y="814033"/>
                    <a:pt x="23843" y="808804"/>
                    <a:pt x="14536" y="799497"/>
                  </a:cubicBezTo>
                  <a:cubicBezTo>
                    <a:pt x="5229" y="790190"/>
                    <a:pt x="0" y="777567"/>
                    <a:pt x="0" y="764405"/>
                  </a:cubicBezTo>
                  <a:lnTo>
                    <a:pt x="0" y="49628"/>
                  </a:lnTo>
                  <a:cubicBezTo>
                    <a:pt x="0" y="36466"/>
                    <a:pt x="5229" y="23843"/>
                    <a:pt x="14536" y="14536"/>
                  </a:cubicBezTo>
                  <a:cubicBezTo>
                    <a:pt x="23843" y="5229"/>
                    <a:pt x="36466" y="0"/>
                    <a:pt x="49628" y="0"/>
                  </a:cubicBezTo>
                  <a:close/>
                </a:path>
              </a:pathLst>
            </a:custGeom>
            <a:solidFill>
              <a:srgbClr val="FFFFFF"/>
            </a:solidFill>
            <a:ln w="19050" cap="rnd">
              <a:solidFill>
                <a:srgbClr val="163B42"/>
              </a:solidFill>
              <a:prstDash val="solid"/>
              <a:round/>
            </a:ln>
          </p:spPr>
        </p:sp>
        <p:sp>
          <p:nvSpPr>
            <p:cNvPr name="TextBox 8" id="8"/>
            <p:cNvSpPr txBox="true"/>
            <p:nvPr/>
          </p:nvSpPr>
          <p:spPr>
            <a:xfrm>
              <a:off x="0" y="-142875"/>
              <a:ext cx="1473647" cy="956908"/>
            </a:xfrm>
            <a:prstGeom prst="rect">
              <a:avLst/>
            </a:prstGeom>
          </p:spPr>
          <p:txBody>
            <a:bodyPr anchor="ctr" rtlCol="false" tIns="76200" lIns="76200" bIns="76200" rIns="76200"/>
            <a:lstStyle/>
            <a:p>
              <a:pPr algn="ctr">
                <a:lnSpc>
                  <a:spcPts val="3880"/>
                </a:lnSpc>
              </a:pPr>
            </a:p>
            <a:p>
              <a:pPr algn="ctr">
                <a:lnSpc>
                  <a:spcPts val="3880"/>
                </a:lnSpc>
              </a:pPr>
            </a:p>
            <a:p>
              <a:pPr algn="ctr">
                <a:lnSpc>
                  <a:spcPts val="3880"/>
                </a:lnSpc>
              </a:pPr>
              <a:r>
                <a:rPr lang="en-US" sz="2000" spc="-14">
                  <a:solidFill>
                    <a:srgbClr val="000000"/>
                  </a:solidFill>
                  <a:latin typeface="Aileron"/>
                  <a:ea typeface="Aileron"/>
                  <a:cs typeface="Aileron"/>
                  <a:sym typeface="Aileron"/>
                </a:rPr>
                <a:t>Analytics team building predictive models to support tier optimization and customer lifetime value</a:t>
              </a:r>
            </a:p>
            <a:p>
              <a:pPr algn="ctr" marL="0" indent="0" lvl="0">
                <a:lnSpc>
                  <a:spcPts val="3880"/>
                </a:lnSpc>
              </a:pPr>
            </a:p>
          </p:txBody>
        </p:sp>
      </p:grpSp>
      <p:grpSp>
        <p:nvGrpSpPr>
          <p:cNvPr name="Group 9" id="9"/>
          <p:cNvGrpSpPr/>
          <p:nvPr/>
        </p:nvGrpSpPr>
        <p:grpSpPr>
          <a:xfrm rot="0">
            <a:off x="6484306" y="5505514"/>
            <a:ext cx="5303992" cy="2960370"/>
            <a:chOff x="0" y="0"/>
            <a:chExt cx="1473647" cy="822501"/>
          </a:xfrm>
        </p:grpSpPr>
        <p:sp>
          <p:nvSpPr>
            <p:cNvPr name="Freeform 10" id="10"/>
            <p:cNvSpPr/>
            <p:nvPr/>
          </p:nvSpPr>
          <p:spPr>
            <a:xfrm flipH="false" flipV="false" rot="0">
              <a:off x="0" y="0"/>
              <a:ext cx="1473647" cy="822501"/>
            </a:xfrm>
            <a:custGeom>
              <a:avLst/>
              <a:gdLst/>
              <a:ahLst/>
              <a:cxnLst/>
              <a:rect r="r" b="b" t="t" l="l"/>
              <a:pathLst>
                <a:path h="822501" w="1473647">
                  <a:moveTo>
                    <a:pt x="49628" y="0"/>
                  </a:moveTo>
                  <a:lnTo>
                    <a:pt x="1424020" y="0"/>
                  </a:lnTo>
                  <a:cubicBezTo>
                    <a:pt x="1451428" y="0"/>
                    <a:pt x="1473647" y="22219"/>
                    <a:pt x="1473647" y="49628"/>
                  </a:cubicBezTo>
                  <a:lnTo>
                    <a:pt x="1473647" y="772874"/>
                  </a:lnTo>
                  <a:cubicBezTo>
                    <a:pt x="1473647" y="786036"/>
                    <a:pt x="1468419" y="798659"/>
                    <a:pt x="1459112" y="807966"/>
                  </a:cubicBezTo>
                  <a:cubicBezTo>
                    <a:pt x="1449805" y="817273"/>
                    <a:pt x="1437182" y="822501"/>
                    <a:pt x="1424020" y="822501"/>
                  </a:cubicBezTo>
                  <a:lnTo>
                    <a:pt x="49628" y="822501"/>
                  </a:lnTo>
                  <a:cubicBezTo>
                    <a:pt x="22219" y="822501"/>
                    <a:pt x="0" y="800282"/>
                    <a:pt x="0" y="772874"/>
                  </a:cubicBezTo>
                  <a:lnTo>
                    <a:pt x="0" y="49628"/>
                  </a:lnTo>
                  <a:cubicBezTo>
                    <a:pt x="0" y="36466"/>
                    <a:pt x="5229" y="23843"/>
                    <a:pt x="14536" y="14536"/>
                  </a:cubicBezTo>
                  <a:cubicBezTo>
                    <a:pt x="23843" y="5229"/>
                    <a:pt x="36466" y="0"/>
                    <a:pt x="49628" y="0"/>
                  </a:cubicBezTo>
                  <a:close/>
                </a:path>
              </a:pathLst>
            </a:custGeom>
            <a:solidFill>
              <a:srgbClr val="FFFFFF"/>
            </a:solidFill>
            <a:ln w="19050" cap="rnd">
              <a:solidFill>
                <a:srgbClr val="163B42"/>
              </a:solidFill>
              <a:prstDash val="solid"/>
              <a:round/>
            </a:ln>
          </p:spPr>
        </p:sp>
        <p:sp>
          <p:nvSpPr>
            <p:cNvPr name="TextBox 11" id="11"/>
            <p:cNvSpPr txBox="true"/>
            <p:nvPr/>
          </p:nvSpPr>
          <p:spPr>
            <a:xfrm>
              <a:off x="0" y="-123825"/>
              <a:ext cx="1473647" cy="946326"/>
            </a:xfrm>
            <a:prstGeom prst="rect">
              <a:avLst/>
            </a:prstGeom>
          </p:spPr>
          <p:txBody>
            <a:bodyPr anchor="ctr" rtlCol="false" tIns="190500" lIns="190500" bIns="190500" rIns="190500"/>
            <a:lstStyle/>
            <a:p>
              <a:pPr algn="ctr">
                <a:lnSpc>
                  <a:spcPts val="3640"/>
                </a:lnSpc>
              </a:pPr>
            </a:p>
            <a:p>
              <a:pPr algn="ctr">
                <a:lnSpc>
                  <a:spcPts val="3640"/>
                </a:lnSpc>
              </a:pPr>
            </a:p>
            <a:p>
              <a:pPr algn="ctr">
                <a:lnSpc>
                  <a:spcPts val="3640"/>
                </a:lnSpc>
              </a:pPr>
              <a:r>
                <a:rPr lang="en-US" sz="2000" spc="-14">
                  <a:solidFill>
                    <a:srgbClr val="000000"/>
                  </a:solidFill>
                  <a:latin typeface="Aileron"/>
                  <a:ea typeface="Aileron"/>
                  <a:cs typeface="Aileron"/>
                  <a:sym typeface="Aileron"/>
                </a:rPr>
                <a:t>1M+ behavioral decisions · 11K+ participants · intertemporal choice experiments with response-time signals</a:t>
              </a:r>
            </a:p>
            <a:p>
              <a:pPr algn="ctr" marL="0" indent="0" lvl="0">
                <a:lnSpc>
                  <a:spcPts val="3640"/>
                </a:lnSpc>
              </a:pPr>
            </a:p>
          </p:txBody>
        </p:sp>
      </p:grpSp>
      <p:grpSp>
        <p:nvGrpSpPr>
          <p:cNvPr name="Group 12" id="12"/>
          <p:cNvGrpSpPr/>
          <p:nvPr/>
        </p:nvGrpSpPr>
        <p:grpSpPr>
          <a:xfrm rot="0">
            <a:off x="12274227" y="5505514"/>
            <a:ext cx="5303992" cy="2954020"/>
            <a:chOff x="0" y="0"/>
            <a:chExt cx="1473647" cy="820737"/>
          </a:xfrm>
        </p:grpSpPr>
        <p:sp>
          <p:nvSpPr>
            <p:cNvPr name="Freeform 13" id="13"/>
            <p:cNvSpPr/>
            <p:nvPr/>
          </p:nvSpPr>
          <p:spPr>
            <a:xfrm flipH="false" flipV="false" rot="0">
              <a:off x="0" y="0"/>
              <a:ext cx="1473647" cy="820737"/>
            </a:xfrm>
            <a:custGeom>
              <a:avLst/>
              <a:gdLst/>
              <a:ahLst/>
              <a:cxnLst/>
              <a:rect r="r" b="b" t="t" l="l"/>
              <a:pathLst>
                <a:path h="820737" w="1473647">
                  <a:moveTo>
                    <a:pt x="49628" y="0"/>
                  </a:moveTo>
                  <a:lnTo>
                    <a:pt x="1424020" y="0"/>
                  </a:lnTo>
                  <a:cubicBezTo>
                    <a:pt x="1451428" y="0"/>
                    <a:pt x="1473647" y="22219"/>
                    <a:pt x="1473647" y="49628"/>
                  </a:cubicBezTo>
                  <a:lnTo>
                    <a:pt x="1473647" y="771109"/>
                  </a:lnTo>
                  <a:cubicBezTo>
                    <a:pt x="1473647" y="784272"/>
                    <a:pt x="1468419" y="796895"/>
                    <a:pt x="1459112" y="806202"/>
                  </a:cubicBezTo>
                  <a:cubicBezTo>
                    <a:pt x="1449805" y="815509"/>
                    <a:pt x="1437182" y="820737"/>
                    <a:pt x="1424020" y="820737"/>
                  </a:cubicBezTo>
                  <a:lnTo>
                    <a:pt x="49628" y="820737"/>
                  </a:lnTo>
                  <a:cubicBezTo>
                    <a:pt x="36466" y="820737"/>
                    <a:pt x="23843" y="815509"/>
                    <a:pt x="14536" y="806202"/>
                  </a:cubicBezTo>
                  <a:cubicBezTo>
                    <a:pt x="5229" y="796895"/>
                    <a:pt x="0" y="784272"/>
                    <a:pt x="0" y="771109"/>
                  </a:cubicBezTo>
                  <a:lnTo>
                    <a:pt x="0" y="49628"/>
                  </a:lnTo>
                  <a:cubicBezTo>
                    <a:pt x="0" y="36466"/>
                    <a:pt x="5229" y="23843"/>
                    <a:pt x="14536" y="14536"/>
                  </a:cubicBezTo>
                  <a:cubicBezTo>
                    <a:pt x="23843" y="5229"/>
                    <a:pt x="36466" y="0"/>
                    <a:pt x="49628" y="0"/>
                  </a:cubicBezTo>
                  <a:close/>
                </a:path>
              </a:pathLst>
            </a:custGeom>
            <a:solidFill>
              <a:srgbClr val="FFFFFF"/>
            </a:solidFill>
            <a:ln w="19050" cap="rnd">
              <a:solidFill>
                <a:srgbClr val="163B42"/>
              </a:solidFill>
              <a:prstDash val="solid"/>
              <a:round/>
            </a:ln>
          </p:spPr>
        </p:sp>
        <p:sp>
          <p:nvSpPr>
            <p:cNvPr name="TextBox 14" id="14"/>
            <p:cNvSpPr txBox="true"/>
            <p:nvPr/>
          </p:nvSpPr>
          <p:spPr>
            <a:xfrm>
              <a:off x="0" y="-114300"/>
              <a:ext cx="1473647" cy="935037"/>
            </a:xfrm>
            <a:prstGeom prst="rect">
              <a:avLst/>
            </a:prstGeom>
          </p:spPr>
          <p:txBody>
            <a:bodyPr anchor="ctr" rtlCol="false" tIns="215900" lIns="215900" bIns="215900" rIns="215900"/>
            <a:lstStyle/>
            <a:p>
              <a:pPr algn="l">
                <a:lnSpc>
                  <a:spcPts val="3540"/>
                </a:lnSpc>
              </a:pPr>
            </a:p>
            <a:p>
              <a:pPr algn="l">
                <a:lnSpc>
                  <a:spcPts val="3540"/>
                </a:lnSpc>
              </a:pPr>
            </a:p>
            <a:p>
              <a:pPr algn="l">
                <a:lnSpc>
                  <a:spcPts val="3540"/>
                </a:lnSpc>
              </a:pPr>
              <a:r>
                <a:rPr lang="en-US" sz="2000">
                  <a:solidFill>
                    <a:srgbClr val="000000"/>
                  </a:solidFill>
                  <a:latin typeface="Aileron"/>
                  <a:ea typeface="Aileron"/>
                  <a:cs typeface="Aileron"/>
                  <a:sym typeface="Aileron"/>
                </a:rPr>
                <a:t>  </a:t>
              </a:r>
              <a:r>
                <a:rPr lang="en-US" sz="2000">
                  <a:solidFill>
                    <a:srgbClr val="000000"/>
                  </a:solidFill>
                  <a:latin typeface="Aileron"/>
                  <a:ea typeface="Aileron"/>
                  <a:cs typeface="Aileron"/>
                  <a:sym typeface="Aileron"/>
                </a:rPr>
                <a:t>Tr</a:t>
              </a:r>
              <a:r>
                <a:rPr lang="en-US" sz="2000">
                  <a:solidFill>
                    <a:srgbClr val="000000"/>
                  </a:solidFill>
                  <a:latin typeface="Aileron"/>
                  <a:ea typeface="Aileron"/>
                  <a:cs typeface="Aileron"/>
                  <a:sym typeface="Aileron"/>
                </a:rPr>
                <a:t>anslate research-grade behavioral data into actionable, interpretable predictions that drive subscription strategy</a:t>
              </a:r>
            </a:p>
            <a:p>
              <a:pPr algn="l">
                <a:lnSpc>
                  <a:spcPts val="3540"/>
                </a:lnSpc>
              </a:pPr>
            </a:p>
          </p:txBody>
        </p:sp>
      </p:grpSp>
      <p:sp>
        <p:nvSpPr>
          <p:cNvPr name="TextBox 15" id="15"/>
          <p:cNvSpPr txBox="true"/>
          <p:nvPr/>
        </p:nvSpPr>
        <p:spPr>
          <a:xfrm rot="0">
            <a:off x="5438505" y="3299874"/>
            <a:ext cx="11288245" cy="890778"/>
          </a:xfrm>
          <a:prstGeom prst="rect">
            <a:avLst/>
          </a:prstGeom>
        </p:spPr>
        <p:txBody>
          <a:bodyPr anchor="t" rtlCol="false" tIns="0" lIns="0" bIns="0" rIns="0">
            <a:spAutoFit/>
          </a:bodyPr>
          <a:lstStyle/>
          <a:p>
            <a:pPr algn="r">
              <a:lnSpc>
                <a:spcPts val="2375"/>
              </a:lnSpc>
              <a:spcBef>
                <a:spcPct val="0"/>
              </a:spcBef>
            </a:pPr>
            <a:r>
              <a:rPr lang="en-US" sz="2199" spc="-15">
                <a:solidFill>
                  <a:srgbClr val="FFFFFF"/>
                </a:solidFill>
                <a:latin typeface="Aileron Light"/>
                <a:ea typeface="Aileron Light"/>
                <a:cs typeface="Aileron Light"/>
                <a:sym typeface="Aileron Light"/>
              </a:rPr>
              <a:t>Streaming platforms offer tiered subscriptions : ad-supported vs. premium. Every pricing, promotion, and design decision depends on understanding when users prioritize cost savings versus experience quality.</a:t>
            </a:r>
          </a:p>
        </p:txBody>
      </p:sp>
      <p:grpSp>
        <p:nvGrpSpPr>
          <p:cNvPr name="Group 16" id="16"/>
          <p:cNvGrpSpPr/>
          <p:nvPr/>
        </p:nvGrpSpPr>
        <p:grpSpPr>
          <a:xfrm rot="0">
            <a:off x="1385900" y="5245371"/>
            <a:ext cx="4358601" cy="944563"/>
            <a:chOff x="0" y="0"/>
            <a:chExt cx="1147944" cy="248774"/>
          </a:xfrm>
        </p:grpSpPr>
        <p:sp>
          <p:nvSpPr>
            <p:cNvPr name="Freeform 17" id="17"/>
            <p:cNvSpPr/>
            <p:nvPr/>
          </p:nvSpPr>
          <p:spPr>
            <a:xfrm flipH="false" flipV="false" rot="0">
              <a:off x="0" y="0"/>
              <a:ext cx="1147944" cy="248774"/>
            </a:xfrm>
            <a:custGeom>
              <a:avLst/>
              <a:gdLst/>
              <a:ahLst/>
              <a:cxnLst/>
              <a:rect r="r" b="b" t="t" l="l"/>
              <a:pathLst>
                <a:path h="248774" w="1147944">
                  <a:moveTo>
                    <a:pt x="39077" y="0"/>
                  </a:moveTo>
                  <a:lnTo>
                    <a:pt x="1108867" y="0"/>
                  </a:lnTo>
                  <a:cubicBezTo>
                    <a:pt x="1130449" y="0"/>
                    <a:pt x="1147944" y="17495"/>
                    <a:pt x="1147944" y="39077"/>
                  </a:cubicBezTo>
                  <a:lnTo>
                    <a:pt x="1147944" y="209697"/>
                  </a:lnTo>
                  <a:cubicBezTo>
                    <a:pt x="1147944" y="231278"/>
                    <a:pt x="1130449" y="248774"/>
                    <a:pt x="1108867" y="248774"/>
                  </a:cubicBezTo>
                  <a:lnTo>
                    <a:pt x="39077" y="248774"/>
                  </a:lnTo>
                  <a:cubicBezTo>
                    <a:pt x="17495" y="248774"/>
                    <a:pt x="0" y="231278"/>
                    <a:pt x="0" y="209697"/>
                  </a:cubicBezTo>
                  <a:lnTo>
                    <a:pt x="0" y="39077"/>
                  </a:lnTo>
                  <a:cubicBezTo>
                    <a:pt x="0" y="17495"/>
                    <a:pt x="17495" y="0"/>
                    <a:pt x="39077" y="0"/>
                  </a:cubicBezTo>
                  <a:close/>
                </a:path>
              </a:pathLst>
            </a:custGeom>
            <a:solidFill>
              <a:srgbClr val="FFFFFF"/>
            </a:solidFill>
            <a:ln w="19050" cap="rnd">
              <a:solidFill>
                <a:srgbClr val="163B42"/>
              </a:solidFill>
              <a:prstDash val="solid"/>
              <a:round/>
            </a:ln>
          </p:spPr>
        </p:sp>
        <p:sp>
          <p:nvSpPr>
            <p:cNvPr name="TextBox 18" id="18"/>
            <p:cNvSpPr txBox="true"/>
            <p:nvPr/>
          </p:nvSpPr>
          <p:spPr>
            <a:xfrm>
              <a:off x="0" y="19050"/>
              <a:ext cx="1147944" cy="229724"/>
            </a:xfrm>
            <a:prstGeom prst="rect">
              <a:avLst/>
            </a:prstGeom>
          </p:spPr>
          <p:txBody>
            <a:bodyPr anchor="ctr" rtlCol="false" tIns="50800" lIns="50800" bIns="50800" rIns="50800"/>
            <a:lstStyle/>
            <a:p>
              <a:pPr algn="ctr">
                <a:lnSpc>
                  <a:spcPts val="2160"/>
                </a:lnSpc>
              </a:pPr>
            </a:p>
          </p:txBody>
        </p:sp>
      </p:grpSp>
      <p:sp>
        <p:nvSpPr>
          <p:cNvPr name="TextBox 19" id="19"/>
          <p:cNvSpPr txBox="true"/>
          <p:nvPr/>
        </p:nvSpPr>
        <p:spPr>
          <a:xfrm rot="0">
            <a:off x="1708406" y="5509834"/>
            <a:ext cx="3682495" cy="467892"/>
          </a:xfrm>
          <a:prstGeom prst="rect">
            <a:avLst/>
          </a:prstGeom>
        </p:spPr>
        <p:txBody>
          <a:bodyPr anchor="t" rtlCol="false" tIns="0" lIns="0" bIns="0" rIns="0">
            <a:spAutoFit/>
          </a:bodyPr>
          <a:lstStyle/>
          <a:p>
            <a:pPr algn="l">
              <a:lnSpc>
                <a:spcPts val="3579"/>
              </a:lnSpc>
            </a:pPr>
            <a:r>
              <a:rPr lang="en-US" sz="3615" spc="-242" b="true">
                <a:solidFill>
                  <a:srgbClr val="163B42"/>
                </a:solidFill>
                <a:latin typeface="Canva Sans Bold"/>
                <a:ea typeface="Canva Sans Bold"/>
                <a:cs typeface="Canva Sans Bold"/>
                <a:sym typeface="Canva Sans Bold"/>
              </a:rPr>
              <a:t>Our Role</a:t>
            </a:r>
          </a:p>
        </p:txBody>
      </p:sp>
      <p:grpSp>
        <p:nvGrpSpPr>
          <p:cNvPr name="Group 20" id="20"/>
          <p:cNvGrpSpPr/>
          <p:nvPr/>
        </p:nvGrpSpPr>
        <p:grpSpPr>
          <a:xfrm rot="0">
            <a:off x="5075913" y="5522092"/>
            <a:ext cx="391123" cy="39112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93000"/>
                  </a:srgbClr>
                </a:gs>
                <a:gs pos="100000">
                  <a:srgbClr val="6F9F97">
                    <a:alpha val="93000"/>
                  </a:srgbClr>
                </a:gs>
              </a:gsLst>
              <a:lin ang="0"/>
            </a:gradFill>
            <a:ln w="19050" cap="sq">
              <a:solidFill>
                <a:srgbClr val="163B42">
                  <a:alpha val="92941"/>
                </a:srgbClr>
              </a:solidFill>
              <a:prstDash val="solid"/>
              <a:miter/>
            </a:ln>
          </p:spPr>
        </p:sp>
        <p:sp>
          <p:nvSpPr>
            <p:cNvPr name="TextBox 22" id="22"/>
            <p:cNvSpPr txBox="true"/>
            <p:nvPr/>
          </p:nvSpPr>
          <p:spPr>
            <a:xfrm>
              <a:off x="76200" y="95250"/>
              <a:ext cx="660400" cy="641350"/>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23" id="23"/>
          <p:cNvGrpSpPr/>
          <p:nvPr/>
        </p:nvGrpSpPr>
        <p:grpSpPr>
          <a:xfrm rot="0">
            <a:off x="6830064" y="5143500"/>
            <a:ext cx="4358601" cy="944563"/>
            <a:chOff x="0" y="0"/>
            <a:chExt cx="1147944" cy="248774"/>
          </a:xfrm>
        </p:grpSpPr>
        <p:sp>
          <p:nvSpPr>
            <p:cNvPr name="Freeform 24" id="24"/>
            <p:cNvSpPr/>
            <p:nvPr/>
          </p:nvSpPr>
          <p:spPr>
            <a:xfrm flipH="false" flipV="false" rot="0">
              <a:off x="0" y="0"/>
              <a:ext cx="1147944" cy="248774"/>
            </a:xfrm>
            <a:custGeom>
              <a:avLst/>
              <a:gdLst/>
              <a:ahLst/>
              <a:cxnLst/>
              <a:rect r="r" b="b" t="t" l="l"/>
              <a:pathLst>
                <a:path h="248774" w="1147944">
                  <a:moveTo>
                    <a:pt x="39077" y="0"/>
                  </a:moveTo>
                  <a:lnTo>
                    <a:pt x="1108867" y="0"/>
                  </a:lnTo>
                  <a:cubicBezTo>
                    <a:pt x="1130449" y="0"/>
                    <a:pt x="1147944" y="17495"/>
                    <a:pt x="1147944" y="39077"/>
                  </a:cubicBezTo>
                  <a:lnTo>
                    <a:pt x="1147944" y="209697"/>
                  </a:lnTo>
                  <a:cubicBezTo>
                    <a:pt x="1147944" y="231278"/>
                    <a:pt x="1130449" y="248774"/>
                    <a:pt x="1108867" y="248774"/>
                  </a:cubicBezTo>
                  <a:lnTo>
                    <a:pt x="39077" y="248774"/>
                  </a:lnTo>
                  <a:cubicBezTo>
                    <a:pt x="17495" y="248774"/>
                    <a:pt x="0" y="231278"/>
                    <a:pt x="0" y="209697"/>
                  </a:cubicBezTo>
                  <a:lnTo>
                    <a:pt x="0" y="39077"/>
                  </a:lnTo>
                  <a:cubicBezTo>
                    <a:pt x="0" y="17495"/>
                    <a:pt x="17495" y="0"/>
                    <a:pt x="39077" y="0"/>
                  </a:cubicBezTo>
                  <a:close/>
                </a:path>
              </a:pathLst>
            </a:custGeom>
            <a:solidFill>
              <a:srgbClr val="FFFFFF"/>
            </a:solidFill>
            <a:ln w="19050" cap="rnd">
              <a:solidFill>
                <a:srgbClr val="163B42"/>
              </a:solidFill>
              <a:prstDash val="solid"/>
              <a:round/>
            </a:ln>
          </p:spPr>
        </p:sp>
        <p:sp>
          <p:nvSpPr>
            <p:cNvPr name="TextBox 25" id="25"/>
            <p:cNvSpPr txBox="true"/>
            <p:nvPr/>
          </p:nvSpPr>
          <p:spPr>
            <a:xfrm>
              <a:off x="0" y="19050"/>
              <a:ext cx="1147944" cy="229724"/>
            </a:xfrm>
            <a:prstGeom prst="rect">
              <a:avLst/>
            </a:prstGeom>
          </p:spPr>
          <p:txBody>
            <a:bodyPr anchor="ctr" rtlCol="false" tIns="50800" lIns="50800" bIns="50800" rIns="50800"/>
            <a:lstStyle/>
            <a:p>
              <a:pPr algn="ctr">
                <a:lnSpc>
                  <a:spcPts val="2160"/>
                </a:lnSpc>
              </a:pPr>
            </a:p>
          </p:txBody>
        </p:sp>
      </p:grpSp>
      <p:sp>
        <p:nvSpPr>
          <p:cNvPr name="TextBox 26" id="26"/>
          <p:cNvSpPr txBox="true"/>
          <p:nvPr/>
        </p:nvSpPr>
        <p:spPr>
          <a:xfrm rot="0">
            <a:off x="7152570" y="5407963"/>
            <a:ext cx="3682495" cy="467892"/>
          </a:xfrm>
          <a:prstGeom prst="rect">
            <a:avLst/>
          </a:prstGeom>
        </p:spPr>
        <p:txBody>
          <a:bodyPr anchor="t" rtlCol="false" tIns="0" lIns="0" bIns="0" rIns="0">
            <a:spAutoFit/>
          </a:bodyPr>
          <a:lstStyle/>
          <a:p>
            <a:pPr algn="l">
              <a:lnSpc>
                <a:spcPts val="3579"/>
              </a:lnSpc>
            </a:pPr>
            <a:r>
              <a:rPr lang="en-US" sz="3615" spc="-242" b="true">
                <a:solidFill>
                  <a:srgbClr val="163B42"/>
                </a:solidFill>
                <a:latin typeface="Canva Sans Bold"/>
                <a:ea typeface="Canva Sans Bold"/>
                <a:cs typeface="Canva Sans Bold"/>
                <a:sym typeface="Canva Sans Bold"/>
              </a:rPr>
              <a:t>The Data</a:t>
            </a:r>
          </a:p>
        </p:txBody>
      </p:sp>
      <p:grpSp>
        <p:nvGrpSpPr>
          <p:cNvPr name="Group 27" id="27"/>
          <p:cNvGrpSpPr/>
          <p:nvPr/>
        </p:nvGrpSpPr>
        <p:grpSpPr>
          <a:xfrm rot="0">
            <a:off x="12721748" y="5131527"/>
            <a:ext cx="4358601" cy="944563"/>
            <a:chOff x="0" y="0"/>
            <a:chExt cx="1147944" cy="248774"/>
          </a:xfrm>
        </p:grpSpPr>
        <p:sp>
          <p:nvSpPr>
            <p:cNvPr name="Freeform 28" id="28"/>
            <p:cNvSpPr/>
            <p:nvPr/>
          </p:nvSpPr>
          <p:spPr>
            <a:xfrm flipH="false" flipV="false" rot="0">
              <a:off x="0" y="0"/>
              <a:ext cx="1147944" cy="248774"/>
            </a:xfrm>
            <a:custGeom>
              <a:avLst/>
              <a:gdLst/>
              <a:ahLst/>
              <a:cxnLst/>
              <a:rect r="r" b="b" t="t" l="l"/>
              <a:pathLst>
                <a:path h="248774" w="1147944">
                  <a:moveTo>
                    <a:pt x="39077" y="0"/>
                  </a:moveTo>
                  <a:lnTo>
                    <a:pt x="1108867" y="0"/>
                  </a:lnTo>
                  <a:cubicBezTo>
                    <a:pt x="1130449" y="0"/>
                    <a:pt x="1147944" y="17495"/>
                    <a:pt x="1147944" y="39077"/>
                  </a:cubicBezTo>
                  <a:lnTo>
                    <a:pt x="1147944" y="209697"/>
                  </a:lnTo>
                  <a:cubicBezTo>
                    <a:pt x="1147944" y="231278"/>
                    <a:pt x="1130449" y="248774"/>
                    <a:pt x="1108867" y="248774"/>
                  </a:cubicBezTo>
                  <a:lnTo>
                    <a:pt x="39077" y="248774"/>
                  </a:lnTo>
                  <a:cubicBezTo>
                    <a:pt x="17495" y="248774"/>
                    <a:pt x="0" y="231278"/>
                    <a:pt x="0" y="209697"/>
                  </a:cubicBezTo>
                  <a:lnTo>
                    <a:pt x="0" y="39077"/>
                  </a:lnTo>
                  <a:cubicBezTo>
                    <a:pt x="0" y="17495"/>
                    <a:pt x="17495" y="0"/>
                    <a:pt x="39077" y="0"/>
                  </a:cubicBezTo>
                  <a:close/>
                </a:path>
              </a:pathLst>
            </a:custGeom>
            <a:solidFill>
              <a:srgbClr val="FFFFFF"/>
            </a:solidFill>
            <a:ln w="19050" cap="rnd">
              <a:solidFill>
                <a:srgbClr val="163B42"/>
              </a:solidFill>
              <a:prstDash val="solid"/>
              <a:round/>
            </a:ln>
          </p:spPr>
        </p:sp>
        <p:sp>
          <p:nvSpPr>
            <p:cNvPr name="TextBox 29" id="29"/>
            <p:cNvSpPr txBox="true"/>
            <p:nvPr/>
          </p:nvSpPr>
          <p:spPr>
            <a:xfrm>
              <a:off x="0" y="19050"/>
              <a:ext cx="1147944" cy="229724"/>
            </a:xfrm>
            <a:prstGeom prst="rect">
              <a:avLst/>
            </a:prstGeom>
          </p:spPr>
          <p:txBody>
            <a:bodyPr anchor="ctr" rtlCol="false" tIns="50800" lIns="50800" bIns="50800" rIns="50800"/>
            <a:lstStyle/>
            <a:p>
              <a:pPr algn="ctr">
                <a:lnSpc>
                  <a:spcPts val="2160"/>
                </a:lnSpc>
              </a:pPr>
            </a:p>
          </p:txBody>
        </p:sp>
      </p:grpSp>
      <p:sp>
        <p:nvSpPr>
          <p:cNvPr name="TextBox 30" id="30"/>
          <p:cNvSpPr txBox="true"/>
          <p:nvPr/>
        </p:nvSpPr>
        <p:spPr>
          <a:xfrm rot="0">
            <a:off x="13044255" y="5395990"/>
            <a:ext cx="3682495" cy="467892"/>
          </a:xfrm>
          <a:prstGeom prst="rect">
            <a:avLst/>
          </a:prstGeom>
        </p:spPr>
        <p:txBody>
          <a:bodyPr anchor="t" rtlCol="false" tIns="0" lIns="0" bIns="0" rIns="0">
            <a:spAutoFit/>
          </a:bodyPr>
          <a:lstStyle/>
          <a:p>
            <a:pPr algn="l">
              <a:lnSpc>
                <a:spcPts val="3579"/>
              </a:lnSpc>
            </a:pPr>
            <a:r>
              <a:rPr lang="en-US" sz="3615" spc="-242" b="true">
                <a:solidFill>
                  <a:srgbClr val="163B42"/>
                </a:solidFill>
                <a:latin typeface="Canva Sans Bold"/>
                <a:ea typeface="Canva Sans Bold"/>
                <a:cs typeface="Canva Sans Bold"/>
                <a:sym typeface="Canva Sans Bold"/>
              </a:rPr>
              <a:t>Our Goal</a:t>
            </a:r>
          </a:p>
        </p:txBody>
      </p:sp>
      <p:grpSp>
        <p:nvGrpSpPr>
          <p:cNvPr name="Group 31" id="31"/>
          <p:cNvGrpSpPr/>
          <p:nvPr/>
        </p:nvGrpSpPr>
        <p:grpSpPr>
          <a:xfrm rot="0">
            <a:off x="10520077" y="5420220"/>
            <a:ext cx="391123" cy="391123"/>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93000"/>
                  </a:srgbClr>
                </a:gs>
                <a:gs pos="100000">
                  <a:srgbClr val="6F9F97">
                    <a:alpha val="93000"/>
                  </a:srgbClr>
                </a:gs>
              </a:gsLst>
              <a:lin ang="0"/>
            </a:gradFill>
            <a:ln w="19050" cap="sq">
              <a:solidFill>
                <a:srgbClr val="163B42">
                  <a:alpha val="92941"/>
                </a:srgbClr>
              </a:solidFill>
              <a:prstDash val="solid"/>
              <a:miter/>
            </a:ln>
          </p:spPr>
        </p:sp>
        <p:sp>
          <p:nvSpPr>
            <p:cNvPr name="TextBox 33" id="33"/>
            <p:cNvSpPr txBox="true"/>
            <p:nvPr/>
          </p:nvSpPr>
          <p:spPr>
            <a:xfrm>
              <a:off x="76200" y="95250"/>
              <a:ext cx="660400" cy="641350"/>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34" id="34"/>
          <p:cNvGrpSpPr/>
          <p:nvPr/>
        </p:nvGrpSpPr>
        <p:grpSpPr>
          <a:xfrm rot="0">
            <a:off x="16335627" y="5408317"/>
            <a:ext cx="391123" cy="391123"/>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93000"/>
                  </a:srgbClr>
                </a:gs>
                <a:gs pos="100000">
                  <a:srgbClr val="6F9F97">
                    <a:alpha val="93000"/>
                  </a:srgbClr>
                </a:gs>
              </a:gsLst>
              <a:lin ang="0"/>
            </a:gradFill>
            <a:ln w="19050" cap="sq">
              <a:solidFill>
                <a:srgbClr val="163B42">
                  <a:alpha val="92941"/>
                </a:srgbClr>
              </a:solidFill>
              <a:prstDash val="solid"/>
              <a:miter/>
            </a:ln>
          </p:spPr>
        </p:sp>
        <p:sp>
          <p:nvSpPr>
            <p:cNvPr name="TextBox 36" id="36"/>
            <p:cNvSpPr txBox="true"/>
            <p:nvPr/>
          </p:nvSpPr>
          <p:spPr>
            <a:xfrm>
              <a:off x="76200" y="95250"/>
              <a:ext cx="660400" cy="641350"/>
            </a:xfrm>
            <a:prstGeom prst="rect">
              <a:avLst/>
            </a:prstGeom>
          </p:spPr>
          <p:txBody>
            <a:bodyPr anchor="ctr" rtlCol="false" tIns="50800" lIns="50800" bIns="50800" rIns="50800"/>
            <a:lstStyle/>
            <a:p>
              <a:pPr algn="ctr" marL="0" indent="0" lvl="0">
                <a:lnSpc>
                  <a:spcPts val="2160"/>
                </a:lnSpc>
                <a:spcBef>
                  <a:spcPct val="0"/>
                </a:spcBef>
              </a:pPr>
            </a:p>
          </p:txBody>
        </p:sp>
      </p:grpSp>
      <p:sp>
        <p:nvSpPr>
          <p:cNvPr name="TextBox 37" id="3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5120089">
            <a:off x="-3021265" y="-3988519"/>
            <a:ext cx="13529234" cy="13529234"/>
          </a:xfrm>
          <a:custGeom>
            <a:avLst/>
            <a:gdLst/>
            <a:ahLst/>
            <a:cxnLst/>
            <a:rect r="r" b="b" t="t" l="l"/>
            <a:pathLst>
              <a:path h="13529234" w="13529234">
                <a:moveTo>
                  <a:pt x="0" y="0"/>
                </a:moveTo>
                <a:lnTo>
                  <a:pt x="13529234" y="0"/>
                </a:lnTo>
                <a:lnTo>
                  <a:pt x="13529234" y="13529234"/>
                </a:lnTo>
                <a:lnTo>
                  <a:pt x="0" y="13529234"/>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848034" y="-2084840"/>
            <a:ext cx="8981122" cy="8981122"/>
          </a:xfrm>
          <a:custGeom>
            <a:avLst/>
            <a:gdLst/>
            <a:ahLst/>
            <a:cxnLst/>
            <a:rect r="r" b="b" t="t" l="l"/>
            <a:pathLst>
              <a:path h="8981122" w="8981122">
                <a:moveTo>
                  <a:pt x="0" y="0"/>
                </a:moveTo>
                <a:lnTo>
                  <a:pt x="8981122" y="0"/>
                </a:lnTo>
                <a:lnTo>
                  <a:pt x="8981122" y="8981122"/>
                </a:lnTo>
                <a:lnTo>
                  <a:pt x="0" y="8981122"/>
                </a:lnTo>
                <a:lnTo>
                  <a:pt x="0" y="0"/>
                </a:lnTo>
                <a:close/>
              </a:path>
            </a:pathLst>
          </a:custGeom>
          <a:blipFill>
            <a:blip r:embed="rId3">
              <a:alphaModFix amt="12000"/>
            </a:blip>
            <a:stretch>
              <a:fillRect l="0" t="0" r="0" b="0"/>
            </a:stretch>
          </a:blipFill>
        </p:spPr>
      </p:sp>
      <p:grpSp>
        <p:nvGrpSpPr>
          <p:cNvPr name="Group 5" id="5"/>
          <p:cNvGrpSpPr/>
          <p:nvPr/>
        </p:nvGrpSpPr>
        <p:grpSpPr>
          <a:xfrm rot="0">
            <a:off x="1223035" y="2580145"/>
            <a:ext cx="5513977" cy="6892654"/>
            <a:chOff x="0" y="0"/>
            <a:chExt cx="1452241" cy="1815349"/>
          </a:xfrm>
        </p:grpSpPr>
        <p:sp>
          <p:nvSpPr>
            <p:cNvPr name="Freeform 6" id="6"/>
            <p:cNvSpPr/>
            <p:nvPr/>
          </p:nvSpPr>
          <p:spPr>
            <a:xfrm flipH="false" flipV="false" rot="0">
              <a:off x="0" y="0"/>
              <a:ext cx="1452241" cy="1815349"/>
            </a:xfrm>
            <a:custGeom>
              <a:avLst/>
              <a:gdLst/>
              <a:ahLst/>
              <a:cxnLst/>
              <a:rect r="r" b="b" t="t" l="l"/>
              <a:pathLst>
                <a:path h="1815349" w="1452241">
                  <a:moveTo>
                    <a:pt x="49142" y="0"/>
                  </a:moveTo>
                  <a:lnTo>
                    <a:pt x="1403099" y="0"/>
                  </a:lnTo>
                  <a:cubicBezTo>
                    <a:pt x="1430239" y="0"/>
                    <a:pt x="1452241" y="22002"/>
                    <a:pt x="1452241" y="49142"/>
                  </a:cubicBezTo>
                  <a:lnTo>
                    <a:pt x="1452241" y="1766207"/>
                  </a:lnTo>
                  <a:cubicBezTo>
                    <a:pt x="1452241" y="1793348"/>
                    <a:pt x="1430239" y="1815349"/>
                    <a:pt x="1403099" y="1815349"/>
                  </a:cubicBezTo>
                  <a:lnTo>
                    <a:pt x="49142" y="1815349"/>
                  </a:lnTo>
                  <a:cubicBezTo>
                    <a:pt x="36109" y="1815349"/>
                    <a:pt x="23609" y="1810172"/>
                    <a:pt x="14393" y="1800956"/>
                  </a:cubicBezTo>
                  <a:cubicBezTo>
                    <a:pt x="5177" y="1791740"/>
                    <a:pt x="0" y="1779241"/>
                    <a:pt x="0" y="1766207"/>
                  </a:cubicBezTo>
                  <a:lnTo>
                    <a:pt x="0" y="49142"/>
                  </a:lnTo>
                  <a:cubicBezTo>
                    <a:pt x="0" y="22002"/>
                    <a:pt x="22002" y="0"/>
                    <a:pt x="49142" y="0"/>
                  </a:cubicBezTo>
                  <a:close/>
                </a:path>
              </a:pathLst>
            </a:custGeom>
            <a:solidFill>
              <a:srgbClr val="FFFFFF"/>
            </a:solidFill>
            <a:ln cap="rnd">
              <a:noFill/>
              <a:prstDash val="solid"/>
              <a:round/>
            </a:ln>
          </p:spPr>
        </p:sp>
        <p:sp>
          <p:nvSpPr>
            <p:cNvPr name="TextBox 7" id="7"/>
            <p:cNvSpPr txBox="true"/>
            <p:nvPr/>
          </p:nvSpPr>
          <p:spPr>
            <a:xfrm>
              <a:off x="0" y="-19050"/>
              <a:ext cx="1452241" cy="1834399"/>
            </a:xfrm>
            <a:prstGeom prst="rect">
              <a:avLst/>
            </a:prstGeom>
          </p:spPr>
          <p:txBody>
            <a:bodyPr anchor="t" rtlCol="false" tIns="431800" lIns="431800" bIns="431800" rIns="431800"/>
            <a:lstStyle/>
            <a:p>
              <a:pPr algn="just">
                <a:lnSpc>
                  <a:spcPts val="2321"/>
                </a:lnSpc>
              </a:pPr>
              <a:r>
                <a:rPr lang="en-US" b="true" sz="1799" spc="7">
                  <a:solidFill>
                    <a:srgbClr val="163B42"/>
                  </a:solidFill>
                  <a:latin typeface="Aileron Bold"/>
                  <a:ea typeface="Aileron Bold"/>
                  <a:cs typeface="Aileron Bold"/>
                  <a:sym typeface="Aileron Bold"/>
                </a:rPr>
                <a:t>DATASET AT A GLANCE</a:t>
              </a:r>
            </a:p>
            <a:p>
              <a:pPr algn="just">
                <a:lnSpc>
                  <a:spcPts val="2450"/>
                </a:lnSpc>
              </a:pPr>
            </a:p>
            <a:p>
              <a:pPr algn="just">
                <a:lnSpc>
                  <a:spcPts val="3095"/>
                </a:lnSpc>
              </a:pPr>
              <a:r>
                <a:rPr lang="en-US" b="true" sz="2399" spc="160">
                  <a:solidFill>
                    <a:srgbClr val="163B42"/>
                  </a:solidFill>
                  <a:latin typeface="Aileron Bold"/>
                  <a:ea typeface="Aileron Bold"/>
                  <a:cs typeface="Aileron Bold"/>
                  <a:sym typeface="Aileron Bold"/>
                </a:rPr>
                <a:t>1M+</a:t>
              </a:r>
            </a:p>
            <a:p>
              <a:pPr algn="just">
                <a:lnSpc>
                  <a:spcPts val="2450"/>
                </a:lnSpc>
              </a:pPr>
              <a:r>
                <a:rPr lang="en-US" sz="1899" spc="127">
                  <a:solidFill>
                    <a:srgbClr val="163B42"/>
                  </a:solidFill>
                  <a:latin typeface="Aileron"/>
                  <a:ea typeface="Aileron"/>
                  <a:cs typeface="Aileron"/>
                  <a:sym typeface="Aileron"/>
                </a:rPr>
                <a:t>decision observations</a:t>
              </a:r>
            </a:p>
            <a:p>
              <a:pPr algn="just">
                <a:lnSpc>
                  <a:spcPts val="2450"/>
                </a:lnSpc>
              </a:pPr>
              <a:r>
                <a:rPr lang="en-US" sz="1899" spc="127">
                  <a:solidFill>
                    <a:srgbClr val="163B42"/>
                  </a:solidFill>
                  <a:latin typeface="Aileron"/>
                  <a:ea typeface="Aileron"/>
                  <a:cs typeface="Aileron"/>
                  <a:sym typeface="Aileron"/>
                </a:rPr>
                <a:t>----------------------------</a:t>
              </a:r>
            </a:p>
            <a:p>
              <a:pPr algn="just">
                <a:lnSpc>
                  <a:spcPts val="3224"/>
                </a:lnSpc>
              </a:pPr>
              <a:r>
                <a:rPr lang="en-US" b="true" sz="2499" spc="167">
                  <a:solidFill>
                    <a:srgbClr val="163B42"/>
                  </a:solidFill>
                  <a:latin typeface="Aileron Bold"/>
                  <a:ea typeface="Aileron Bold"/>
                  <a:cs typeface="Aileron Bold"/>
                  <a:sym typeface="Aileron Bold"/>
                </a:rPr>
                <a:t>11K+</a:t>
              </a:r>
            </a:p>
            <a:p>
              <a:pPr algn="just">
                <a:lnSpc>
                  <a:spcPts val="2450"/>
                </a:lnSpc>
              </a:pPr>
              <a:r>
                <a:rPr lang="en-US" sz="1899" spc="127">
                  <a:solidFill>
                    <a:srgbClr val="163B42"/>
                  </a:solidFill>
                  <a:latin typeface="Aileron"/>
                  <a:ea typeface="Aileron"/>
                  <a:cs typeface="Aileron"/>
                  <a:sym typeface="Aileron"/>
                </a:rPr>
                <a:t>unique participants</a:t>
              </a:r>
            </a:p>
            <a:p>
              <a:pPr algn="just">
                <a:lnSpc>
                  <a:spcPts val="2450"/>
                </a:lnSpc>
              </a:pPr>
              <a:r>
                <a:rPr lang="en-US" sz="1899" spc="127">
                  <a:solidFill>
                    <a:srgbClr val="163B42"/>
                  </a:solidFill>
                  <a:latin typeface="Aileron"/>
                  <a:ea typeface="Aileron"/>
                  <a:cs typeface="Aileron"/>
                  <a:sym typeface="Aileron"/>
                </a:rPr>
                <a:t>-------------------------------</a:t>
              </a:r>
            </a:p>
            <a:p>
              <a:pPr algn="just">
                <a:lnSpc>
                  <a:spcPts val="2450"/>
                </a:lnSpc>
              </a:pPr>
            </a:p>
            <a:p>
              <a:pPr algn="just">
                <a:lnSpc>
                  <a:spcPts val="2450"/>
                </a:lnSpc>
              </a:pPr>
              <a:r>
                <a:rPr lang="en-US" b="true" sz="1899" spc="127">
                  <a:solidFill>
                    <a:srgbClr val="163B42"/>
                  </a:solidFill>
                  <a:latin typeface="Aileron Bold"/>
                  <a:ea typeface="Aileron Bold"/>
                  <a:cs typeface="Aileron Bold"/>
                  <a:sym typeface="Aileron Bold"/>
                </a:rPr>
                <a:t>Each record contains</a:t>
              </a:r>
            </a:p>
            <a:p>
              <a:pPr algn="just">
                <a:lnSpc>
                  <a:spcPts val="2450"/>
                </a:lnSpc>
              </a:pPr>
              <a:r>
                <a:rPr lang="en-US" sz="1899" spc="127">
                  <a:solidFill>
                    <a:srgbClr val="163B42"/>
                  </a:solidFill>
                  <a:latin typeface="Aileron"/>
                  <a:ea typeface="Aileron"/>
                  <a:cs typeface="Aileron"/>
                  <a:sym typeface="Aileron"/>
                </a:rPr>
                <a:t>— Immediate vs. delayed choice</a:t>
              </a:r>
            </a:p>
            <a:p>
              <a:pPr algn="just">
                <a:lnSpc>
                  <a:spcPts val="2450"/>
                </a:lnSpc>
              </a:pPr>
              <a:r>
                <a:rPr lang="en-US" sz="1899" spc="127">
                  <a:solidFill>
                    <a:srgbClr val="163B42"/>
                  </a:solidFill>
                  <a:latin typeface="Aileron"/>
                  <a:ea typeface="Aileron"/>
                  <a:cs typeface="Aileron"/>
                  <a:sym typeface="Aileron"/>
                </a:rPr>
                <a:t>— Response time (ms)</a:t>
              </a:r>
            </a:p>
            <a:p>
              <a:pPr algn="just">
                <a:lnSpc>
                  <a:spcPts val="2450"/>
                </a:lnSpc>
              </a:pPr>
              <a:r>
                <a:rPr lang="en-US" sz="1899" spc="127">
                  <a:solidFill>
                    <a:srgbClr val="163B42"/>
                  </a:solidFill>
                  <a:latin typeface="Aileron"/>
                  <a:ea typeface="Aileron"/>
                  <a:cs typeface="Aileron"/>
                  <a:sym typeface="Aileron"/>
                </a:rPr>
                <a:t>— Experimental context</a:t>
              </a:r>
            </a:p>
            <a:p>
              <a:pPr algn="just">
                <a:lnSpc>
                  <a:spcPts val="2450"/>
                </a:lnSpc>
              </a:pPr>
            </a:p>
          </p:txBody>
        </p:sp>
      </p:grpSp>
      <p:sp>
        <p:nvSpPr>
          <p:cNvPr name="TextBox 8" id="8"/>
          <p:cNvSpPr txBox="true"/>
          <p:nvPr/>
        </p:nvSpPr>
        <p:spPr>
          <a:xfrm rot="0">
            <a:off x="1223035" y="999085"/>
            <a:ext cx="7508944" cy="1229124"/>
          </a:xfrm>
          <a:prstGeom prst="rect">
            <a:avLst/>
          </a:prstGeom>
        </p:spPr>
        <p:txBody>
          <a:bodyPr anchor="t" rtlCol="false" tIns="0" lIns="0" bIns="0" rIns="0">
            <a:spAutoFit/>
          </a:bodyPr>
          <a:lstStyle/>
          <a:p>
            <a:pPr algn="l">
              <a:lnSpc>
                <a:spcPts val="9207"/>
              </a:lnSpc>
            </a:pPr>
            <a:r>
              <a:rPr lang="en-US" sz="9300" spc="-874" b="true">
                <a:solidFill>
                  <a:srgbClr val="FFFFFF"/>
                </a:solidFill>
                <a:latin typeface="Canva Sans Bold"/>
                <a:ea typeface="Canva Sans Bold"/>
                <a:cs typeface="Canva Sans Bold"/>
                <a:sym typeface="Canva Sans Bold"/>
              </a:rPr>
              <a:t>Dataset &amp; ETL</a:t>
            </a:r>
          </a:p>
        </p:txBody>
      </p:sp>
      <p:grpSp>
        <p:nvGrpSpPr>
          <p:cNvPr name="Group 9" id="9"/>
          <p:cNvGrpSpPr/>
          <p:nvPr/>
        </p:nvGrpSpPr>
        <p:grpSpPr>
          <a:xfrm rot="0">
            <a:off x="7537742" y="2228209"/>
            <a:ext cx="10115797" cy="7195851"/>
            <a:chOff x="0" y="0"/>
            <a:chExt cx="13487729" cy="9594468"/>
          </a:xfrm>
        </p:grpSpPr>
        <p:grpSp>
          <p:nvGrpSpPr>
            <p:cNvPr name="Group 10" id="10"/>
            <p:cNvGrpSpPr/>
            <p:nvPr/>
          </p:nvGrpSpPr>
          <p:grpSpPr>
            <a:xfrm rot="0">
              <a:off x="17333" y="6434109"/>
              <a:ext cx="13470396" cy="3160359"/>
              <a:chOff x="0" y="0"/>
              <a:chExt cx="2759672" cy="647461"/>
            </a:xfrm>
          </p:grpSpPr>
          <p:sp>
            <p:nvSpPr>
              <p:cNvPr name="Freeform 11" id="11"/>
              <p:cNvSpPr/>
              <p:nvPr/>
            </p:nvSpPr>
            <p:spPr>
              <a:xfrm flipH="false" flipV="false" rot="0">
                <a:off x="0" y="0"/>
                <a:ext cx="2759672" cy="647461"/>
              </a:xfrm>
              <a:custGeom>
                <a:avLst/>
                <a:gdLst/>
                <a:ahLst/>
                <a:cxnLst/>
                <a:rect r="r" b="b" t="t" l="l"/>
                <a:pathLst>
                  <a:path h="647461" w="2759672">
                    <a:moveTo>
                      <a:pt x="25860" y="0"/>
                    </a:moveTo>
                    <a:lnTo>
                      <a:pt x="2733812" y="0"/>
                    </a:lnTo>
                    <a:cubicBezTo>
                      <a:pt x="2740670" y="0"/>
                      <a:pt x="2747248" y="2725"/>
                      <a:pt x="2752098" y="7574"/>
                    </a:cubicBezTo>
                    <a:cubicBezTo>
                      <a:pt x="2756947" y="12424"/>
                      <a:pt x="2759672" y="19002"/>
                      <a:pt x="2759672" y="25860"/>
                    </a:cubicBezTo>
                    <a:lnTo>
                      <a:pt x="2759672" y="621600"/>
                    </a:lnTo>
                    <a:cubicBezTo>
                      <a:pt x="2759672" y="628459"/>
                      <a:pt x="2756947" y="635037"/>
                      <a:pt x="2752098" y="639886"/>
                    </a:cubicBezTo>
                    <a:cubicBezTo>
                      <a:pt x="2747248" y="644736"/>
                      <a:pt x="2740670" y="647461"/>
                      <a:pt x="2733812" y="647461"/>
                    </a:cubicBezTo>
                    <a:lnTo>
                      <a:pt x="25860" y="647461"/>
                    </a:lnTo>
                    <a:cubicBezTo>
                      <a:pt x="19002" y="647461"/>
                      <a:pt x="12424" y="644736"/>
                      <a:pt x="7574" y="639886"/>
                    </a:cubicBezTo>
                    <a:cubicBezTo>
                      <a:pt x="2725" y="635037"/>
                      <a:pt x="0" y="628459"/>
                      <a:pt x="0" y="621600"/>
                    </a:cubicBezTo>
                    <a:lnTo>
                      <a:pt x="0" y="25860"/>
                    </a:lnTo>
                    <a:cubicBezTo>
                      <a:pt x="0" y="19002"/>
                      <a:pt x="2725" y="12424"/>
                      <a:pt x="7574" y="7574"/>
                    </a:cubicBezTo>
                    <a:cubicBezTo>
                      <a:pt x="12424" y="2725"/>
                      <a:pt x="19002" y="0"/>
                      <a:pt x="25860" y="0"/>
                    </a:cubicBezTo>
                    <a:close/>
                  </a:path>
                </a:pathLst>
              </a:custGeom>
              <a:solidFill>
                <a:srgbClr val="FFFFFF"/>
              </a:solidFill>
              <a:ln w="19050" cap="rnd">
                <a:solidFill>
                  <a:srgbClr val="FFFFFF"/>
                </a:solidFill>
                <a:prstDash val="solid"/>
                <a:round/>
              </a:ln>
            </p:spPr>
          </p:sp>
          <p:sp>
            <p:nvSpPr>
              <p:cNvPr name="TextBox 12" id="12"/>
              <p:cNvSpPr txBox="true"/>
              <p:nvPr/>
            </p:nvSpPr>
            <p:spPr>
              <a:xfrm>
                <a:off x="0" y="85725"/>
                <a:ext cx="2759672" cy="561736"/>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3" id="13"/>
            <p:cNvSpPr txBox="true"/>
            <p:nvPr/>
          </p:nvSpPr>
          <p:spPr>
            <a:xfrm rot="0">
              <a:off x="735507" y="6761145"/>
              <a:ext cx="4183542" cy="283430"/>
            </a:xfrm>
            <a:prstGeom prst="rect">
              <a:avLst/>
            </a:prstGeom>
          </p:spPr>
          <p:txBody>
            <a:bodyPr anchor="t" rtlCol="false" tIns="0" lIns="0" bIns="0" rIns="0">
              <a:spAutoFit/>
            </a:bodyPr>
            <a:lstStyle/>
            <a:p>
              <a:pPr algn="l">
                <a:lnSpc>
                  <a:spcPts val="1527"/>
                </a:lnSpc>
              </a:pPr>
              <a:r>
                <a:rPr lang="en-US" sz="1542" b="true">
                  <a:solidFill>
                    <a:srgbClr val="163B42"/>
                  </a:solidFill>
                  <a:latin typeface="Canva Sans Bold"/>
                  <a:ea typeface="Canva Sans Bold"/>
                  <a:cs typeface="Canva Sans Bold"/>
                  <a:sym typeface="Canva Sans Bold"/>
                </a:rPr>
                <a:t>KEY ASSUMPTION</a:t>
              </a:r>
            </a:p>
          </p:txBody>
        </p:sp>
        <p:sp>
          <p:nvSpPr>
            <p:cNvPr name="TextBox 14" id="14"/>
            <p:cNvSpPr txBox="true"/>
            <p:nvPr/>
          </p:nvSpPr>
          <p:spPr>
            <a:xfrm rot="0">
              <a:off x="735507" y="7230970"/>
              <a:ext cx="11785454" cy="1908086"/>
            </a:xfrm>
            <a:prstGeom prst="rect">
              <a:avLst/>
            </a:prstGeom>
          </p:spPr>
          <p:txBody>
            <a:bodyPr anchor="t" rtlCol="false" tIns="0" lIns="0" bIns="0" rIns="0">
              <a:spAutoFit/>
            </a:bodyPr>
            <a:lstStyle/>
            <a:p>
              <a:pPr algn="just">
                <a:lnSpc>
                  <a:spcPts val="2319"/>
                </a:lnSpc>
              </a:pPr>
            </a:p>
            <a:p>
              <a:pPr algn="just">
                <a:lnSpc>
                  <a:spcPts val="2319"/>
                </a:lnSpc>
              </a:pPr>
              <a:r>
                <a:rPr lang="en-US" sz="1901" spc="-39">
                  <a:solidFill>
                    <a:srgbClr val="163B42"/>
                  </a:solidFill>
                  <a:latin typeface="Aileron"/>
                  <a:ea typeface="Aileron"/>
                  <a:cs typeface="Aileron"/>
                  <a:sym typeface="Aileron"/>
                </a:rPr>
                <a:t>Each observation is treated as independent — participant-level clustering effects are acknowledged but not modeled in this phase. Response time is retained as a behavioral signal, not noise.</a:t>
              </a:r>
            </a:p>
            <a:p>
              <a:pPr algn="just">
                <a:lnSpc>
                  <a:spcPts val="2319"/>
                </a:lnSpc>
              </a:pPr>
            </a:p>
          </p:txBody>
        </p:sp>
        <p:grpSp>
          <p:nvGrpSpPr>
            <p:cNvPr name="Group 15" id="15"/>
            <p:cNvGrpSpPr/>
            <p:nvPr/>
          </p:nvGrpSpPr>
          <p:grpSpPr>
            <a:xfrm rot="0">
              <a:off x="496729" y="4347513"/>
              <a:ext cx="2455149" cy="1220151"/>
              <a:chOff x="0" y="0"/>
              <a:chExt cx="640390" cy="318259"/>
            </a:xfrm>
          </p:grpSpPr>
          <p:sp>
            <p:nvSpPr>
              <p:cNvPr name="Freeform 16" id="16"/>
              <p:cNvSpPr/>
              <p:nvPr/>
            </p:nvSpPr>
            <p:spPr>
              <a:xfrm flipH="false" flipV="false" rot="0">
                <a:off x="0" y="0"/>
                <a:ext cx="640390" cy="318259"/>
              </a:xfrm>
              <a:custGeom>
                <a:avLst/>
                <a:gdLst/>
                <a:ahLst/>
                <a:cxnLst/>
                <a:rect r="r" b="b" t="t" l="l"/>
                <a:pathLst>
                  <a:path h="318259" w="640390">
                    <a:moveTo>
                      <a:pt x="141885" y="0"/>
                    </a:moveTo>
                    <a:lnTo>
                      <a:pt x="498506" y="0"/>
                    </a:lnTo>
                    <a:cubicBezTo>
                      <a:pt x="536136" y="0"/>
                      <a:pt x="572225" y="14949"/>
                      <a:pt x="598833" y="41557"/>
                    </a:cubicBezTo>
                    <a:cubicBezTo>
                      <a:pt x="625442" y="68166"/>
                      <a:pt x="640390" y="104255"/>
                      <a:pt x="640390" y="141885"/>
                    </a:cubicBezTo>
                    <a:lnTo>
                      <a:pt x="640390" y="176374"/>
                    </a:lnTo>
                    <a:cubicBezTo>
                      <a:pt x="640390" y="214004"/>
                      <a:pt x="625442" y="250093"/>
                      <a:pt x="598833" y="276702"/>
                    </a:cubicBezTo>
                    <a:cubicBezTo>
                      <a:pt x="572225" y="303310"/>
                      <a:pt x="536136" y="318259"/>
                      <a:pt x="498506" y="318259"/>
                    </a:cubicBezTo>
                    <a:lnTo>
                      <a:pt x="141885" y="318259"/>
                    </a:lnTo>
                    <a:cubicBezTo>
                      <a:pt x="104255" y="318259"/>
                      <a:pt x="68166" y="303310"/>
                      <a:pt x="41557" y="276702"/>
                    </a:cubicBezTo>
                    <a:cubicBezTo>
                      <a:pt x="14949" y="250093"/>
                      <a:pt x="0" y="214004"/>
                      <a:pt x="0" y="176374"/>
                    </a:cubicBezTo>
                    <a:lnTo>
                      <a:pt x="0" y="141885"/>
                    </a:lnTo>
                    <a:cubicBezTo>
                      <a:pt x="0" y="104255"/>
                      <a:pt x="14949" y="68166"/>
                      <a:pt x="41557" y="41557"/>
                    </a:cubicBezTo>
                    <a:cubicBezTo>
                      <a:pt x="68166" y="14949"/>
                      <a:pt x="104255" y="0"/>
                      <a:pt x="141885" y="0"/>
                    </a:cubicBezTo>
                    <a:close/>
                  </a:path>
                </a:pathLst>
              </a:custGeom>
              <a:solidFill>
                <a:srgbClr val="FFFFFF"/>
              </a:solidFill>
              <a:ln w="19050" cap="rnd">
                <a:solidFill>
                  <a:srgbClr val="FFFFFF"/>
                </a:solidFill>
                <a:prstDash val="solid"/>
                <a:round/>
              </a:ln>
            </p:spPr>
          </p:sp>
          <p:sp>
            <p:nvSpPr>
              <p:cNvPr name="TextBox 17" id="17"/>
              <p:cNvSpPr txBox="true"/>
              <p:nvPr/>
            </p:nvSpPr>
            <p:spPr>
              <a:xfrm>
                <a:off x="0" y="85725"/>
                <a:ext cx="640390" cy="232534"/>
              </a:xfrm>
              <a:prstGeom prst="rect">
                <a:avLst/>
              </a:prstGeom>
            </p:spPr>
            <p:txBody>
              <a:bodyPr anchor="ctr" rtlCol="false" tIns="50800" lIns="50800" bIns="50800" rIns="50800"/>
              <a:lstStyle/>
              <a:p>
                <a:pPr algn="ctr">
                  <a:lnSpc>
                    <a:spcPts val="2218"/>
                  </a:lnSpc>
                </a:pPr>
              </a:p>
            </p:txBody>
          </p:sp>
        </p:grpSp>
        <p:grpSp>
          <p:nvGrpSpPr>
            <p:cNvPr name="Group 18" id="18"/>
            <p:cNvGrpSpPr/>
            <p:nvPr/>
          </p:nvGrpSpPr>
          <p:grpSpPr>
            <a:xfrm rot="0">
              <a:off x="3442060" y="4347513"/>
              <a:ext cx="3044365" cy="1238657"/>
              <a:chOff x="0" y="0"/>
              <a:chExt cx="794079" cy="323086"/>
            </a:xfrm>
          </p:grpSpPr>
          <p:sp>
            <p:nvSpPr>
              <p:cNvPr name="Freeform 19" id="19"/>
              <p:cNvSpPr/>
              <p:nvPr/>
            </p:nvSpPr>
            <p:spPr>
              <a:xfrm flipH="false" flipV="false" rot="0">
                <a:off x="0" y="0"/>
                <a:ext cx="794079" cy="323086"/>
              </a:xfrm>
              <a:custGeom>
                <a:avLst/>
                <a:gdLst/>
                <a:ahLst/>
                <a:cxnLst/>
                <a:rect r="r" b="b" t="t" l="l"/>
                <a:pathLst>
                  <a:path h="323086" w="794079">
                    <a:moveTo>
                      <a:pt x="114424" y="0"/>
                    </a:moveTo>
                    <a:lnTo>
                      <a:pt x="679655" y="0"/>
                    </a:lnTo>
                    <a:cubicBezTo>
                      <a:pt x="710002" y="0"/>
                      <a:pt x="739106" y="12055"/>
                      <a:pt x="760565" y="33514"/>
                    </a:cubicBezTo>
                    <a:cubicBezTo>
                      <a:pt x="782024" y="54973"/>
                      <a:pt x="794079" y="84077"/>
                      <a:pt x="794079" y="114424"/>
                    </a:cubicBezTo>
                    <a:lnTo>
                      <a:pt x="794079" y="208662"/>
                    </a:lnTo>
                    <a:cubicBezTo>
                      <a:pt x="794079" y="239009"/>
                      <a:pt x="782024" y="268113"/>
                      <a:pt x="760565" y="289572"/>
                    </a:cubicBezTo>
                    <a:cubicBezTo>
                      <a:pt x="739106" y="311031"/>
                      <a:pt x="710002" y="323086"/>
                      <a:pt x="679655" y="323086"/>
                    </a:cubicBezTo>
                    <a:lnTo>
                      <a:pt x="114424" y="323086"/>
                    </a:lnTo>
                    <a:cubicBezTo>
                      <a:pt x="51229" y="323086"/>
                      <a:pt x="0" y="271857"/>
                      <a:pt x="0" y="208662"/>
                    </a:cubicBezTo>
                    <a:lnTo>
                      <a:pt x="0" y="114424"/>
                    </a:lnTo>
                    <a:cubicBezTo>
                      <a:pt x="0" y="84077"/>
                      <a:pt x="12055" y="54973"/>
                      <a:pt x="33514" y="33514"/>
                    </a:cubicBezTo>
                    <a:cubicBezTo>
                      <a:pt x="54973" y="12055"/>
                      <a:pt x="84077" y="0"/>
                      <a:pt x="114424"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20" id="20"/>
              <p:cNvSpPr txBox="true"/>
              <p:nvPr/>
            </p:nvSpPr>
            <p:spPr>
              <a:xfrm>
                <a:off x="0" y="85725"/>
                <a:ext cx="794079" cy="237361"/>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21" id="21"/>
            <p:cNvSpPr txBox="true"/>
            <p:nvPr/>
          </p:nvSpPr>
          <p:spPr>
            <a:xfrm rot="0">
              <a:off x="790629" y="4777273"/>
              <a:ext cx="3285899" cy="408254"/>
            </a:xfrm>
            <a:prstGeom prst="rect">
              <a:avLst/>
            </a:prstGeom>
          </p:spPr>
          <p:txBody>
            <a:bodyPr anchor="t" rtlCol="false" tIns="0" lIns="0" bIns="0" rIns="0">
              <a:spAutoFit/>
            </a:bodyPr>
            <a:lstStyle/>
            <a:p>
              <a:pPr algn="l">
                <a:lnSpc>
                  <a:spcPts val="2249"/>
                </a:lnSpc>
              </a:pPr>
              <a:r>
                <a:rPr lang="en-US" sz="2271" spc="-213" b="true">
                  <a:solidFill>
                    <a:srgbClr val="163B42"/>
                  </a:solidFill>
                  <a:latin typeface="Canva Sans Bold"/>
                  <a:ea typeface="Canva Sans Bold"/>
                  <a:cs typeface="Canva Sans Bold"/>
                  <a:sym typeface="Canva Sans Bold"/>
                </a:rPr>
                <a:t>Raw data</a:t>
              </a:r>
            </a:p>
          </p:txBody>
        </p:sp>
        <p:sp>
          <p:nvSpPr>
            <p:cNvPr name="TextBox 22" id="22"/>
            <p:cNvSpPr txBox="true"/>
            <p:nvPr/>
          </p:nvSpPr>
          <p:spPr>
            <a:xfrm rot="0">
              <a:off x="3890626" y="4628632"/>
              <a:ext cx="2316573" cy="783345"/>
            </a:xfrm>
            <a:prstGeom prst="rect">
              <a:avLst/>
            </a:prstGeom>
          </p:spPr>
          <p:txBody>
            <a:bodyPr anchor="t" rtlCol="false" tIns="0" lIns="0" bIns="0" rIns="0">
              <a:spAutoFit/>
            </a:bodyPr>
            <a:lstStyle/>
            <a:p>
              <a:pPr algn="l">
                <a:lnSpc>
                  <a:spcPts val="2249"/>
                </a:lnSpc>
              </a:pPr>
              <a:r>
                <a:rPr lang="en-US" sz="2271" spc="-213" b="true">
                  <a:solidFill>
                    <a:srgbClr val="FFFFFF"/>
                  </a:solidFill>
                  <a:latin typeface="Canva Sans Bold"/>
                  <a:ea typeface="Canva Sans Bold"/>
                  <a:cs typeface="Canva Sans Bold"/>
                  <a:sym typeface="Canva Sans Bold"/>
                </a:rPr>
                <a:t>Dropped non related</a:t>
              </a:r>
            </a:p>
          </p:txBody>
        </p:sp>
        <p:grpSp>
          <p:nvGrpSpPr>
            <p:cNvPr name="Group 23" id="23"/>
            <p:cNvGrpSpPr/>
            <p:nvPr/>
          </p:nvGrpSpPr>
          <p:grpSpPr>
            <a:xfrm rot="0">
              <a:off x="6845690" y="4347513"/>
              <a:ext cx="3044365" cy="1238657"/>
              <a:chOff x="0" y="0"/>
              <a:chExt cx="794079" cy="323086"/>
            </a:xfrm>
          </p:grpSpPr>
          <p:sp>
            <p:nvSpPr>
              <p:cNvPr name="Freeform 24" id="24"/>
              <p:cNvSpPr/>
              <p:nvPr/>
            </p:nvSpPr>
            <p:spPr>
              <a:xfrm flipH="false" flipV="false" rot="0">
                <a:off x="0" y="0"/>
                <a:ext cx="794079" cy="323086"/>
              </a:xfrm>
              <a:custGeom>
                <a:avLst/>
                <a:gdLst/>
                <a:ahLst/>
                <a:cxnLst/>
                <a:rect r="r" b="b" t="t" l="l"/>
                <a:pathLst>
                  <a:path h="323086" w="794079">
                    <a:moveTo>
                      <a:pt x="114424" y="0"/>
                    </a:moveTo>
                    <a:lnTo>
                      <a:pt x="679655" y="0"/>
                    </a:lnTo>
                    <a:cubicBezTo>
                      <a:pt x="710002" y="0"/>
                      <a:pt x="739106" y="12055"/>
                      <a:pt x="760565" y="33514"/>
                    </a:cubicBezTo>
                    <a:cubicBezTo>
                      <a:pt x="782024" y="54973"/>
                      <a:pt x="794079" y="84077"/>
                      <a:pt x="794079" y="114424"/>
                    </a:cubicBezTo>
                    <a:lnTo>
                      <a:pt x="794079" y="208662"/>
                    </a:lnTo>
                    <a:cubicBezTo>
                      <a:pt x="794079" y="239009"/>
                      <a:pt x="782024" y="268113"/>
                      <a:pt x="760565" y="289572"/>
                    </a:cubicBezTo>
                    <a:cubicBezTo>
                      <a:pt x="739106" y="311031"/>
                      <a:pt x="710002" y="323086"/>
                      <a:pt x="679655" y="323086"/>
                    </a:cubicBezTo>
                    <a:lnTo>
                      <a:pt x="114424" y="323086"/>
                    </a:lnTo>
                    <a:cubicBezTo>
                      <a:pt x="51229" y="323086"/>
                      <a:pt x="0" y="271857"/>
                      <a:pt x="0" y="208662"/>
                    </a:cubicBezTo>
                    <a:lnTo>
                      <a:pt x="0" y="114424"/>
                    </a:lnTo>
                    <a:cubicBezTo>
                      <a:pt x="0" y="84077"/>
                      <a:pt x="12055" y="54973"/>
                      <a:pt x="33514" y="33514"/>
                    </a:cubicBezTo>
                    <a:cubicBezTo>
                      <a:pt x="54973" y="12055"/>
                      <a:pt x="84077" y="0"/>
                      <a:pt x="114424"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25" id="25"/>
              <p:cNvSpPr txBox="true"/>
              <p:nvPr/>
            </p:nvSpPr>
            <p:spPr>
              <a:xfrm>
                <a:off x="0" y="85725"/>
                <a:ext cx="794079" cy="237361"/>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26" id="26"/>
            <p:cNvSpPr txBox="true"/>
            <p:nvPr/>
          </p:nvSpPr>
          <p:spPr>
            <a:xfrm rot="0">
              <a:off x="7294255" y="4628632"/>
              <a:ext cx="2316573" cy="783345"/>
            </a:xfrm>
            <a:prstGeom prst="rect">
              <a:avLst/>
            </a:prstGeom>
          </p:spPr>
          <p:txBody>
            <a:bodyPr anchor="t" rtlCol="false" tIns="0" lIns="0" bIns="0" rIns="0">
              <a:spAutoFit/>
            </a:bodyPr>
            <a:lstStyle/>
            <a:p>
              <a:pPr algn="l">
                <a:lnSpc>
                  <a:spcPts val="2249"/>
                </a:lnSpc>
              </a:pPr>
              <a:r>
                <a:rPr lang="en-US" sz="2271" spc="-213" b="true">
                  <a:solidFill>
                    <a:srgbClr val="FFFFFF"/>
                  </a:solidFill>
                  <a:latin typeface="Canva Sans Bold"/>
                  <a:ea typeface="Canva Sans Bold"/>
                  <a:cs typeface="Canva Sans Bold"/>
                  <a:sym typeface="Canva Sans Bold"/>
                </a:rPr>
                <a:t>Outlier Handling</a:t>
              </a:r>
            </a:p>
          </p:txBody>
        </p:sp>
        <p:grpSp>
          <p:nvGrpSpPr>
            <p:cNvPr name="Group 27" id="27"/>
            <p:cNvGrpSpPr/>
            <p:nvPr/>
          </p:nvGrpSpPr>
          <p:grpSpPr>
            <a:xfrm rot="0">
              <a:off x="10386486" y="4386416"/>
              <a:ext cx="2455149" cy="1220151"/>
              <a:chOff x="0" y="0"/>
              <a:chExt cx="640390" cy="318259"/>
            </a:xfrm>
          </p:grpSpPr>
          <p:sp>
            <p:nvSpPr>
              <p:cNvPr name="Freeform 28" id="28"/>
              <p:cNvSpPr/>
              <p:nvPr/>
            </p:nvSpPr>
            <p:spPr>
              <a:xfrm flipH="false" flipV="false" rot="0">
                <a:off x="0" y="0"/>
                <a:ext cx="640390" cy="318259"/>
              </a:xfrm>
              <a:custGeom>
                <a:avLst/>
                <a:gdLst/>
                <a:ahLst/>
                <a:cxnLst/>
                <a:rect r="r" b="b" t="t" l="l"/>
                <a:pathLst>
                  <a:path h="318259" w="640390">
                    <a:moveTo>
                      <a:pt x="141885" y="0"/>
                    </a:moveTo>
                    <a:lnTo>
                      <a:pt x="498506" y="0"/>
                    </a:lnTo>
                    <a:cubicBezTo>
                      <a:pt x="536136" y="0"/>
                      <a:pt x="572225" y="14949"/>
                      <a:pt x="598833" y="41557"/>
                    </a:cubicBezTo>
                    <a:cubicBezTo>
                      <a:pt x="625442" y="68166"/>
                      <a:pt x="640390" y="104255"/>
                      <a:pt x="640390" y="141885"/>
                    </a:cubicBezTo>
                    <a:lnTo>
                      <a:pt x="640390" y="176374"/>
                    </a:lnTo>
                    <a:cubicBezTo>
                      <a:pt x="640390" y="214004"/>
                      <a:pt x="625442" y="250093"/>
                      <a:pt x="598833" y="276702"/>
                    </a:cubicBezTo>
                    <a:cubicBezTo>
                      <a:pt x="572225" y="303310"/>
                      <a:pt x="536136" y="318259"/>
                      <a:pt x="498506" y="318259"/>
                    </a:cubicBezTo>
                    <a:lnTo>
                      <a:pt x="141885" y="318259"/>
                    </a:lnTo>
                    <a:cubicBezTo>
                      <a:pt x="104255" y="318259"/>
                      <a:pt x="68166" y="303310"/>
                      <a:pt x="41557" y="276702"/>
                    </a:cubicBezTo>
                    <a:cubicBezTo>
                      <a:pt x="14949" y="250093"/>
                      <a:pt x="0" y="214004"/>
                      <a:pt x="0" y="176374"/>
                    </a:cubicBezTo>
                    <a:lnTo>
                      <a:pt x="0" y="141885"/>
                    </a:lnTo>
                    <a:cubicBezTo>
                      <a:pt x="0" y="104255"/>
                      <a:pt x="14949" y="68166"/>
                      <a:pt x="41557" y="41557"/>
                    </a:cubicBezTo>
                    <a:cubicBezTo>
                      <a:pt x="68166" y="14949"/>
                      <a:pt x="104255" y="0"/>
                      <a:pt x="141885" y="0"/>
                    </a:cubicBezTo>
                    <a:close/>
                  </a:path>
                </a:pathLst>
              </a:custGeom>
              <a:solidFill>
                <a:srgbClr val="FFFFFF"/>
              </a:solidFill>
              <a:ln w="19050" cap="rnd">
                <a:solidFill>
                  <a:srgbClr val="FFFFFF"/>
                </a:solidFill>
                <a:prstDash val="solid"/>
                <a:round/>
              </a:ln>
            </p:spPr>
          </p:sp>
          <p:sp>
            <p:nvSpPr>
              <p:cNvPr name="TextBox 29" id="29"/>
              <p:cNvSpPr txBox="true"/>
              <p:nvPr/>
            </p:nvSpPr>
            <p:spPr>
              <a:xfrm>
                <a:off x="0" y="85725"/>
                <a:ext cx="640390" cy="232534"/>
              </a:xfrm>
              <a:prstGeom prst="rect">
                <a:avLst/>
              </a:prstGeom>
            </p:spPr>
            <p:txBody>
              <a:bodyPr anchor="ctr" rtlCol="false" tIns="50800" lIns="50800" bIns="50800" rIns="50800"/>
              <a:lstStyle/>
              <a:p>
                <a:pPr algn="ctr">
                  <a:lnSpc>
                    <a:spcPts val="2218"/>
                  </a:lnSpc>
                </a:pPr>
              </a:p>
            </p:txBody>
          </p:sp>
        </p:grpSp>
        <p:sp>
          <p:nvSpPr>
            <p:cNvPr name="TextBox 30" id="30"/>
            <p:cNvSpPr txBox="true"/>
            <p:nvPr/>
          </p:nvSpPr>
          <p:spPr>
            <a:xfrm rot="0">
              <a:off x="10846447" y="4628632"/>
              <a:ext cx="1995187" cy="783345"/>
            </a:xfrm>
            <a:prstGeom prst="rect">
              <a:avLst/>
            </a:prstGeom>
          </p:spPr>
          <p:txBody>
            <a:bodyPr anchor="t" rtlCol="false" tIns="0" lIns="0" bIns="0" rIns="0">
              <a:spAutoFit/>
            </a:bodyPr>
            <a:lstStyle/>
            <a:p>
              <a:pPr algn="l">
                <a:lnSpc>
                  <a:spcPts val="2249"/>
                </a:lnSpc>
              </a:pPr>
              <a:r>
                <a:rPr lang="en-US" sz="2271" spc="-213" b="true">
                  <a:solidFill>
                    <a:srgbClr val="163B42"/>
                  </a:solidFill>
                  <a:latin typeface="Canva Sans Bold"/>
                  <a:ea typeface="Canva Sans Bold"/>
                  <a:cs typeface="Canva Sans Bold"/>
                  <a:sym typeface="Canva Sans Bold"/>
                </a:rPr>
                <a:t>Clean dataset</a:t>
              </a:r>
            </a:p>
          </p:txBody>
        </p:sp>
        <p:sp>
          <p:nvSpPr>
            <p:cNvPr name="AutoShape 31" id="31"/>
            <p:cNvSpPr/>
            <p:nvPr/>
          </p:nvSpPr>
          <p:spPr>
            <a:xfrm flipV="true">
              <a:off x="3043171" y="4931537"/>
              <a:ext cx="307595" cy="0"/>
            </a:xfrm>
            <a:prstGeom prst="line">
              <a:avLst/>
            </a:prstGeom>
            <a:ln cap="flat" w="48980">
              <a:solidFill>
                <a:srgbClr val="FFFFFF"/>
              </a:solidFill>
              <a:prstDash val="solid"/>
              <a:headEnd type="none" len="sm" w="sm"/>
              <a:tailEnd type="arrow" len="sm" w="med"/>
            </a:ln>
          </p:spPr>
        </p:sp>
        <p:sp>
          <p:nvSpPr>
            <p:cNvPr name="AutoShape 32" id="32"/>
            <p:cNvSpPr/>
            <p:nvPr/>
          </p:nvSpPr>
          <p:spPr>
            <a:xfrm flipV="true">
              <a:off x="6512260" y="4931537"/>
              <a:ext cx="307595" cy="0"/>
            </a:xfrm>
            <a:prstGeom prst="line">
              <a:avLst/>
            </a:prstGeom>
            <a:ln cap="flat" w="48980">
              <a:solidFill>
                <a:srgbClr val="FFFFFF"/>
              </a:solidFill>
              <a:prstDash val="solid"/>
              <a:headEnd type="none" len="sm" w="sm"/>
              <a:tailEnd type="arrow" len="sm" w="med"/>
            </a:ln>
          </p:spPr>
        </p:sp>
        <p:sp>
          <p:nvSpPr>
            <p:cNvPr name="AutoShape 33" id="33"/>
            <p:cNvSpPr/>
            <p:nvPr/>
          </p:nvSpPr>
          <p:spPr>
            <a:xfrm flipV="true">
              <a:off x="9981349" y="4931537"/>
              <a:ext cx="307595" cy="0"/>
            </a:xfrm>
            <a:prstGeom prst="line">
              <a:avLst/>
            </a:prstGeom>
            <a:ln cap="flat" w="48980">
              <a:solidFill>
                <a:srgbClr val="FFFFFF"/>
              </a:solidFill>
              <a:prstDash val="solid"/>
              <a:headEnd type="none" len="sm" w="sm"/>
              <a:tailEnd type="arrow" len="sm" w="med"/>
            </a:ln>
          </p:spPr>
        </p:sp>
        <p:grpSp>
          <p:nvGrpSpPr>
            <p:cNvPr name="Group 34" id="34"/>
            <p:cNvGrpSpPr/>
            <p:nvPr/>
          </p:nvGrpSpPr>
          <p:grpSpPr>
            <a:xfrm rot="0">
              <a:off x="17333" y="0"/>
              <a:ext cx="13338363" cy="3221510"/>
              <a:chOff x="0" y="0"/>
              <a:chExt cx="2732622" cy="659989"/>
            </a:xfrm>
          </p:grpSpPr>
          <p:sp>
            <p:nvSpPr>
              <p:cNvPr name="Freeform 35" id="35"/>
              <p:cNvSpPr/>
              <p:nvPr/>
            </p:nvSpPr>
            <p:spPr>
              <a:xfrm flipH="false" flipV="false" rot="0">
                <a:off x="0" y="0"/>
                <a:ext cx="2732622" cy="659989"/>
              </a:xfrm>
              <a:custGeom>
                <a:avLst/>
                <a:gdLst/>
                <a:ahLst/>
                <a:cxnLst/>
                <a:rect r="r" b="b" t="t" l="l"/>
                <a:pathLst>
                  <a:path h="659989" w="2732622">
                    <a:moveTo>
                      <a:pt x="26116" y="0"/>
                    </a:moveTo>
                    <a:lnTo>
                      <a:pt x="2706506" y="0"/>
                    </a:lnTo>
                    <a:cubicBezTo>
                      <a:pt x="2713432" y="0"/>
                      <a:pt x="2720075" y="2752"/>
                      <a:pt x="2724973" y="7649"/>
                    </a:cubicBezTo>
                    <a:cubicBezTo>
                      <a:pt x="2729871" y="12547"/>
                      <a:pt x="2732622" y="19190"/>
                      <a:pt x="2732622" y="26116"/>
                    </a:cubicBezTo>
                    <a:lnTo>
                      <a:pt x="2732622" y="633873"/>
                    </a:lnTo>
                    <a:cubicBezTo>
                      <a:pt x="2732622" y="640799"/>
                      <a:pt x="2729871" y="647442"/>
                      <a:pt x="2724973" y="652339"/>
                    </a:cubicBezTo>
                    <a:cubicBezTo>
                      <a:pt x="2720075" y="657237"/>
                      <a:pt x="2713432" y="659989"/>
                      <a:pt x="2706506" y="659989"/>
                    </a:cubicBezTo>
                    <a:lnTo>
                      <a:pt x="26116" y="659989"/>
                    </a:lnTo>
                    <a:cubicBezTo>
                      <a:pt x="19190" y="659989"/>
                      <a:pt x="12547" y="657237"/>
                      <a:pt x="7649" y="652339"/>
                    </a:cubicBezTo>
                    <a:cubicBezTo>
                      <a:pt x="2752" y="647442"/>
                      <a:pt x="0" y="640799"/>
                      <a:pt x="0" y="633873"/>
                    </a:cubicBezTo>
                    <a:lnTo>
                      <a:pt x="0" y="26116"/>
                    </a:lnTo>
                    <a:cubicBezTo>
                      <a:pt x="0" y="19190"/>
                      <a:pt x="2752" y="12547"/>
                      <a:pt x="7649" y="7649"/>
                    </a:cubicBezTo>
                    <a:cubicBezTo>
                      <a:pt x="12547" y="2752"/>
                      <a:pt x="19190" y="0"/>
                      <a:pt x="26116" y="0"/>
                    </a:cubicBezTo>
                    <a:close/>
                  </a:path>
                </a:pathLst>
              </a:custGeom>
              <a:solidFill>
                <a:srgbClr val="FFFFFF"/>
              </a:solidFill>
              <a:ln w="19050" cap="rnd">
                <a:solidFill>
                  <a:srgbClr val="FFFFFF"/>
                </a:solidFill>
                <a:prstDash val="solid"/>
                <a:round/>
              </a:ln>
            </p:spPr>
          </p:sp>
          <p:sp>
            <p:nvSpPr>
              <p:cNvPr name="TextBox 36" id="36"/>
              <p:cNvSpPr txBox="true"/>
              <p:nvPr/>
            </p:nvSpPr>
            <p:spPr>
              <a:xfrm>
                <a:off x="0" y="85725"/>
                <a:ext cx="2732622" cy="574264"/>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37" id="37"/>
            <p:cNvSpPr txBox="true"/>
            <p:nvPr/>
          </p:nvSpPr>
          <p:spPr>
            <a:xfrm rot="0">
              <a:off x="577175" y="372253"/>
              <a:ext cx="4183542" cy="283430"/>
            </a:xfrm>
            <a:prstGeom prst="rect">
              <a:avLst/>
            </a:prstGeom>
          </p:spPr>
          <p:txBody>
            <a:bodyPr anchor="t" rtlCol="false" tIns="0" lIns="0" bIns="0" rIns="0">
              <a:spAutoFit/>
            </a:bodyPr>
            <a:lstStyle/>
            <a:p>
              <a:pPr algn="l">
                <a:lnSpc>
                  <a:spcPts val="1527"/>
                </a:lnSpc>
              </a:pPr>
              <a:r>
                <a:rPr lang="en-US" sz="1542" b="true">
                  <a:solidFill>
                    <a:srgbClr val="163B42"/>
                  </a:solidFill>
                  <a:latin typeface="Canva Sans Bold"/>
                  <a:ea typeface="Canva Sans Bold"/>
                  <a:cs typeface="Canva Sans Bold"/>
                  <a:sym typeface="Canva Sans Bold"/>
                </a:rPr>
                <a:t>DATA SOURCE</a:t>
              </a:r>
            </a:p>
          </p:txBody>
        </p:sp>
        <p:sp>
          <p:nvSpPr>
            <p:cNvPr name="TextBox 38" id="38"/>
            <p:cNvSpPr txBox="true"/>
            <p:nvPr/>
          </p:nvSpPr>
          <p:spPr>
            <a:xfrm rot="0">
              <a:off x="577175" y="1014310"/>
              <a:ext cx="11785454" cy="1178614"/>
            </a:xfrm>
            <a:prstGeom prst="rect">
              <a:avLst/>
            </a:prstGeom>
          </p:spPr>
          <p:txBody>
            <a:bodyPr anchor="t" rtlCol="false" tIns="0" lIns="0" bIns="0" rIns="0">
              <a:spAutoFit/>
            </a:bodyPr>
            <a:lstStyle/>
            <a:p>
              <a:pPr algn="just">
                <a:lnSpc>
                  <a:spcPts val="2319"/>
                </a:lnSpc>
              </a:pPr>
              <a:r>
                <a:rPr lang="en-US" sz="1901" spc="-39">
                  <a:solidFill>
                    <a:srgbClr val="163B42"/>
                  </a:solidFill>
                  <a:latin typeface="Aileron"/>
                  <a:ea typeface="Aileron"/>
                  <a:cs typeface="Aileron"/>
                  <a:sym typeface="Aileron"/>
                </a:rPr>
                <a:t>Multi-country study about human behavioral decisions:</a:t>
              </a:r>
            </a:p>
            <a:p>
              <a:pPr algn="just" marL="410475" indent="-205238" lvl="1">
                <a:lnSpc>
                  <a:spcPts val="2319"/>
                </a:lnSpc>
                <a:buFont typeface="Arial"/>
                <a:buChar char="•"/>
              </a:pPr>
              <a:r>
                <a:rPr lang="en-US" sz="1901" spc="-39">
                  <a:solidFill>
                    <a:srgbClr val="163B42"/>
                  </a:solidFill>
                  <a:latin typeface="Aileron"/>
                  <a:ea typeface="Aileron"/>
                  <a:cs typeface="Aileron"/>
                  <a:sym typeface="Aileron"/>
                </a:rPr>
                <a:t> where participants traded off an immediate reward against a larger delayed one</a:t>
              </a:r>
            </a:p>
            <a:p>
              <a:pPr algn="just" marL="410475" indent="-205238" lvl="1">
                <a:lnSpc>
                  <a:spcPts val="2319"/>
                </a:lnSpc>
                <a:buFont typeface="Arial"/>
                <a:buChar char="•"/>
              </a:pPr>
              <a:r>
                <a:rPr lang="en-US" sz="1901" spc="-39">
                  <a:solidFill>
                    <a:srgbClr val="163B42"/>
                  </a:solidFill>
                  <a:latin typeface="Aileron"/>
                  <a:ea typeface="Aileron"/>
                  <a:cs typeface="Aileron"/>
                  <a:sym typeface="Aileron"/>
                </a:rPr>
                <a:t>Compiled across multiple lab studies into a single large-scale dataset.</a:t>
              </a:r>
            </a:p>
          </p:txBody>
        </p:sp>
        <p:grpSp>
          <p:nvGrpSpPr>
            <p:cNvPr name="Group 39" id="39"/>
            <p:cNvGrpSpPr/>
            <p:nvPr/>
          </p:nvGrpSpPr>
          <p:grpSpPr>
            <a:xfrm rot="0">
              <a:off x="0" y="3417431"/>
              <a:ext cx="13338363" cy="2712968"/>
              <a:chOff x="0" y="0"/>
              <a:chExt cx="2732622" cy="555804"/>
            </a:xfrm>
          </p:grpSpPr>
          <p:sp>
            <p:nvSpPr>
              <p:cNvPr name="Freeform 40" id="40"/>
              <p:cNvSpPr/>
              <p:nvPr/>
            </p:nvSpPr>
            <p:spPr>
              <a:xfrm flipH="false" flipV="false" rot="0">
                <a:off x="0" y="0"/>
                <a:ext cx="2732622" cy="555804"/>
              </a:xfrm>
              <a:custGeom>
                <a:avLst/>
                <a:gdLst/>
                <a:ahLst/>
                <a:cxnLst/>
                <a:rect r="r" b="b" t="t" l="l"/>
                <a:pathLst>
                  <a:path h="555804" w="2732622">
                    <a:moveTo>
                      <a:pt x="26116" y="0"/>
                    </a:moveTo>
                    <a:lnTo>
                      <a:pt x="2706506" y="0"/>
                    </a:lnTo>
                    <a:cubicBezTo>
                      <a:pt x="2713432" y="0"/>
                      <a:pt x="2720075" y="2752"/>
                      <a:pt x="2724973" y="7649"/>
                    </a:cubicBezTo>
                    <a:cubicBezTo>
                      <a:pt x="2729871" y="12547"/>
                      <a:pt x="2732622" y="19190"/>
                      <a:pt x="2732622" y="26116"/>
                    </a:cubicBezTo>
                    <a:lnTo>
                      <a:pt x="2732622" y="529688"/>
                    </a:lnTo>
                    <a:cubicBezTo>
                      <a:pt x="2732622" y="536614"/>
                      <a:pt x="2729871" y="543257"/>
                      <a:pt x="2724973" y="548155"/>
                    </a:cubicBezTo>
                    <a:cubicBezTo>
                      <a:pt x="2720075" y="553053"/>
                      <a:pt x="2713432" y="555804"/>
                      <a:pt x="2706506" y="555804"/>
                    </a:cubicBezTo>
                    <a:lnTo>
                      <a:pt x="26116" y="555804"/>
                    </a:lnTo>
                    <a:cubicBezTo>
                      <a:pt x="19190" y="555804"/>
                      <a:pt x="12547" y="553053"/>
                      <a:pt x="7649" y="548155"/>
                    </a:cubicBezTo>
                    <a:cubicBezTo>
                      <a:pt x="2752" y="543257"/>
                      <a:pt x="0" y="536614"/>
                      <a:pt x="0" y="529688"/>
                    </a:cubicBezTo>
                    <a:lnTo>
                      <a:pt x="0" y="26116"/>
                    </a:lnTo>
                    <a:cubicBezTo>
                      <a:pt x="0" y="19190"/>
                      <a:pt x="2752" y="12547"/>
                      <a:pt x="7649" y="7649"/>
                    </a:cubicBezTo>
                    <a:cubicBezTo>
                      <a:pt x="12547" y="2752"/>
                      <a:pt x="19190" y="0"/>
                      <a:pt x="26116"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19050" cap="rnd">
                <a:solidFill>
                  <a:srgbClr val="FFFFFF"/>
                </a:solidFill>
                <a:prstDash val="solid"/>
                <a:round/>
              </a:ln>
            </p:spPr>
          </p:sp>
          <p:sp>
            <p:nvSpPr>
              <p:cNvPr name="TextBox 41" id="41"/>
              <p:cNvSpPr txBox="true"/>
              <p:nvPr/>
            </p:nvSpPr>
            <p:spPr>
              <a:xfrm>
                <a:off x="0" y="85725"/>
                <a:ext cx="2732622" cy="470079"/>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42" id="42"/>
            <p:cNvSpPr txBox="true"/>
            <p:nvPr/>
          </p:nvSpPr>
          <p:spPr>
            <a:xfrm rot="0">
              <a:off x="577175" y="3745409"/>
              <a:ext cx="4183542" cy="283430"/>
            </a:xfrm>
            <a:prstGeom prst="rect">
              <a:avLst/>
            </a:prstGeom>
          </p:spPr>
          <p:txBody>
            <a:bodyPr anchor="t" rtlCol="false" tIns="0" lIns="0" bIns="0" rIns="0">
              <a:spAutoFit/>
            </a:bodyPr>
            <a:lstStyle/>
            <a:p>
              <a:pPr algn="l">
                <a:lnSpc>
                  <a:spcPts val="1527"/>
                </a:lnSpc>
              </a:pPr>
              <a:r>
                <a:rPr lang="en-US" b="true" sz="1542">
                  <a:solidFill>
                    <a:srgbClr val="F8F6F7"/>
                  </a:solidFill>
                  <a:latin typeface="Canva Sans Bold"/>
                  <a:ea typeface="Canva Sans Bold"/>
                  <a:cs typeface="Canva Sans Bold"/>
                  <a:sym typeface="Canva Sans Bold"/>
                </a:rPr>
                <a:t>ETL PIPELINE</a:t>
              </a:r>
            </a:p>
          </p:txBody>
        </p:sp>
      </p:grpSp>
      <p:sp>
        <p:nvSpPr>
          <p:cNvPr name="TextBox 43" id="4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146271">
            <a:off x="5411574" y="-6558893"/>
            <a:ext cx="8137868" cy="81378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
                  </a:srgbClr>
                </a:gs>
                <a:gs pos="100000">
                  <a:srgbClr val="6F9F97">
                    <a:alpha val="10000"/>
                  </a:srgbClr>
                </a:gs>
              </a:gsLst>
              <a:lin ang="0"/>
            </a:gradFill>
            <a:ln w="19050" cap="sq">
              <a:solidFill>
                <a:srgbClr val="163B42">
                  <a:alpha val="9804"/>
                </a:srgbClr>
              </a:solidFill>
              <a:prstDash val="solid"/>
              <a:miter/>
            </a:ln>
          </p:spPr>
        </p:sp>
        <p:sp>
          <p:nvSpPr>
            <p:cNvPr name="TextBox 4" id="4"/>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6146271">
            <a:off x="4419996" y="-1924472"/>
            <a:ext cx="2365580" cy="236558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B6261">
                    <a:alpha val="10000"/>
                  </a:srgbClr>
                </a:gs>
                <a:gs pos="100000">
                  <a:srgbClr val="6F9F97">
                    <a:alpha val="10000"/>
                  </a:srgbClr>
                </a:gs>
              </a:gsLst>
              <a:lin ang="0"/>
            </a:gradFill>
            <a:ln w="19050" cap="sq">
              <a:solidFill>
                <a:srgbClr val="163B42">
                  <a:alpha val="9804"/>
                </a:srgbClr>
              </a:solidFill>
              <a:prstDash val="solid"/>
              <a:miter/>
            </a:ln>
          </p:spPr>
        </p:sp>
        <p:sp>
          <p:nvSpPr>
            <p:cNvPr name="TextBox 7" id="7"/>
            <p:cNvSpPr txBox="true"/>
            <p:nvPr/>
          </p:nvSpPr>
          <p:spPr>
            <a:xfrm>
              <a:off x="76200" y="95250"/>
              <a:ext cx="660400" cy="641350"/>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242089" y="1890941"/>
            <a:ext cx="8657700" cy="3798151"/>
            <a:chOff x="0" y="0"/>
            <a:chExt cx="2103595" cy="922851"/>
          </a:xfrm>
        </p:grpSpPr>
        <p:sp>
          <p:nvSpPr>
            <p:cNvPr name="Freeform 9" id="9"/>
            <p:cNvSpPr/>
            <p:nvPr/>
          </p:nvSpPr>
          <p:spPr>
            <a:xfrm flipH="false" flipV="false" rot="0">
              <a:off x="0" y="0"/>
              <a:ext cx="2103595" cy="922851"/>
            </a:xfrm>
            <a:custGeom>
              <a:avLst/>
              <a:gdLst/>
              <a:ahLst/>
              <a:cxnLst/>
              <a:rect r="r" b="b" t="t" l="l"/>
              <a:pathLst>
                <a:path h="922851" w="2103595">
                  <a:moveTo>
                    <a:pt x="30404" y="0"/>
                  </a:moveTo>
                  <a:lnTo>
                    <a:pt x="2073191" y="0"/>
                  </a:lnTo>
                  <a:cubicBezTo>
                    <a:pt x="2089983" y="0"/>
                    <a:pt x="2103595" y="13612"/>
                    <a:pt x="2103595" y="30404"/>
                  </a:cubicBezTo>
                  <a:lnTo>
                    <a:pt x="2103595" y="892448"/>
                  </a:lnTo>
                  <a:cubicBezTo>
                    <a:pt x="2103595" y="909239"/>
                    <a:pt x="2089983" y="922851"/>
                    <a:pt x="2073191" y="922851"/>
                  </a:cubicBezTo>
                  <a:lnTo>
                    <a:pt x="30404" y="922851"/>
                  </a:lnTo>
                  <a:cubicBezTo>
                    <a:pt x="13612" y="922851"/>
                    <a:pt x="0" y="909239"/>
                    <a:pt x="0" y="892448"/>
                  </a:cubicBezTo>
                  <a:lnTo>
                    <a:pt x="0" y="30404"/>
                  </a:lnTo>
                  <a:cubicBezTo>
                    <a:pt x="0" y="13612"/>
                    <a:pt x="13612" y="0"/>
                    <a:pt x="30404" y="0"/>
                  </a:cubicBezTo>
                  <a:close/>
                </a:path>
              </a:pathLst>
            </a:custGeom>
            <a:gradFill rotWithShape="true">
              <a:gsLst>
                <a:gs pos="0">
                  <a:srgbClr val="3B6261">
                    <a:alpha val="93000"/>
                  </a:srgbClr>
                </a:gs>
                <a:gs pos="100000">
                  <a:srgbClr val="6F9F97">
                    <a:alpha val="93000"/>
                  </a:srgbClr>
                </a:gs>
              </a:gsLst>
              <a:lin ang="0"/>
            </a:gradFill>
            <a:ln w="19050" cap="rnd">
              <a:solidFill>
                <a:srgbClr val="163B42">
                  <a:alpha val="92941"/>
                </a:srgbClr>
              </a:solidFill>
              <a:prstDash val="solid"/>
              <a:round/>
            </a:ln>
          </p:spPr>
        </p:sp>
        <p:sp>
          <p:nvSpPr>
            <p:cNvPr name="TextBox 10" id="10"/>
            <p:cNvSpPr txBox="true"/>
            <p:nvPr/>
          </p:nvSpPr>
          <p:spPr>
            <a:xfrm>
              <a:off x="0" y="19050"/>
              <a:ext cx="2103595" cy="903801"/>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11" id="11"/>
          <p:cNvGrpSpPr/>
          <p:nvPr/>
        </p:nvGrpSpPr>
        <p:grpSpPr>
          <a:xfrm rot="0">
            <a:off x="9203477" y="443193"/>
            <a:ext cx="8657700" cy="4700307"/>
            <a:chOff x="0" y="0"/>
            <a:chExt cx="2103595" cy="1142052"/>
          </a:xfrm>
        </p:grpSpPr>
        <p:sp>
          <p:nvSpPr>
            <p:cNvPr name="Freeform 12" id="12"/>
            <p:cNvSpPr/>
            <p:nvPr/>
          </p:nvSpPr>
          <p:spPr>
            <a:xfrm flipH="false" flipV="false" rot="0">
              <a:off x="0" y="0"/>
              <a:ext cx="2103595" cy="1142052"/>
            </a:xfrm>
            <a:custGeom>
              <a:avLst/>
              <a:gdLst/>
              <a:ahLst/>
              <a:cxnLst/>
              <a:rect r="r" b="b" t="t" l="l"/>
              <a:pathLst>
                <a:path h="1142052" w="2103595">
                  <a:moveTo>
                    <a:pt x="30404" y="0"/>
                  </a:moveTo>
                  <a:lnTo>
                    <a:pt x="2073191" y="0"/>
                  </a:lnTo>
                  <a:cubicBezTo>
                    <a:pt x="2089983" y="0"/>
                    <a:pt x="2103595" y="13612"/>
                    <a:pt x="2103595" y="30404"/>
                  </a:cubicBezTo>
                  <a:lnTo>
                    <a:pt x="2103595" y="1111648"/>
                  </a:lnTo>
                  <a:cubicBezTo>
                    <a:pt x="2103595" y="1128439"/>
                    <a:pt x="2089983" y="1142052"/>
                    <a:pt x="2073191" y="1142052"/>
                  </a:cubicBezTo>
                  <a:lnTo>
                    <a:pt x="30404" y="1142052"/>
                  </a:lnTo>
                  <a:cubicBezTo>
                    <a:pt x="13612" y="1142052"/>
                    <a:pt x="0" y="1128439"/>
                    <a:pt x="0" y="1111648"/>
                  </a:cubicBezTo>
                  <a:lnTo>
                    <a:pt x="0" y="30404"/>
                  </a:lnTo>
                  <a:cubicBezTo>
                    <a:pt x="0" y="13612"/>
                    <a:pt x="13612" y="0"/>
                    <a:pt x="30404" y="0"/>
                  </a:cubicBezTo>
                  <a:close/>
                </a:path>
              </a:pathLst>
            </a:custGeom>
            <a:gradFill rotWithShape="true">
              <a:gsLst>
                <a:gs pos="0">
                  <a:srgbClr val="3B6261">
                    <a:alpha val="93000"/>
                  </a:srgbClr>
                </a:gs>
                <a:gs pos="100000">
                  <a:srgbClr val="6F9F97">
                    <a:alpha val="93000"/>
                  </a:srgbClr>
                </a:gs>
              </a:gsLst>
              <a:lin ang="0"/>
            </a:gradFill>
            <a:ln w="19050" cap="rnd">
              <a:solidFill>
                <a:srgbClr val="163B42">
                  <a:alpha val="92941"/>
                </a:srgbClr>
              </a:solidFill>
              <a:prstDash val="solid"/>
              <a:round/>
            </a:ln>
          </p:spPr>
        </p:sp>
        <p:sp>
          <p:nvSpPr>
            <p:cNvPr name="TextBox 13" id="13"/>
            <p:cNvSpPr txBox="true"/>
            <p:nvPr/>
          </p:nvSpPr>
          <p:spPr>
            <a:xfrm>
              <a:off x="0" y="19050"/>
              <a:ext cx="2103595" cy="1123002"/>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14" id="14"/>
          <p:cNvGrpSpPr/>
          <p:nvPr/>
        </p:nvGrpSpPr>
        <p:grpSpPr>
          <a:xfrm rot="0">
            <a:off x="331174" y="6050458"/>
            <a:ext cx="8657700" cy="3798151"/>
            <a:chOff x="0" y="0"/>
            <a:chExt cx="2103595" cy="922851"/>
          </a:xfrm>
        </p:grpSpPr>
        <p:sp>
          <p:nvSpPr>
            <p:cNvPr name="Freeform 15" id="15"/>
            <p:cNvSpPr/>
            <p:nvPr/>
          </p:nvSpPr>
          <p:spPr>
            <a:xfrm flipH="false" flipV="false" rot="0">
              <a:off x="0" y="0"/>
              <a:ext cx="2103595" cy="922851"/>
            </a:xfrm>
            <a:custGeom>
              <a:avLst/>
              <a:gdLst/>
              <a:ahLst/>
              <a:cxnLst/>
              <a:rect r="r" b="b" t="t" l="l"/>
              <a:pathLst>
                <a:path h="922851" w="2103595">
                  <a:moveTo>
                    <a:pt x="30404" y="0"/>
                  </a:moveTo>
                  <a:lnTo>
                    <a:pt x="2073191" y="0"/>
                  </a:lnTo>
                  <a:cubicBezTo>
                    <a:pt x="2089983" y="0"/>
                    <a:pt x="2103595" y="13612"/>
                    <a:pt x="2103595" y="30404"/>
                  </a:cubicBezTo>
                  <a:lnTo>
                    <a:pt x="2103595" y="892448"/>
                  </a:lnTo>
                  <a:cubicBezTo>
                    <a:pt x="2103595" y="909239"/>
                    <a:pt x="2089983" y="922851"/>
                    <a:pt x="2073191" y="922851"/>
                  </a:cubicBezTo>
                  <a:lnTo>
                    <a:pt x="30404" y="922851"/>
                  </a:lnTo>
                  <a:cubicBezTo>
                    <a:pt x="13612" y="922851"/>
                    <a:pt x="0" y="909239"/>
                    <a:pt x="0" y="892448"/>
                  </a:cubicBezTo>
                  <a:lnTo>
                    <a:pt x="0" y="30404"/>
                  </a:lnTo>
                  <a:cubicBezTo>
                    <a:pt x="0" y="13612"/>
                    <a:pt x="13612" y="0"/>
                    <a:pt x="30404" y="0"/>
                  </a:cubicBezTo>
                  <a:close/>
                </a:path>
              </a:pathLst>
            </a:custGeom>
            <a:gradFill rotWithShape="true">
              <a:gsLst>
                <a:gs pos="0">
                  <a:srgbClr val="3B6261">
                    <a:alpha val="93000"/>
                  </a:srgbClr>
                </a:gs>
                <a:gs pos="100000">
                  <a:srgbClr val="6F9F97">
                    <a:alpha val="93000"/>
                  </a:srgbClr>
                </a:gs>
              </a:gsLst>
              <a:lin ang="0"/>
            </a:gradFill>
            <a:ln w="19050" cap="rnd">
              <a:solidFill>
                <a:srgbClr val="163B42">
                  <a:alpha val="92941"/>
                </a:srgbClr>
              </a:solidFill>
              <a:prstDash val="solid"/>
              <a:round/>
            </a:ln>
          </p:spPr>
        </p:sp>
        <p:sp>
          <p:nvSpPr>
            <p:cNvPr name="TextBox 16" id="16"/>
            <p:cNvSpPr txBox="true"/>
            <p:nvPr/>
          </p:nvSpPr>
          <p:spPr>
            <a:xfrm>
              <a:off x="0" y="19050"/>
              <a:ext cx="2103595" cy="903801"/>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17" id="17"/>
          <p:cNvGrpSpPr/>
          <p:nvPr/>
        </p:nvGrpSpPr>
        <p:grpSpPr>
          <a:xfrm rot="0">
            <a:off x="9340781" y="5343525"/>
            <a:ext cx="8657700" cy="4505084"/>
            <a:chOff x="0" y="0"/>
            <a:chExt cx="2103595" cy="1094617"/>
          </a:xfrm>
        </p:grpSpPr>
        <p:sp>
          <p:nvSpPr>
            <p:cNvPr name="Freeform 18" id="18"/>
            <p:cNvSpPr/>
            <p:nvPr/>
          </p:nvSpPr>
          <p:spPr>
            <a:xfrm flipH="false" flipV="false" rot="0">
              <a:off x="0" y="0"/>
              <a:ext cx="2103595" cy="1094617"/>
            </a:xfrm>
            <a:custGeom>
              <a:avLst/>
              <a:gdLst/>
              <a:ahLst/>
              <a:cxnLst/>
              <a:rect r="r" b="b" t="t" l="l"/>
              <a:pathLst>
                <a:path h="1094617" w="2103595">
                  <a:moveTo>
                    <a:pt x="30404" y="0"/>
                  </a:moveTo>
                  <a:lnTo>
                    <a:pt x="2073191" y="0"/>
                  </a:lnTo>
                  <a:cubicBezTo>
                    <a:pt x="2089983" y="0"/>
                    <a:pt x="2103595" y="13612"/>
                    <a:pt x="2103595" y="30404"/>
                  </a:cubicBezTo>
                  <a:lnTo>
                    <a:pt x="2103595" y="1064214"/>
                  </a:lnTo>
                  <a:cubicBezTo>
                    <a:pt x="2103595" y="1081005"/>
                    <a:pt x="2089983" y="1094617"/>
                    <a:pt x="2073191" y="1094617"/>
                  </a:cubicBezTo>
                  <a:lnTo>
                    <a:pt x="30404" y="1094617"/>
                  </a:lnTo>
                  <a:cubicBezTo>
                    <a:pt x="13612" y="1094617"/>
                    <a:pt x="0" y="1081005"/>
                    <a:pt x="0" y="1064214"/>
                  </a:cubicBezTo>
                  <a:lnTo>
                    <a:pt x="0" y="30404"/>
                  </a:lnTo>
                  <a:cubicBezTo>
                    <a:pt x="0" y="13612"/>
                    <a:pt x="13612" y="0"/>
                    <a:pt x="30404" y="0"/>
                  </a:cubicBezTo>
                  <a:close/>
                </a:path>
              </a:pathLst>
            </a:custGeom>
            <a:gradFill rotWithShape="true">
              <a:gsLst>
                <a:gs pos="0">
                  <a:srgbClr val="3B6261">
                    <a:alpha val="93000"/>
                  </a:srgbClr>
                </a:gs>
                <a:gs pos="100000">
                  <a:srgbClr val="6F9F97">
                    <a:alpha val="93000"/>
                  </a:srgbClr>
                </a:gs>
              </a:gsLst>
              <a:lin ang="0"/>
            </a:gradFill>
            <a:ln w="19050" cap="rnd">
              <a:solidFill>
                <a:srgbClr val="163B42">
                  <a:alpha val="92941"/>
                </a:srgbClr>
              </a:solidFill>
              <a:prstDash val="solid"/>
              <a:round/>
            </a:ln>
          </p:spPr>
        </p:sp>
        <p:sp>
          <p:nvSpPr>
            <p:cNvPr name="TextBox 19" id="19"/>
            <p:cNvSpPr txBox="true"/>
            <p:nvPr/>
          </p:nvSpPr>
          <p:spPr>
            <a:xfrm>
              <a:off x="0" y="19050"/>
              <a:ext cx="2103595" cy="1075567"/>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20" id="20"/>
          <p:cNvGrpSpPr/>
          <p:nvPr/>
        </p:nvGrpSpPr>
        <p:grpSpPr>
          <a:xfrm rot="0">
            <a:off x="1318491" y="1589548"/>
            <a:ext cx="6504896" cy="642634"/>
            <a:chOff x="0" y="0"/>
            <a:chExt cx="1580519" cy="156143"/>
          </a:xfrm>
        </p:grpSpPr>
        <p:sp>
          <p:nvSpPr>
            <p:cNvPr name="Freeform 21" id="21"/>
            <p:cNvSpPr/>
            <p:nvPr/>
          </p:nvSpPr>
          <p:spPr>
            <a:xfrm flipH="false" flipV="false" rot="0">
              <a:off x="0" y="0"/>
              <a:ext cx="1580520" cy="156143"/>
            </a:xfrm>
            <a:custGeom>
              <a:avLst/>
              <a:gdLst/>
              <a:ahLst/>
              <a:cxnLst/>
              <a:rect r="r" b="b" t="t" l="l"/>
              <a:pathLst>
                <a:path h="156143" w="1580520">
                  <a:moveTo>
                    <a:pt x="40466" y="0"/>
                  </a:moveTo>
                  <a:lnTo>
                    <a:pt x="1540054" y="0"/>
                  </a:lnTo>
                  <a:cubicBezTo>
                    <a:pt x="1562402" y="0"/>
                    <a:pt x="1580520" y="18117"/>
                    <a:pt x="1580520" y="40466"/>
                  </a:cubicBezTo>
                  <a:lnTo>
                    <a:pt x="1580520" y="115678"/>
                  </a:lnTo>
                  <a:cubicBezTo>
                    <a:pt x="1580520" y="138026"/>
                    <a:pt x="1562402" y="156143"/>
                    <a:pt x="1540054" y="156143"/>
                  </a:cubicBezTo>
                  <a:lnTo>
                    <a:pt x="40466" y="156143"/>
                  </a:lnTo>
                  <a:cubicBezTo>
                    <a:pt x="29734" y="156143"/>
                    <a:pt x="19441" y="151880"/>
                    <a:pt x="11852" y="144291"/>
                  </a:cubicBezTo>
                  <a:cubicBezTo>
                    <a:pt x="4263" y="136702"/>
                    <a:pt x="0" y="126410"/>
                    <a:pt x="0" y="115678"/>
                  </a:cubicBezTo>
                  <a:lnTo>
                    <a:pt x="0" y="40466"/>
                  </a:lnTo>
                  <a:cubicBezTo>
                    <a:pt x="0" y="18117"/>
                    <a:pt x="18117" y="0"/>
                    <a:pt x="40466" y="0"/>
                  </a:cubicBezTo>
                  <a:close/>
                </a:path>
              </a:pathLst>
            </a:custGeom>
            <a:solidFill>
              <a:srgbClr val="F8F6F7">
                <a:alpha val="92941"/>
              </a:srgbClr>
            </a:solidFill>
            <a:ln w="19050" cap="rnd">
              <a:solidFill>
                <a:srgbClr val="163B42">
                  <a:alpha val="92941"/>
                </a:srgbClr>
              </a:solidFill>
              <a:prstDash val="solid"/>
              <a:round/>
            </a:ln>
          </p:spPr>
        </p:sp>
        <p:sp>
          <p:nvSpPr>
            <p:cNvPr name="TextBox 22" id="22"/>
            <p:cNvSpPr txBox="true"/>
            <p:nvPr/>
          </p:nvSpPr>
          <p:spPr>
            <a:xfrm>
              <a:off x="0" y="19050"/>
              <a:ext cx="1580519" cy="137093"/>
            </a:xfrm>
            <a:prstGeom prst="rect">
              <a:avLst/>
            </a:prstGeom>
          </p:spPr>
          <p:txBody>
            <a:bodyPr anchor="ctr" rtlCol="false" tIns="50800" lIns="50800" bIns="50800" rIns="50800"/>
            <a:lstStyle/>
            <a:p>
              <a:pPr algn="ctr" marL="0" indent="0" lvl="0">
                <a:lnSpc>
                  <a:spcPts val="2160"/>
                </a:lnSpc>
                <a:spcBef>
                  <a:spcPct val="0"/>
                </a:spcBef>
              </a:pPr>
              <a:r>
                <a:rPr lang="en-US" b="true" sz="2000" spc="-14">
                  <a:solidFill>
                    <a:srgbClr val="000000">
                      <a:alpha val="92941"/>
                    </a:srgbClr>
                  </a:solidFill>
                  <a:latin typeface="Aileron Bold"/>
                  <a:ea typeface="Aileron Bold"/>
                  <a:cs typeface="Aileron Bold"/>
                  <a:sym typeface="Aileron Bold"/>
                </a:rPr>
                <a:t>Reward Ratio by Choice</a:t>
              </a:r>
            </a:p>
          </p:txBody>
        </p:sp>
      </p:grpSp>
      <p:grpSp>
        <p:nvGrpSpPr>
          <p:cNvPr name="Group 23" id="23"/>
          <p:cNvGrpSpPr/>
          <p:nvPr/>
        </p:nvGrpSpPr>
        <p:grpSpPr>
          <a:xfrm rot="0">
            <a:off x="10417183" y="265133"/>
            <a:ext cx="6504896" cy="642634"/>
            <a:chOff x="0" y="0"/>
            <a:chExt cx="1580519" cy="156143"/>
          </a:xfrm>
        </p:grpSpPr>
        <p:sp>
          <p:nvSpPr>
            <p:cNvPr name="Freeform 24" id="24"/>
            <p:cNvSpPr/>
            <p:nvPr/>
          </p:nvSpPr>
          <p:spPr>
            <a:xfrm flipH="false" flipV="false" rot="0">
              <a:off x="0" y="0"/>
              <a:ext cx="1580520" cy="156143"/>
            </a:xfrm>
            <a:custGeom>
              <a:avLst/>
              <a:gdLst/>
              <a:ahLst/>
              <a:cxnLst/>
              <a:rect r="r" b="b" t="t" l="l"/>
              <a:pathLst>
                <a:path h="156143" w="1580520">
                  <a:moveTo>
                    <a:pt x="40466" y="0"/>
                  </a:moveTo>
                  <a:lnTo>
                    <a:pt x="1540054" y="0"/>
                  </a:lnTo>
                  <a:cubicBezTo>
                    <a:pt x="1562402" y="0"/>
                    <a:pt x="1580520" y="18117"/>
                    <a:pt x="1580520" y="40466"/>
                  </a:cubicBezTo>
                  <a:lnTo>
                    <a:pt x="1580520" y="115678"/>
                  </a:lnTo>
                  <a:cubicBezTo>
                    <a:pt x="1580520" y="138026"/>
                    <a:pt x="1562402" y="156143"/>
                    <a:pt x="1540054" y="156143"/>
                  </a:cubicBezTo>
                  <a:lnTo>
                    <a:pt x="40466" y="156143"/>
                  </a:lnTo>
                  <a:cubicBezTo>
                    <a:pt x="29734" y="156143"/>
                    <a:pt x="19441" y="151880"/>
                    <a:pt x="11852" y="144291"/>
                  </a:cubicBezTo>
                  <a:cubicBezTo>
                    <a:pt x="4263" y="136702"/>
                    <a:pt x="0" y="126410"/>
                    <a:pt x="0" y="115678"/>
                  </a:cubicBezTo>
                  <a:lnTo>
                    <a:pt x="0" y="40466"/>
                  </a:lnTo>
                  <a:cubicBezTo>
                    <a:pt x="0" y="18117"/>
                    <a:pt x="18117" y="0"/>
                    <a:pt x="40466" y="0"/>
                  </a:cubicBezTo>
                  <a:close/>
                </a:path>
              </a:pathLst>
            </a:custGeom>
            <a:solidFill>
              <a:srgbClr val="F8F6F7">
                <a:alpha val="92941"/>
              </a:srgbClr>
            </a:solidFill>
            <a:ln w="19050" cap="rnd">
              <a:solidFill>
                <a:srgbClr val="163B42">
                  <a:alpha val="92941"/>
                </a:srgbClr>
              </a:solidFill>
              <a:prstDash val="solid"/>
              <a:round/>
            </a:ln>
          </p:spPr>
        </p:sp>
        <p:sp>
          <p:nvSpPr>
            <p:cNvPr name="TextBox 25" id="25"/>
            <p:cNvSpPr txBox="true"/>
            <p:nvPr/>
          </p:nvSpPr>
          <p:spPr>
            <a:xfrm>
              <a:off x="0" y="19050"/>
              <a:ext cx="1580519" cy="137093"/>
            </a:xfrm>
            <a:prstGeom prst="rect">
              <a:avLst/>
            </a:prstGeom>
          </p:spPr>
          <p:txBody>
            <a:bodyPr anchor="ctr" rtlCol="false" tIns="50800" lIns="50800" bIns="50800" rIns="50800"/>
            <a:lstStyle/>
            <a:p>
              <a:pPr algn="ctr" marL="0" indent="0" lvl="0">
                <a:lnSpc>
                  <a:spcPts val="2160"/>
                </a:lnSpc>
                <a:spcBef>
                  <a:spcPct val="0"/>
                </a:spcBef>
              </a:pPr>
              <a:r>
                <a:rPr lang="en-US" b="true" sz="2000" spc="-14">
                  <a:solidFill>
                    <a:srgbClr val="000000">
                      <a:alpha val="92941"/>
                    </a:srgbClr>
                  </a:solidFill>
                  <a:latin typeface="Aileron Bold"/>
                  <a:ea typeface="Aileron Bold"/>
                  <a:cs typeface="Aileron Bold"/>
                  <a:sym typeface="Aileron Bold"/>
                </a:rPr>
                <a:t>How Reward Payoff Time Influences Choice</a:t>
              </a:r>
            </a:p>
          </p:txBody>
        </p:sp>
      </p:grpSp>
      <p:grpSp>
        <p:nvGrpSpPr>
          <p:cNvPr name="Group 26" id="26"/>
          <p:cNvGrpSpPr/>
          <p:nvPr/>
        </p:nvGrpSpPr>
        <p:grpSpPr>
          <a:xfrm rot="0">
            <a:off x="1407576" y="5885262"/>
            <a:ext cx="6504896" cy="660762"/>
            <a:chOff x="0" y="0"/>
            <a:chExt cx="1580519" cy="160548"/>
          </a:xfrm>
        </p:grpSpPr>
        <p:sp>
          <p:nvSpPr>
            <p:cNvPr name="Freeform 27" id="27"/>
            <p:cNvSpPr/>
            <p:nvPr/>
          </p:nvSpPr>
          <p:spPr>
            <a:xfrm flipH="false" flipV="false" rot="0">
              <a:off x="0" y="0"/>
              <a:ext cx="1580520" cy="160548"/>
            </a:xfrm>
            <a:custGeom>
              <a:avLst/>
              <a:gdLst/>
              <a:ahLst/>
              <a:cxnLst/>
              <a:rect r="r" b="b" t="t" l="l"/>
              <a:pathLst>
                <a:path h="160548" w="1580520">
                  <a:moveTo>
                    <a:pt x="40466" y="0"/>
                  </a:moveTo>
                  <a:lnTo>
                    <a:pt x="1540054" y="0"/>
                  </a:lnTo>
                  <a:cubicBezTo>
                    <a:pt x="1562402" y="0"/>
                    <a:pt x="1580520" y="18117"/>
                    <a:pt x="1580520" y="40466"/>
                  </a:cubicBezTo>
                  <a:lnTo>
                    <a:pt x="1580520" y="120082"/>
                  </a:lnTo>
                  <a:cubicBezTo>
                    <a:pt x="1580520" y="130814"/>
                    <a:pt x="1576256" y="141107"/>
                    <a:pt x="1568667" y="148696"/>
                  </a:cubicBezTo>
                  <a:cubicBezTo>
                    <a:pt x="1561079" y="156285"/>
                    <a:pt x="1550786" y="160548"/>
                    <a:pt x="1540054" y="160548"/>
                  </a:cubicBezTo>
                  <a:lnTo>
                    <a:pt x="40466" y="160548"/>
                  </a:lnTo>
                  <a:cubicBezTo>
                    <a:pt x="18117" y="160548"/>
                    <a:pt x="0" y="142431"/>
                    <a:pt x="0" y="120082"/>
                  </a:cubicBezTo>
                  <a:lnTo>
                    <a:pt x="0" y="40466"/>
                  </a:lnTo>
                  <a:cubicBezTo>
                    <a:pt x="0" y="18117"/>
                    <a:pt x="18117" y="0"/>
                    <a:pt x="40466" y="0"/>
                  </a:cubicBezTo>
                  <a:close/>
                </a:path>
              </a:pathLst>
            </a:custGeom>
            <a:solidFill>
              <a:srgbClr val="F8F6F7">
                <a:alpha val="92941"/>
              </a:srgbClr>
            </a:solidFill>
            <a:ln w="19050" cap="rnd">
              <a:solidFill>
                <a:srgbClr val="163B42">
                  <a:alpha val="92941"/>
                </a:srgbClr>
              </a:solidFill>
              <a:prstDash val="solid"/>
              <a:round/>
            </a:ln>
          </p:spPr>
        </p:sp>
        <p:sp>
          <p:nvSpPr>
            <p:cNvPr name="TextBox 28" id="28"/>
            <p:cNvSpPr txBox="true"/>
            <p:nvPr/>
          </p:nvSpPr>
          <p:spPr>
            <a:xfrm>
              <a:off x="0" y="19050"/>
              <a:ext cx="1580519" cy="141498"/>
            </a:xfrm>
            <a:prstGeom prst="rect">
              <a:avLst/>
            </a:prstGeom>
          </p:spPr>
          <p:txBody>
            <a:bodyPr anchor="ctr" rtlCol="false" tIns="50800" lIns="50800" bIns="50800" rIns="50800"/>
            <a:lstStyle/>
            <a:p>
              <a:pPr algn="ctr" marL="0" indent="0" lvl="0">
                <a:lnSpc>
                  <a:spcPts val="2160"/>
                </a:lnSpc>
                <a:spcBef>
                  <a:spcPct val="0"/>
                </a:spcBef>
              </a:pPr>
              <a:r>
                <a:rPr lang="en-US" b="true" sz="2000" spc="-14">
                  <a:solidFill>
                    <a:srgbClr val="000000">
                      <a:alpha val="92941"/>
                    </a:srgbClr>
                  </a:solidFill>
                  <a:latin typeface="Aileron Bold"/>
                  <a:ea typeface="Aileron Bold"/>
                  <a:cs typeface="Aileron Bold"/>
                  <a:sym typeface="Aileron Bold"/>
                </a:rPr>
                <a:t>Effect of Time Pressure on Choice</a:t>
              </a:r>
            </a:p>
          </p:txBody>
        </p:sp>
      </p:grpSp>
      <p:grpSp>
        <p:nvGrpSpPr>
          <p:cNvPr name="Group 29" id="29"/>
          <p:cNvGrpSpPr/>
          <p:nvPr/>
        </p:nvGrpSpPr>
        <p:grpSpPr>
          <a:xfrm rot="0">
            <a:off x="10417183" y="5028330"/>
            <a:ext cx="6504896" cy="660762"/>
            <a:chOff x="0" y="0"/>
            <a:chExt cx="1580519" cy="160548"/>
          </a:xfrm>
        </p:grpSpPr>
        <p:sp>
          <p:nvSpPr>
            <p:cNvPr name="Freeform 30" id="30"/>
            <p:cNvSpPr/>
            <p:nvPr/>
          </p:nvSpPr>
          <p:spPr>
            <a:xfrm flipH="false" flipV="false" rot="0">
              <a:off x="0" y="0"/>
              <a:ext cx="1580520" cy="160548"/>
            </a:xfrm>
            <a:custGeom>
              <a:avLst/>
              <a:gdLst/>
              <a:ahLst/>
              <a:cxnLst/>
              <a:rect r="r" b="b" t="t" l="l"/>
              <a:pathLst>
                <a:path h="160548" w="1580520">
                  <a:moveTo>
                    <a:pt x="40466" y="0"/>
                  </a:moveTo>
                  <a:lnTo>
                    <a:pt x="1540054" y="0"/>
                  </a:lnTo>
                  <a:cubicBezTo>
                    <a:pt x="1562402" y="0"/>
                    <a:pt x="1580520" y="18117"/>
                    <a:pt x="1580520" y="40466"/>
                  </a:cubicBezTo>
                  <a:lnTo>
                    <a:pt x="1580520" y="120082"/>
                  </a:lnTo>
                  <a:cubicBezTo>
                    <a:pt x="1580520" y="130814"/>
                    <a:pt x="1576256" y="141107"/>
                    <a:pt x="1568667" y="148696"/>
                  </a:cubicBezTo>
                  <a:cubicBezTo>
                    <a:pt x="1561079" y="156285"/>
                    <a:pt x="1550786" y="160548"/>
                    <a:pt x="1540054" y="160548"/>
                  </a:cubicBezTo>
                  <a:lnTo>
                    <a:pt x="40466" y="160548"/>
                  </a:lnTo>
                  <a:cubicBezTo>
                    <a:pt x="18117" y="160548"/>
                    <a:pt x="0" y="142431"/>
                    <a:pt x="0" y="120082"/>
                  </a:cubicBezTo>
                  <a:lnTo>
                    <a:pt x="0" y="40466"/>
                  </a:lnTo>
                  <a:cubicBezTo>
                    <a:pt x="0" y="18117"/>
                    <a:pt x="18117" y="0"/>
                    <a:pt x="40466" y="0"/>
                  </a:cubicBezTo>
                  <a:close/>
                </a:path>
              </a:pathLst>
            </a:custGeom>
            <a:solidFill>
              <a:srgbClr val="F8F6F7">
                <a:alpha val="92941"/>
              </a:srgbClr>
            </a:solidFill>
            <a:ln w="19050" cap="rnd">
              <a:solidFill>
                <a:srgbClr val="163B42">
                  <a:alpha val="92941"/>
                </a:srgbClr>
              </a:solidFill>
              <a:prstDash val="solid"/>
              <a:round/>
            </a:ln>
          </p:spPr>
        </p:sp>
        <p:sp>
          <p:nvSpPr>
            <p:cNvPr name="TextBox 31" id="31"/>
            <p:cNvSpPr txBox="true"/>
            <p:nvPr/>
          </p:nvSpPr>
          <p:spPr>
            <a:xfrm>
              <a:off x="0" y="19050"/>
              <a:ext cx="1580519" cy="141498"/>
            </a:xfrm>
            <a:prstGeom prst="rect">
              <a:avLst/>
            </a:prstGeom>
          </p:spPr>
          <p:txBody>
            <a:bodyPr anchor="ctr" rtlCol="false" tIns="50800" lIns="50800" bIns="50800" rIns="50800"/>
            <a:lstStyle/>
            <a:p>
              <a:pPr algn="ctr" marL="0" indent="0" lvl="0">
                <a:lnSpc>
                  <a:spcPts val="2160"/>
                </a:lnSpc>
                <a:spcBef>
                  <a:spcPct val="0"/>
                </a:spcBef>
              </a:pPr>
              <a:r>
                <a:rPr lang="en-US" b="true" sz="2000" spc="-14">
                  <a:solidFill>
                    <a:srgbClr val="000000">
                      <a:alpha val="92941"/>
                    </a:srgbClr>
                  </a:solidFill>
                  <a:latin typeface="Aileron Bold"/>
                  <a:ea typeface="Aileron Bold"/>
                  <a:cs typeface="Aileron Bold"/>
                  <a:sym typeface="Aileron Bold"/>
                </a:rPr>
                <a:t>Response Time vs. Reward Ratio</a:t>
              </a:r>
            </a:p>
          </p:txBody>
        </p:sp>
      </p:grpSp>
      <p:sp>
        <p:nvSpPr>
          <p:cNvPr name="Freeform 32" id="32"/>
          <p:cNvSpPr/>
          <p:nvPr/>
        </p:nvSpPr>
        <p:spPr>
          <a:xfrm flipH="false" flipV="false" rot="0">
            <a:off x="10543364" y="1078498"/>
            <a:ext cx="5977926" cy="2711519"/>
          </a:xfrm>
          <a:custGeom>
            <a:avLst/>
            <a:gdLst/>
            <a:ahLst/>
            <a:cxnLst/>
            <a:rect r="r" b="b" t="t" l="l"/>
            <a:pathLst>
              <a:path h="2711519" w="5977926">
                <a:moveTo>
                  <a:pt x="0" y="0"/>
                </a:moveTo>
                <a:lnTo>
                  <a:pt x="5977926" y="0"/>
                </a:lnTo>
                <a:lnTo>
                  <a:pt x="5977926" y="2711518"/>
                </a:lnTo>
                <a:lnTo>
                  <a:pt x="0" y="2711518"/>
                </a:lnTo>
                <a:lnTo>
                  <a:pt x="0" y="0"/>
                </a:lnTo>
                <a:close/>
              </a:path>
            </a:pathLst>
          </a:custGeom>
          <a:blipFill>
            <a:blip r:embed="rId2"/>
            <a:stretch>
              <a:fillRect l="-3838" t="0" r="-3838" b="0"/>
            </a:stretch>
          </a:blipFill>
          <a:ln w="19050" cap="sq">
            <a:solidFill>
              <a:srgbClr val="000000"/>
            </a:solidFill>
            <a:prstDash val="solid"/>
            <a:miter/>
          </a:ln>
        </p:spPr>
      </p:sp>
      <p:sp>
        <p:nvSpPr>
          <p:cNvPr name="Freeform 33" id="33"/>
          <p:cNvSpPr/>
          <p:nvPr/>
        </p:nvSpPr>
        <p:spPr>
          <a:xfrm flipH="false" flipV="false" rot="0">
            <a:off x="802768" y="2359847"/>
            <a:ext cx="4376590" cy="3104339"/>
          </a:xfrm>
          <a:custGeom>
            <a:avLst/>
            <a:gdLst/>
            <a:ahLst/>
            <a:cxnLst/>
            <a:rect r="r" b="b" t="t" l="l"/>
            <a:pathLst>
              <a:path h="3104339" w="4376590">
                <a:moveTo>
                  <a:pt x="0" y="0"/>
                </a:moveTo>
                <a:lnTo>
                  <a:pt x="4376590" y="0"/>
                </a:lnTo>
                <a:lnTo>
                  <a:pt x="4376590" y="3104340"/>
                </a:lnTo>
                <a:lnTo>
                  <a:pt x="0" y="3104340"/>
                </a:lnTo>
                <a:lnTo>
                  <a:pt x="0" y="0"/>
                </a:lnTo>
                <a:close/>
              </a:path>
            </a:pathLst>
          </a:custGeom>
          <a:blipFill>
            <a:blip r:embed="rId3"/>
            <a:stretch>
              <a:fillRect l="-2953" t="-5155" r="-5536" b="0"/>
            </a:stretch>
          </a:blipFill>
          <a:ln w="19050" cap="sq">
            <a:solidFill>
              <a:srgbClr val="000000"/>
            </a:solidFill>
            <a:prstDash val="solid"/>
            <a:miter/>
          </a:ln>
        </p:spPr>
      </p:sp>
      <p:sp>
        <p:nvSpPr>
          <p:cNvPr name="Freeform 34" id="34"/>
          <p:cNvSpPr/>
          <p:nvPr/>
        </p:nvSpPr>
        <p:spPr>
          <a:xfrm flipH="false" flipV="false" rot="0">
            <a:off x="623530" y="6742194"/>
            <a:ext cx="5064056" cy="2574354"/>
          </a:xfrm>
          <a:custGeom>
            <a:avLst/>
            <a:gdLst/>
            <a:ahLst/>
            <a:cxnLst/>
            <a:rect r="r" b="b" t="t" l="l"/>
            <a:pathLst>
              <a:path h="2574354" w="5064056">
                <a:moveTo>
                  <a:pt x="0" y="0"/>
                </a:moveTo>
                <a:lnTo>
                  <a:pt x="5064056" y="0"/>
                </a:lnTo>
                <a:lnTo>
                  <a:pt x="5064056" y="2574354"/>
                </a:lnTo>
                <a:lnTo>
                  <a:pt x="0" y="2574354"/>
                </a:lnTo>
                <a:lnTo>
                  <a:pt x="0" y="0"/>
                </a:lnTo>
                <a:close/>
              </a:path>
            </a:pathLst>
          </a:custGeom>
          <a:blipFill>
            <a:blip r:embed="rId4"/>
            <a:stretch>
              <a:fillRect l="-6641" t="0" r="-6641" b="0"/>
            </a:stretch>
          </a:blipFill>
          <a:ln w="19050" cap="sq">
            <a:solidFill>
              <a:srgbClr val="000000"/>
            </a:solidFill>
            <a:prstDash val="solid"/>
            <a:miter/>
          </a:ln>
        </p:spPr>
      </p:sp>
      <p:sp>
        <p:nvSpPr>
          <p:cNvPr name="Freeform 35" id="35"/>
          <p:cNvSpPr/>
          <p:nvPr/>
        </p:nvSpPr>
        <p:spPr>
          <a:xfrm flipH="false" flipV="false" rot="0">
            <a:off x="10780018" y="5822014"/>
            <a:ext cx="2889613" cy="2859035"/>
          </a:xfrm>
          <a:custGeom>
            <a:avLst/>
            <a:gdLst/>
            <a:ahLst/>
            <a:cxnLst/>
            <a:rect r="r" b="b" t="t" l="l"/>
            <a:pathLst>
              <a:path h="2859035" w="2889613">
                <a:moveTo>
                  <a:pt x="0" y="0"/>
                </a:moveTo>
                <a:lnTo>
                  <a:pt x="2889613" y="0"/>
                </a:lnTo>
                <a:lnTo>
                  <a:pt x="2889613" y="2859035"/>
                </a:lnTo>
                <a:lnTo>
                  <a:pt x="0" y="2859035"/>
                </a:lnTo>
                <a:lnTo>
                  <a:pt x="0" y="0"/>
                </a:lnTo>
                <a:close/>
              </a:path>
            </a:pathLst>
          </a:custGeom>
          <a:blipFill>
            <a:blip r:embed="rId5"/>
            <a:stretch>
              <a:fillRect l="0" t="0" r="0" b="0"/>
            </a:stretch>
          </a:blipFill>
          <a:ln w="19050" cap="sq">
            <a:solidFill>
              <a:srgbClr val="000000"/>
            </a:solidFill>
            <a:prstDash val="solid"/>
            <a:miter/>
          </a:ln>
        </p:spPr>
      </p:sp>
      <p:sp>
        <p:nvSpPr>
          <p:cNvPr name="Freeform 36" id="36"/>
          <p:cNvSpPr/>
          <p:nvPr/>
        </p:nvSpPr>
        <p:spPr>
          <a:xfrm flipH="false" flipV="false" rot="0">
            <a:off x="13816071" y="5803679"/>
            <a:ext cx="3106008" cy="2895705"/>
          </a:xfrm>
          <a:custGeom>
            <a:avLst/>
            <a:gdLst/>
            <a:ahLst/>
            <a:cxnLst/>
            <a:rect r="r" b="b" t="t" l="l"/>
            <a:pathLst>
              <a:path h="2895705" w="3106008">
                <a:moveTo>
                  <a:pt x="0" y="0"/>
                </a:moveTo>
                <a:lnTo>
                  <a:pt x="3106008" y="0"/>
                </a:lnTo>
                <a:lnTo>
                  <a:pt x="3106008" y="2895705"/>
                </a:lnTo>
                <a:lnTo>
                  <a:pt x="0" y="2895705"/>
                </a:lnTo>
                <a:lnTo>
                  <a:pt x="0" y="0"/>
                </a:lnTo>
                <a:close/>
              </a:path>
            </a:pathLst>
          </a:custGeom>
          <a:blipFill>
            <a:blip r:embed="rId6"/>
            <a:stretch>
              <a:fillRect l="0" t="0" r="0" b="0"/>
            </a:stretch>
          </a:blipFill>
          <a:ln w="19050" cap="sq">
            <a:solidFill>
              <a:srgbClr val="000000"/>
            </a:solidFill>
            <a:prstDash val="solid"/>
            <a:miter/>
          </a:ln>
        </p:spPr>
      </p:sp>
      <p:sp>
        <p:nvSpPr>
          <p:cNvPr name="TextBox 37" id="37"/>
          <p:cNvSpPr txBox="true"/>
          <p:nvPr/>
        </p:nvSpPr>
        <p:spPr>
          <a:xfrm rot="0">
            <a:off x="1028700" y="366538"/>
            <a:ext cx="10432690" cy="1051561"/>
          </a:xfrm>
          <a:prstGeom prst="rect">
            <a:avLst/>
          </a:prstGeom>
        </p:spPr>
        <p:txBody>
          <a:bodyPr anchor="t" rtlCol="false" tIns="0" lIns="0" bIns="0" rIns="0">
            <a:spAutoFit/>
          </a:bodyPr>
          <a:lstStyle/>
          <a:p>
            <a:pPr algn="l">
              <a:lnSpc>
                <a:spcPts val="7920"/>
              </a:lnSpc>
            </a:pPr>
            <a:r>
              <a:rPr lang="en-US" sz="8000" spc="-752" b="true">
                <a:solidFill>
                  <a:srgbClr val="163B42"/>
                </a:solidFill>
                <a:latin typeface="Canva Sans Bold"/>
                <a:ea typeface="Canva Sans Bold"/>
                <a:cs typeface="Canva Sans Bold"/>
                <a:sym typeface="Canva Sans Bold"/>
              </a:rPr>
              <a:t>EDA Snapshot</a:t>
            </a:r>
          </a:p>
        </p:txBody>
      </p:sp>
      <p:sp>
        <p:nvSpPr>
          <p:cNvPr name="TextBox 38" id="38"/>
          <p:cNvSpPr txBox="true"/>
          <p:nvPr/>
        </p:nvSpPr>
        <p:spPr>
          <a:xfrm rot="0">
            <a:off x="5436533" y="2951160"/>
            <a:ext cx="3152067" cy="1831632"/>
          </a:xfrm>
          <a:prstGeom prst="rect">
            <a:avLst/>
          </a:prstGeom>
        </p:spPr>
        <p:txBody>
          <a:bodyPr anchor="t" rtlCol="false" tIns="0" lIns="0" bIns="0" rIns="0">
            <a:spAutoFit/>
          </a:bodyPr>
          <a:lstStyle/>
          <a:p>
            <a:pPr algn="l" marL="397850" indent="-198925" lvl="1">
              <a:lnSpc>
                <a:spcPts val="2414"/>
              </a:lnSpc>
              <a:buFont typeface="Arial"/>
              <a:buChar char="•"/>
            </a:pPr>
            <a:r>
              <a:rPr lang="en-US" sz="1842" spc="-12">
                <a:solidFill>
                  <a:srgbClr val="FFFFFF"/>
                </a:solidFill>
                <a:latin typeface="Aileron"/>
                <a:ea typeface="Aileron"/>
                <a:cs typeface="Aileron"/>
                <a:sym typeface="Aileron"/>
              </a:rPr>
              <a:t>Peopl</a:t>
            </a:r>
            <a:r>
              <a:rPr lang="en-US" sz="1842" spc="-12">
                <a:solidFill>
                  <a:srgbClr val="FFFFFF"/>
                </a:solidFill>
                <a:latin typeface="Aileron"/>
                <a:ea typeface="Aileron"/>
                <a:cs typeface="Aileron"/>
                <a:sym typeface="Aileron"/>
              </a:rPr>
              <a:t>e choose  LL when:</a:t>
            </a:r>
          </a:p>
          <a:p>
            <a:pPr algn="l" marL="397850" indent="-198925" lvl="1">
              <a:lnSpc>
                <a:spcPts val="2414"/>
              </a:lnSpc>
              <a:buFont typeface="Arial"/>
              <a:buChar char="•"/>
            </a:pPr>
            <a:r>
              <a:rPr lang="en-US" sz="1842" spc="-12">
                <a:solidFill>
                  <a:srgbClr val="FFFFFF"/>
                </a:solidFill>
                <a:latin typeface="Aileron"/>
                <a:ea typeface="Aileron"/>
                <a:cs typeface="Aileron"/>
                <a:sym typeface="Aileron"/>
              </a:rPr>
              <a:t>the bigger‑later option offers a better deal</a:t>
            </a:r>
          </a:p>
          <a:p>
            <a:pPr algn="l" marL="397850" indent="-198925" lvl="1">
              <a:lnSpc>
                <a:spcPts val="2414"/>
              </a:lnSpc>
              <a:buFont typeface="Arial"/>
              <a:buChar char="•"/>
            </a:pPr>
            <a:r>
              <a:rPr lang="en-US" sz="1842" spc="-12">
                <a:solidFill>
                  <a:srgbClr val="FFFFFF"/>
                </a:solidFill>
                <a:latin typeface="Aileron"/>
                <a:ea typeface="Aileron"/>
                <a:cs typeface="Aileron"/>
                <a:sym typeface="Aileron"/>
              </a:rPr>
              <a:t>higher reward ratios associated with more patient choices.</a:t>
            </a:r>
          </a:p>
        </p:txBody>
      </p:sp>
      <p:sp>
        <p:nvSpPr>
          <p:cNvPr name="TextBox 39" id="39"/>
          <p:cNvSpPr txBox="true"/>
          <p:nvPr/>
        </p:nvSpPr>
        <p:spPr>
          <a:xfrm rot="0">
            <a:off x="5802711" y="6717474"/>
            <a:ext cx="2985814" cy="2746032"/>
          </a:xfrm>
          <a:prstGeom prst="rect">
            <a:avLst/>
          </a:prstGeom>
        </p:spPr>
        <p:txBody>
          <a:bodyPr anchor="t" rtlCol="false" tIns="0" lIns="0" bIns="0" rIns="0">
            <a:spAutoFit/>
          </a:bodyPr>
          <a:lstStyle/>
          <a:p>
            <a:pPr algn="l" marL="397850" indent="-198925" lvl="1">
              <a:lnSpc>
                <a:spcPts val="2414"/>
              </a:lnSpc>
              <a:buFont typeface="Arial"/>
              <a:buChar char="•"/>
            </a:pPr>
            <a:r>
              <a:rPr lang="en-US" sz="1842" spc="-12">
                <a:solidFill>
                  <a:srgbClr val="FFFFFF"/>
                </a:solidFill>
                <a:latin typeface="Aileron"/>
                <a:ea typeface="Aileron"/>
                <a:cs typeface="Aileron"/>
                <a:sym typeface="Aileron"/>
              </a:rPr>
              <a:t>Time pressure makes peopl</a:t>
            </a:r>
            <a:r>
              <a:rPr lang="en-US" sz="1842" spc="-12">
                <a:solidFill>
                  <a:srgbClr val="FFFFFF"/>
                </a:solidFill>
                <a:latin typeface="Aileron"/>
                <a:ea typeface="Aileron"/>
                <a:cs typeface="Aileron"/>
                <a:sym typeface="Aileron"/>
              </a:rPr>
              <a:t>e decide much faster</a:t>
            </a:r>
          </a:p>
          <a:p>
            <a:pPr algn="l" marL="397850" indent="-198925" lvl="1">
              <a:lnSpc>
                <a:spcPts val="2414"/>
              </a:lnSpc>
              <a:buFont typeface="Arial"/>
              <a:buChar char="•"/>
            </a:pPr>
            <a:r>
              <a:rPr lang="en-US" sz="1842" spc="-12">
                <a:solidFill>
                  <a:srgbClr val="FFFFFF"/>
                </a:solidFill>
                <a:latin typeface="Aileron"/>
                <a:ea typeface="Aileron"/>
                <a:cs typeface="Aileron"/>
                <a:sym typeface="Aileron"/>
              </a:rPr>
              <a:t>but it barely changes what they choose </a:t>
            </a:r>
          </a:p>
          <a:p>
            <a:pPr algn="l" marL="397850" indent="-198925" lvl="1">
              <a:lnSpc>
                <a:spcPts val="2414"/>
              </a:lnSpc>
              <a:buFont typeface="Arial"/>
              <a:buChar char="•"/>
            </a:pPr>
            <a:r>
              <a:rPr lang="en-US" sz="1842" spc="-12">
                <a:solidFill>
                  <a:srgbClr val="FFFFFF"/>
                </a:solidFill>
                <a:latin typeface="Aileron"/>
                <a:ea typeface="Aileron"/>
                <a:cs typeface="Aileron"/>
                <a:sym typeface="Aileron"/>
              </a:rPr>
              <a:t>response times drop sharply under pressure, while LL choice rates remain almost identical.</a:t>
            </a:r>
          </a:p>
        </p:txBody>
      </p:sp>
      <p:sp>
        <p:nvSpPr>
          <p:cNvPr name="TextBox 40" id="40"/>
          <p:cNvSpPr txBox="true"/>
          <p:nvPr/>
        </p:nvSpPr>
        <p:spPr>
          <a:xfrm rot="0">
            <a:off x="9949454" y="8785397"/>
            <a:ext cx="7485238" cy="917232"/>
          </a:xfrm>
          <a:prstGeom prst="rect">
            <a:avLst/>
          </a:prstGeom>
        </p:spPr>
        <p:txBody>
          <a:bodyPr anchor="t" rtlCol="false" tIns="0" lIns="0" bIns="0" rIns="0">
            <a:spAutoFit/>
          </a:bodyPr>
          <a:lstStyle/>
          <a:p>
            <a:pPr algn="l" marL="397850" indent="-198925" lvl="1">
              <a:lnSpc>
                <a:spcPts val="2414"/>
              </a:lnSpc>
              <a:buFont typeface="Arial"/>
              <a:buChar char="•"/>
            </a:pPr>
            <a:r>
              <a:rPr lang="en-US" sz="1842" spc="-12">
                <a:solidFill>
                  <a:srgbClr val="FFFFFF"/>
                </a:solidFill>
                <a:latin typeface="Aileron"/>
                <a:ea typeface="Aileron"/>
                <a:cs typeface="Aileron"/>
                <a:sym typeface="Aileron"/>
              </a:rPr>
              <a:t>Response tim</a:t>
            </a:r>
            <a:r>
              <a:rPr lang="en-US" sz="1842" spc="-12">
                <a:solidFill>
                  <a:srgbClr val="FFFFFF"/>
                </a:solidFill>
                <a:latin typeface="Aileron"/>
                <a:ea typeface="Aileron"/>
                <a:cs typeface="Aileron"/>
                <a:sym typeface="Aileron"/>
              </a:rPr>
              <a:t>e barely changes as the reward ratio increases — people don’t take longer to decide even when the larger‑later option becomes a much better deal.</a:t>
            </a:r>
          </a:p>
        </p:txBody>
      </p:sp>
      <p:sp>
        <p:nvSpPr>
          <p:cNvPr name="TextBox 41" id="41"/>
          <p:cNvSpPr txBox="true"/>
          <p:nvPr/>
        </p:nvSpPr>
        <p:spPr>
          <a:xfrm rot="0">
            <a:off x="9756332" y="3963489"/>
            <a:ext cx="7826597" cy="861808"/>
          </a:xfrm>
          <a:prstGeom prst="rect">
            <a:avLst/>
          </a:prstGeom>
        </p:spPr>
        <p:txBody>
          <a:bodyPr anchor="t" rtlCol="false" tIns="0" lIns="0" bIns="0" rIns="0">
            <a:spAutoFit/>
          </a:bodyPr>
          <a:lstStyle/>
          <a:p>
            <a:pPr algn="l" marL="371171" indent="-185585" lvl="1">
              <a:lnSpc>
                <a:spcPts val="2252"/>
              </a:lnSpc>
              <a:buFont typeface="Arial"/>
              <a:buChar char="•"/>
            </a:pPr>
            <a:r>
              <a:rPr lang="en-US" sz="1719" spc="-12">
                <a:solidFill>
                  <a:srgbClr val="FFFFFF"/>
                </a:solidFill>
                <a:latin typeface="Aileron"/>
                <a:ea typeface="Aileron"/>
                <a:cs typeface="Aileron"/>
                <a:sym typeface="Aileron"/>
              </a:rPr>
              <a:t>The soon</a:t>
            </a:r>
            <a:r>
              <a:rPr lang="en-US" sz="1719" spc="-12">
                <a:solidFill>
                  <a:srgbClr val="FFFFFF"/>
                </a:solidFill>
                <a:latin typeface="Aileron"/>
                <a:ea typeface="Aileron"/>
                <a:cs typeface="Aileron"/>
                <a:sym typeface="Aileron"/>
              </a:rPr>
              <a:t>er option is almost always available immediately, while the later option requires waiting from weeks to years — highlighting the stark difference in delay between the two choices.</a:t>
            </a:r>
          </a:p>
        </p:txBody>
      </p:sp>
      <p:sp>
        <p:nvSpPr>
          <p:cNvPr name="TextBox 42" id="4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8975831" y="-861914"/>
            <a:ext cx="10768546" cy="10768546"/>
          </a:xfrm>
          <a:custGeom>
            <a:avLst/>
            <a:gdLst/>
            <a:ahLst/>
            <a:cxnLst/>
            <a:rect r="r" b="b" t="t" l="l"/>
            <a:pathLst>
              <a:path h="10768546" w="10768546">
                <a:moveTo>
                  <a:pt x="0" y="0"/>
                </a:moveTo>
                <a:lnTo>
                  <a:pt x="10768546" y="0"/>
                </a:lnTo>
                <a:lnTo>
                  <a:pt x="10768546" y="10768546"/>
                </a:lnTo>
                <a:lnTo>
                  <a:pt x="0" y="1076854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6661901" y="-2841859"/>
            <a:ext cx="6332329" cy="6332329"/>
          </a:xfrm>
          <a:custGeom>
            <a:avLst/>
            <a:gdLst/>
            <a:ahLst/>
            <a:cxnLst/>
            <a:rect r="r" b="b" t="t" l="l"/>
            <a:pathLst>
              <a:path h="6332329" w="6332329">
                <a:moveTo>
                  <a:pt x="0" y="0"/>
                </a:moveTo>
                <a:lnTo>
                  <a:pt x="6332330" y="0"/>
                </a:lnTo>
                <a:lnTo>
                  <a:pt x="6332330" y="6332330"/>
                </a:lnTo>
                <a:lnTo>
                  <a:pt x="0" y="6332330"/>
                </a:lnTo>
                <a:lnTo>
                  <a:pt x="0" y="0"/>
                </a:lnTo>
                <a:close/>
              </a:path>
            </a:pathLst>
          </a:custGeom>
          <a:blipFill>
            <a:blip r:embed="rId3">
              <a:alphaModFix amt="12000"/>
            </a:blip>
            <a:stretch>
              <a:fillRect l="0" t="0" r="0" b="0"/>
            </a:stretch>
          </a:blipFill>
        </p:spPr>
      </p:sp>
      <p:sp>
        <p:nvSpPr>
          <p:cNvPr name="TextBox 5" id="5"/>
          <p:cNvSpPr txBox="true"/>
          <p:nvPr/>
        </p:nvSpPr>
        <p:spPr>
          <a:xfrm rot="0">
            <a:off x="924421" y="1013634"/>
            <a:ext cx="8255423" cy="1039379"/>
          </a:xfrm>
          <a:prstGeom prst="rect">
            <a:avLst/>
          </a:prstGeom>
        </p:spPr>
        <p:txBody>
          <a:bodyPr anchor="t" rtlCol="false" tIns="0" lIns="0" bIns="0" rIns="0">
            <a:spAutoFit/>
          </a:bodyPr>
          <a:lstStyle/>
          <a:p>
            <a:pPr algn="l">
              <a:lnSpc>
                <a:spcPts val="7821"/>
              </a:lnSpc>
            </a:pPr>
            <a:r>
              <a:rPr lang="en-US" sz="7900" spc="-742" b="true">
                <a:solidFill>
                  <a:srgbClr val="FFFFFF"/>
                </a:solidFill>
                <a:latin typeface="Canva Sans Bold"/>
                <a:ea typeface="Canva Sans Bold"/>
                <a:cs typeface="Canva Sans Bold"/>
                <a:sym typeface="Canva Sans Bold"/>
              </a:rPr>
              <a:t>3 model , 1 target</a:t>
            </a:r>
          </a:p>
        </p:txBody>
      </p:sp>
      <p:sp>
        <p:nvSpPr>
          <p:cNvPr name="TextBox 6" id="6"/>
          <p:cNvSpPr txBox="true"/>
          <p:nvPr/>
        </p:nvSpPr>
        <p:spPr>
          <a:xfrm rot="0">
            <a:off x="1028700" y="2184974"/>
            <a:ext cx="16512622" cy="290449"/>
          </a:xfrm>
          <a:prstGeom prst="rect">
            <a:avLst/>
          </a:prstGeom>
        </p:spPr>
        <p:txBody>
          <a:bodyPr anchor="t" rtlCol="false" tIns="0" lIns="0" bIns="0" rIns="0">
            <a:spAutoFit/>
          </a:bodyPr>
          <a:lstStyle/>
          <a:p>
            <a:pPr algn="l">
              <a:lnSpc>
                <a:spcPts val="2317"/>
              </a:lnSpc>
            </a:pPr>
            <a:r>
              <a:rPr lang="en-US" sz="1899" spc="-39">
                <a:solidFill>
                  <a:srgbClr val="FFFFFF"/>
                </a:solidFill>
                <a:latin typeface="Aileron Light"/>
                <a:ea typeface="Aileron Light"/>
                <a:cs typeface="Aileron Light"/>
                <a:sym typeface="Aileron Light"/>
              </a:rPr>
              <a:t>Target variable: did the user choose the immediate reward? (binary 0/1). Each model was chosen to answer a different question about the same prediction problem.</a:t>
            </a:r>
          </a:p>
        </p:txBody>
      </p:sp>
      <p:grpSp>
        <p:nvGrpSpPr>
          <p:cNvPr name="Group 7" id="7"/>
          <p:cNvGrpSpPr/>
          <p:nvPr/>
        </p:nvGrpSpPr>
        <p:grpSpPr>
          <a:xfrm rot="0">
            <a:off x="924421" y="3076100"/>
            <a:ext cx="5203689" cy="6333012"/>
            <a:chOff x="0" y="0"/>
            <a:chExt cx="1370519" cy="1667954"/>
          </a:xfrm>
        </p:grpSpPr>
        <p:sp>
          <p:nvSpPr>
            <p:cNvPr name="Freeform 8" id="8"/>
            <p:cNvSpPr/>
            <p:nvPr/>
          </p:nvSpPr>
          <p:spPr>
            <a:xfrm flipH="false" flipV="false" rot="0">
              <a:off x="0" y="0"/>
              <a:ext cx="1370519" cy="1667954"/>
            </a:xfrm>
            <a:custGeom>
              <a:avLst/>
              <a:gdLst/>
              <a:ahLst/>
              <a:cxnLst/>
              <a:rect r="r" b="b" t="t" l="l"/>
              <a:pathLst>
                <a:path h="1667954" w="1370519">
                  <a:moveTo>
                    <a:pt x="52072" y="0"/>
                  </a:moveTo>
                  <a:lnTo>
                    <a:pt x="1318447" y="0"/>
                  </a:lnTo>
                  <a:cubicBezTo>
                    <a:pt x="1347206" y="0"/>
                    <a:pt x="1370519" y="23313"/>
                    <a:pt x="1370519" y="52072"/>
                  </a:cubicBezTo>
                  <a:lnTo>
                    <a:pt x="1370519" y="1615882"/>
                  </a:lnTo>
                  <a:cubicBezTo>
                    <a:pt x="1370519" y="1629692"/>
                    <a:pt x="1365033" y="1642937"/>
                    <a:pt x="1355267" y="1652702"/>
                  </a:cubicBezTo>
                  <a:cubicBezTo>
                    <a:pt x="1345502" y="1662468"/>
                    <a:pt x="1332257" y="1667954"/>
                    <a:pt x="1318447" y="1667954"/>
                  </a:cubicBezTo>
                  <a:lnTo>
                    <a:pt x="52072" y="1667954"/>
                  </a:lnTo>
                  <a:cubicBezTo>
                    <a:pt x="23313" y="1667954"/>
                    <a:pt x="0" y="1644640"/>
                    <a:pt x="0" y="1615882"/>
                  </a:cubicBezTo>
                  <a:lnTo>
                    <a:pt x="0" y="52072"/>
                  </a:lnTo>
                  <a:cubicBezTo>
                    <a:pt x="0" y="38262"/>
                    <a:pt x="5486" y="25017"/>
                    <a:pt x="15252" y="15252"/>
                  </a:cubicBezTo>
                  <a:cubicBezTo>
                    <a:pt x="25017" y="5486"/>
                    <a:pt x="38262" y="0"/>
                    <a:pt x="52072" y="0"/>
                  </a:cubicBezTo>
                  <a:close/>
                </a:path>
              </a:pathLst>
            </a:custGeom>
            <a:solidFill>
              <a:srgbClr val="FFFFFF"/>
            </a:solidFill>
            <a:ln w="123825" cap="rnd">
              <a:solidFill>
                <a:srgbClr val="8CB491"/>
              </a:solidFill>
              <a:prstDash val="solid"/>
              <a:round/>
            </a:ln>
          </p:spPr>
        </p:sp>
        <p:sp>
          <p:nvSpPr>
            <p:cNvPr name="TextBox 9" id="9"/>
            <p:cNvSpPr txBox="true"/>
            <p:nvPr/>
          </p:nvSpPr>
          <p:spPr>
            <a:xfrm>
              <a:off x="0" y="85725"/>
              <a:ext cx="1370519" cy="1582229"/>
            </a:xfrm>
            <a:prstGeom prst="rect">
              <a:avLst/>
            </a:prstGeom>
          </p:spPr>
          <p:txBody>
            <a:bodyPr anchor="ctr" rtlCol="false" tIns="50800" lIns="50800" bIns="50800" rIns="50800"/>
            <a:lstStyle/>
            <a:p>
              <a:pPr algn="ctr">
                <a:lnSpc>
                  <a:spcPts val="2218"/>
                </a:lnSpc>
              </a:pPr>
            </a:p>
          </p:txBody>
        </p:sp>
      </p:grpSp>
      <p:grpSp>
        <p:nvGrpSpPr>
          <p:cNvPr name="Group 10" id="10"/>
          <p:cNvGrpSpPr/>
          <p:nvPr/>
        </p:nvGrpSpPr>
        <p:grpSpPr>
          <a:xfrm rot="0">
            <a:off x="6578887" y="3076100"/>
            <a:ext cx="5203689" cy="6333012"/>
            <a:chOff x="0" y="0"/>
            <a:chExt cx="1370519" cy="1667954"/>
          </a:xfrm>
        </p:grpSpPr>
        <p:sp>
          <p:nvSpPr>
            <p:cNvPr name="Freeform 11" id="11"/>
            <p:cNvSpPr/>
            <p:nvPr/>
          </p:nvSpPr>
          <p:spPr>
            <a:xfrm flipH="false" flipV="false" rot="0">
              <a:off x="0" y="0"/>
              <a:ext cx="1370519" cy="1667954"/>
            </a:xfrm>
            <a:custGeom>
              <a:avLst/>
              <a:gdLst/>
              <a:ahLst/>
              <a:cxnLst/>
              <a:rect r="r" b="b" t="t" l="l"/>
              <a:pathLst>
                <a:path h="1667954" w="1370519">
                  <a:moveTo>
                    <a:pt x="52072" y="0"/>
                  </a:moveTo>
                  <a:lnTo>
                    <a:pt x="1318447" y="0"/>
                  </a:lnTo>
                  <a:cubicBezTo>
                    <a:pt x="1347206" y="0"/>
                    <a:pt x="1370519" y="23313"/>
                    <a:pt x="1370519" y="52072"/>
                  </a:cubicBezTo>
                  <a:lnTo>
                    <a:pt x="1370519" y="1615882"/>
                  </a:lnTo>
                  <a:cubicBezTo>
                    <a:pt x="1370519" y="1629692"/>
                    <a:pt x="1365033" y="1642937"/>
                    <a:pt x="1355267" y="1652702"/>
                  </a:cubicBezTo>
                  <a:cubicBezTo>
                    <a:pt x="1345502" y="1662468"/>
                    <a:pt x="1332257" y="1667954"/>
                    <a:pt x="1318447" y="1667954"/>
                  </a:cubicBezTo>
                  <a:lnTo>
                    <a:pt x="52072" y="1667954"/>
                  </a:lnTo>
                  <a:cubicBezTo>
                    <a:pt x="23313" y="1667954"/>
                    <a:pt x="0" y="1644640"/>
                    <a:pt x="0" y="1615882"/>
                  </a:cubicBezTo>
                  <a:lnTo>
                    <a:pt x="0" y="52072"/>
                  </a:lnTo>
                  <a:cubicBezTo>
                    <a:pt x="0" y="38262"/>
                    <a:pt x="5486" y="25017"/>
                    <a:pt x="15252" y="15252"/>
                  </a:cubicBezTo>
                  <a:cubicBezTo>
                    <a:pt x="25017" y="5486"/>
                    <a:pt x="38262" y="0"/>
                    <a:pt x="52072" y="0"/>
                  </a:cubicBezTo>
                  <a:close/>
                </a:path>
              </a:pathLst>
            </a:custGeom>
            <a:solidFill>
              <a:srgbClr val="FFFFFF"/>
            </a:solidFill>
            <a:ln w="123825" cap="rnd">
              <a:solidFill>
                <a:srgbClr val="163B42"/>
              </a:solidFill>
              <a:prstDash val="solid"/>
              <a:round/>
            </a:ln>
          </p:spPr>
        </p:sp>
        <p:sp>
          <p:nvSpPr>
            <p:cNvPr name="TextBox 12" id="12"/>
            <p:cNvSpPr txBox="true"/>
            <p:nvPr/>
          </p:nvSpPr>
          <p:spPr>
            <a:xfrm>
              <a:off x="0" y="85725"/>
              <a:ext cx="1370519" cy="1582229"/>
            </a:xfrm>
            <a:prstGeom prst="rect">
              <a:avLst/>
            </a:prstGeom>
          </p:spPr>
          <p:txBody>
            <a:bodyPr anchor="ctr" rtlCol="false" tIns="50800" lIns="50800" bIns="50800" rIns="50800"/>
            <a:lstStyle/>
            <a:p>
              <a:pPr algn="ctr">
                <a:lnSpc>
                  <a:spcPts val="2218"/>
                </a:lnSpc>
              </a:pPr>
            </a:p>
          </p:txBody>
        </p:sp>
      </p:grpSp>
      <p:grpSp>
        <p:nvGrpSpPr>
          <p:cNvPr name="Group 13" id="13"/>
          <p:cNvGrpSpPr/>
          <p:nvPr/>
        </p:nvGrpSpPr>
        <p:grpSpPr>
          <a:xfrm rot="0">
            <a:off x="12233353" y="3076100"/>
            <a:ext cx="5203689" cy="6333012"/>
            <a:chOff x="0" y="0"/>
            <a:chExt cx="1370519" cy="1667954"/>
          </a:xfrm>
        </p:grpSpPr>
        <p:sp>
          <p:nvSpPr>
            <p:cNvPr name="Freeform 14" id="14"/>
            <p:cNvSpPr/>
            <p:nvPr/>
          </p:nvSpPr>
          <p:spPr>
            <a:xfrm flipH="false" flipV="false" rot="0">
              <a:off x="0" y="0"/>
              <a:ext cx="1370519" cy="1667954"/>
            </a:xfrm>
            <a:custGeom>
              <a:avLst/>
              <a:gdLst/>
              <a:ahLst/>
              <a:cxnLst/>
              <a:rect r="r" b="b" t="t" l="l"/>
              <a:pathLst>
                <a:path h="1667954" w="1370519">
                  <a:moveTo>
                    <a:pt x="52072" y="0"/>
                  </a:moveTo>
                  <a:lnTo>
                    <a:pt x="1318447" y="0"/>
                  </a:lnTo>
                  <a:cubicBezTo>
                    <a:pt x="1347206" y="0"/>
                    <a:pt x="1370519" y="23313"/>
                    <a:pt x="1370519" y="52072"/>
                  </a:cubicBezTo>
                  <a:lnTo>
                    <a:pt x="1370519" y="1615882"/>
                  </a:lnTo>
                  <a:cubicBezTo>
                    <a:pt x="1370519" y="1629692"/>
                    <a:pt x="1365033" y="1642937"/>
                    <a:pt x="1355267" y="1652702"/>
                  </a:cubicBezTo>
                  <a:cubicBezTo>
                    <a:pt x="1345502" y="1662468"/>
                    <a:pt x="1332257" y="1667954"/>
                    <a:pt x="1318447" y="1667954"/>
                  </a:cubicBezTo>
                  <a:lnTo>
                    <a:pt x="52072" y="1667954"/>
                  </a:lnTo>
                  <a:cubicBezTo>
                    <a:pt x="23313" y="1667954"/>
                    <a:pt x="0" y="1644640"/>
                    <a:pt x="0" y="1615882"/>
                  </a:cubicBezTo>
                  <a:lnTo>
                    <a:pt x="0" y="52072"/>
                  </a:lnTo>
                  <a:cubicBezTo>
                    <a:pt x="0" y="38262"/>
                    <a:pt x="5486" y="25017"/>
                    <a:pt x="15252" y="15252"/>
                  </a:cubicBezTo>
                  <a:cubicBezTo>
                    <a:pt x="25017" y="5486"/>
                    <a:pt x="38262" y="0"/>
                    <a:pt x="52072" y="0"/>
                  </a:cubicBezTo>
                  <a:close/>
                </a:path>
              </a:pathLst>
            </a:custGeom>
            <a:solidFill>
              <a:srgbClr val="FFFFFF"/>
            </a:solidFill>
            <a:ln w="123825" cap="rnd">
              <a:solidFill>
                <a:srgbClr val="BCBC9E"/>
              </a:solidFill>
              <a:prstDash val="solid"/>
              <a:round/>
            </a:ln>
          </p:spPr>
        </p:sp>
        <p:sp>
          <p:nvSpPr>
            <p:cNvPr name="TextBox 15" id="15"/>
            <p:cNvSpPr txBox="true"/>
            <p:nvPr/>
          </p:nvSpPr>
          <p:spPr>
            <a:xfrm>
              <a:off x="0" y="85725"/>
              <a:ext cx="1370519" cy="1582229"/>
            </a:xfrm>
            <a:prstGeom prst="rect">
              <a:avLst/>
            </a:prstGeom>
          </p:spPr>
          <p:txBody>
            <a:bodyPr anchor="ctr" rtlCol="false" tIns="50800" lIns="50800" bIns="50800" rIns="50800"/>
            <a:lstStyle/>
            <a:p>
              <a:pPr algn="ctr">
                <a:lnSpc>
                  <a:spcPts val="2218"/>
                </a:lnSpc>
              </a:pPr>
            </a:p>
          </p:txBody>
        </p:sp>
      </p:grpSp>
      <p:sp>
        <p:nvSpPr>
          <p:cNvPr name="TextBox 16" id="16"/>
          <p:cNvSpPr txBox="true"/>
          <p:nvPr/>
        </p:nvSpPr>
        <p:spPr>
          <a:xfrm rot="0">
            <a:off x="1205498" y="3440913"/>
            <a:ext cx="3137657" cy="215260"/>
          </a:xfrm>
          <a:prstGeom prst="rect">
            <a:avLst/>
          </a:prstGeom>
        </p:spPr>
        <p:txBody>
          <a:bodyPr anchor="t" rtlCol="false" tIns="0" lIns="0" bIns="0" rIns="0">
            <a:spAutoFit/>
          </a:bodyPr>
          <a:lstStyle/>
          <a:p>
            <a:pPr algn="l">
              <a:lnSpc>
                <a:spcPts val="1626"/>
              </a:lnSpc>
            </a:pPr>
            <a:r>
              <a:rPr lang="en-US" sz="1642" b="true">
                <a:solidFill>
                  <a:srgbClr val="163B42"/>
                </a:solidFill>
                <a:latin typeface="Canva Sans Bold"/>
                <a:ea typeface="Canva Sans Bold"/>
                <a:cs typeface="Canva Sans Bold"/>
                <a:sym typeface="Canva Sans Bold"/>
              </a:rPr>
              <a:t>LOGISTIC REGRESSION</a:t>
            </a:r>
          </a:p>
        </p:txBody>
      </p:sp>
      <p:sp>
        <p:nvSpPr>
          <p:cNvPr name="TextBox 17" id="17"/>
          <p:cNvSpPr txBox="true"/>
          <p:nvPr/>
        </p:nvSpPr>
        <p:spPr>
          <a:xfrm rot="0">
            <a:off x="6923811" y="3440913"/>
            <a:ext cx="3137657" cy="215260"/>
          </a:xfrm>
          <a:prstGeom prst="rect">
            <a:avLst/>
          </a:prstGeom>
        </p:spPr>
        <p:txBody>
          <a:bodyPr anchor="t" rtlCol="false" tIns="0" lIns="0" bIns="0" rIns="0">
            <a:spAutoFit/>
          </a:bodyPr>
          <a:lstStyle/>
          <a:p>
            <a:pPr algn="l">
              <a:lnSpc>
                <a:spcPts val="1626"/>
              </a:lnSpc>
            </a:pPr>
            <a:r>
              <a:rPr lang="en-US" sz="1642" b="true">
                <a:solidFill>
                  <a:srgbClr val="163B42"/>
                </a:solidFill>
                <a:latin typeface="Canva Sans Bold"/>
                <a:ea typeface="Canva Sans Bold"/>
                <a:cs typeface="Canva Sans Bold"/>
                <a:sym typeface="Canva Sans Bold"/>
              </a:rPr>
              <a:t>RANDOM FOREST</a:t>
            </a:r>
          </a:p>
        </p:txBody>
      </p:sp>
      <p:sp>
        <p:nvSpPr>
          <p:cNvPr name="TextBox 18" id="18"/>
          <p:cNvSpPr txBox="true"/>
          <p:nvPr/>
        </p:nvSpPr>
        <p:spPr>
          <a:xfrm rot="0">
            <a:off x="12686996" y="3440913"/>
            <a:ext cx="3137657" cy="215260"/>
          </a:xfrm>
          <a:prstGeom prst="rect">
            <a:avLst/>
          </a:prstGeom>
        </p:spPr>
        <p:txBody>
          <a:bodyPr anchor="t" rtlCol="false" tIns="0" lIns="0" bIns="0" rIns="0">
            <a:spAutoFit/>
          </a:bodyPr>
          <a:lstStyle/>
          <a:p>
            <a:pPr algn="l">
              <a:lnSpc>
                <a:spcPts val="1626"/>
              </a:lnSpc>
            </a:pPr>
            <a:r>
              <a:rPr lang="en-US" sz="1642" b="true">
                <a:solidFill>
                  <a:srgbClr val="163B42"/>
                </a:solidFill>
                <a:latin typeface="Canva Sans Bold"/>
                <a:ea typeface="Canva Sans Bold"/>
                <a:cs typeface="Canva Sans Bold"/>
                <a:sym typeface="Canva Sans Bold"/>
              </a:rPr>
              <a:t>XGBOOST</a:t>
            </a:r>
          </a:p>
        </p:txBody>
      </p:sp>
      <p:sp>
        <p:nvSpPr>
          <p:cNvPr name="TextBox 19" id="19"/>
          <p:cNvSpPr txBox="true"/>
          <p:nvPr/>
        </p:nvSpPr>
        <p:spPr>
          <a:xfrm rot="0">
            <a:off x="6923811" y="8950667"/>
            <a:ext cx="4219555" cy="205428"/>
          </a:xfrm>
          <a:prstGeom prst="rect">
            <a:avLst/>
          </a:prstGeom>
        </p:spPr>
        <p:txBody>
          <a:bodyPr anchor="t" rtlCol="false" tIns="0" lIns="0" bIns="0" rIns="0">
            <a:spAutoFit/>
          </a:bodyPr>
          <a:lstStyle/>
          <a:p>
            <a:pPr algn="l">
              <a:lnSpc>
                <a:spcPts val="1527"/>
              </a:lnSpc>
            </a:pPr>
            <a:r>
              <a:rPr lang="en-US" sz="1542" b="true">
                <a:solidFill>
                  <a:srgbClr val="163B42"/>
                </a:solidFill>
                <a:latin typeface="Canva Sans Bold"/>
                <a:ea typeface="Canva Sans Bold"/>
                <a:cs typeface="Canva Sans Bold"/>
                <a:sym typeface="Canva Sans Bold"/>
              </a:rPr>
              <a:t>STRENGTH: NON LINEARITY + ROBUSNESS</a:t>
            </a:r>
          </a:p>
        </p:txBody>
      </p:sp>
      <p:sp>
        <p:nvSpPr>
          <p:cNvPr name="TextBox 20" id="20"/>
          <p:cNvSpPr txBox="true"/>
          <p:nvPr/>
        </p:nvSpPr>
        <p:spPr>
          <a:xfrm rot="0">
            <a:off x="12498739" y="8950667"/>
            <a:ext cx="4428114" cy="205428"/>
          </a:xfrm>
          <a:prstGeom prst="rect">
            <a:avLst/>
          </a:prstGeom>
        </p:spPr>
        <p:txBody>
          <a:bodyPr anchor="t" rtlCol="false" tIns="0" lIns="0" bIns="0" rIns="0">
            <a:spAutoFit/>
          </a:bodyPr>
          <a:lstStyle/>
          <a:p>
            <a:pPr algn="l">
              <a:lnSpc>
                <a:spcPts val="1527"/>
              </a:lnSpc>
            </a:pPr>
            <a:r>
              <a:rPr lang="en-US" sz="1542" b="true">
                <a:solidFill>
                  <a:srgbClr val="163B42"/>
                </a:solidFill>
                <a:latin typeface="Canva Sans Bold"/>
                <a:ea typeface="Canva Sans Bold"/>
                <a:cs typeface="Canva Sans Bold"/>
                <a:sym typeface="Canva Sans Bold"/>
              </a:rPr>
              <a:t>STRENGTH: BEST PREDICTIVE ACCURACY</a:t>
            </a:r>
          </a:p>
        </p:txBody>
      </p:sp>
      <p:sp>
        <p:nvSpPr>
          <p:cNvPr name="TextBox 21" id="21"/>
          <p:cNvSpPr txBox="true"/>
          <p:nvPr/>
        </p:nvSpPr>
        <p:spPr>
          <a:xfrm rot="0">
            <a:off x="1205498" y="8950667"/>
            <a:ext cx="3137657" cy="205428"/>
          </a:xfrm>
          <a:prstGeom prst="rect">
            <a:avLst/>
          </a:prstGeom>
        </p:spPr>
        <p:txBody>
          <a:bodyPr anchor="t" rtlCol="false" tIns="0" lIns="0" bIns="0" rIns="0">
            <a:spAutoFit/>
          </a:bodyPr>
          <a:lstStyle/>
          <a:p>
            <a:pPr algn="l">
              <a:lnSpc>
                <a:spcPts val="1527"/>
              </a:lnSpc>
            </a:pPr>
            <a:r>
              <a:rPr lang="en-US" sz="1542" b="true">
                <a:solidFill>
                  <a:srgbClr val="163B42"/>
                </a:solidFill>
                <a:latin typeface="Canva Sans Bold"/>
                <a:ea typeface="Canva Sans Bold"/>
                <a:cs typeface="Canva Sans Bold"/>
                <a:sym typeface="Canva Sans Bold"/>
              </a:rPr>
              <a:t>STRENGTH: INTERPRETABILITY</a:t>
            </a:r>
          </a:p>
        </p:txBody>
      </p:sp>
      <p:sp>
        <p:nvSpPr>
          <p:cNvPr name="TextBox 22" id="22"/>
          <p:cNvSpPr txBox="true"/>
          <p:nvPr/>
        </p:nvSpPr>
        <p:spPr>
          <a:xfrm rot="0">
            <a:off x="1308598" y="4239097"/>
            <a:ext cx="4237762" cy="2576446"/>
          </a:xfrm>
          <a:prstGeom prst="rect">
            <a:avLst/>
          </a:prstGeom>
        </p:spPr>
        <p:txBody>
          <a:bodyPr anchor="t" rtlCol="false" tIns="0" lIns="0" bIns="0" rIns="0">
            <a:spAutoFit/>
          </a:bodyPr>
          <a:lstStyle/>
          <a:p>
            <a:pPr algn="l" marL="410475" indent="-205238" lvl="1">
              <a:lnSpc>
                <a:spcPts val="2319"/>
              </a:lnSpc>
              <a:buFont typeface="Arial"/>
              <a:buChar char="•"/>
            </a:pPr>
            <a:r>
              <a:rPr lang="en-US" sz="1901" spc="-39">
                <a:solidFill>
                  <a:srgbClr val="163B42"/>
                </a:solidFill>
                <a:latin typeface="Aileron"/>
                <a:ea typeface="Aileron"/>
                <a:cs typeface="Aileron"/>
                <a:sym typeface="Aileron"/>
              </a:rPr>
              <a:t>L</a:t>
            </a:r>
            <a:r>
              <a:rPr lang="en-US" sz="1901" spc="-39">
                <a:solidFill>
                  <a:srgbClr val="163B42"/>
                </a:solidFill>
                <a:latin typeface="Aileron"/>
                <a:ea typeface="Aileron"/>
                <a:cs typeface="Aileron"/>
                <a:sym typeface="Aileron"/>
              </a:rPr>
              <a:t>ogistic Regression draws a straight mathematical line to separate two groups (patient vs. impatient)</a:t>
            </a:r>
          </a:p>
          <a:p>
            <a:pPr algn="l">
              <a:lnSpc>
                <a:spcPts val="2319"/>
              </a:lnSpc>
            </a:pPr>
            <a:r>
              <a:rPr lang="en-US" sz="1901" spc="-39">
                <a:solidFill>
                  <a:srgbClr val="163B42"/>
                </a:solidFill>
                <a:latin typeface="Aileron"/>
                <a:ea typeface="Aileron"/>
                <a:cs typeface="Aileron"/>
                <a:sym typeface="Aileron"/>
              </a:rPr>
              <a:t> </a:t>
            </a: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Expect to find that patience_rate strongly pushes people toward LL (patient) while log_discount_k strongly pushes toward SS (impatient) </a:t>
            </a:r>
          </a:p>
        </p:txBody>
      </p:sp>
      <p:sp>
        <p:nvSpPr>
          <p:cNvPr name="TextBox 23" id="23"/>
          <p:cNvSpPr txBox="true"/>
          <p:nvPr/>
        </p:nvSpPr>
        <p:spPr>
          <a:xfrm rot="0">
            <a:off x="7061850" y="4239097"/>
            <a:ext cx="4237762" cy="3719446"/>
          </a:xfrm>
          <a:prstGeom prst="rect">
            <a:avLst/>
          </a:prstGeom>
        </p:spPr>
        <p:txBody>
          <a:bodyPr anchor="t" rtlCol="false" tIns="0" lIns="0" bIns="0" rIns="0">
            <a:spAutoFit/>
          </a:bodyPr>
          <a:lstStyle/>
          <a:p>
            <a:pPr algn="l" marL="410475" indent="-205238" lvl="1">
              <a:lnSpc>
                <a:spcPts val="2319"/>
              </a:lnSpc>
              <a:buFont typeface="Arial"/>
              <a:buChar char="•"/>
            </a:pPr>
            <a:r>
              <a:rPr lang="en-US" sz="1901" spc="-39">
                <a:solidFill>
                  <a:srgbClr val="163B42"/>
                </a:solidFill>
                <a:latin typeface="Aileron"/>
                <a:ea typeface="Aileron"/>
                <a:cs typeface="Aileron"/>
                <a:sym typeface="Aileron"/>
              </a:rPr>
              <a:t>Predict whether a person will choose the patient option or the impatient option Binary 0 or 1</a:t>
            </a:r>
          </a:p>
          <a:p>
            <a:pPr algn="l">
              <a:lnSpc>
                <a:spcPts val="2319"/>
              </a:lnSpc>
            </a:pP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Train: 80% test: 20%</a:t>
            </a:r>
          </a:p>
          <a:p>
            <a:pPr algn="l">
              <a:lnSpc>
                <a:spcPts val="2319"/>
              </a:lnSpc>
            </a:pP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Feature interactions that logistic regression misses </a:t>
            </a: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e.g. how response time and reward magnitude interact to influence choice behavior.</a:t>
            </a:r>
          </a:p>
          <a:p>
            <a:pPr algn="l">
              <a:lnSpc>
                <a:spcPts val="2319"/>
              </a:lnSpc>
            </a:pP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14 features (raw and engineered)</a:t>
            </a:r>
          </a:p>
        </p:txBody>
      </p:sp>
      <p:sp>
        <p:nvSpPr>
          <p:cNvPr name="TextBox 24" id="24"/>
          <p:cNvSpPr txBox="true"/>
          <p:nvPr/>
        </p:nvSpPr>
        <p:spPr>
          <a:xfrm rot="0">
            <a:off x="12593915" y="4239097"/>
            <a:ext cx="4332938" cy="1433446"/>
          </a:xfrm>
          <a:prstGeom prst="rect">
            <a:avLst/>
          </a:prstGeom>
        </p:spPr>
        <p:txBody>
          <a:bodyPr anchor="t" rtlCol="false" tIns="0" lIns="0" bIns="0" rIns="0">
            <a:spAutoFit/>
          </a:bodyPr>
          <a:lstStyle/>
          <a:p>
            <a:pPr algn="l" marL="410475" indent="-205238" lvl="1">
              <a:lnSpc>
                <a:spcPts val="2319"/>
              </a:lnSpc>
              <a:buFont typeface="Arial"/>
              <a:buChar char="•"/>
            </a:pPr>
            <a:r>
              <a:rPr lang="en-US" sz="1901" spc="-39">
                <a:solidFill>
                  <a:srgbClr val="163B42"/>
                </a:solidFill>
                <a:latin typeface="Aileron"/>
                <a:ea typeface="Aileron"/>
                <a:cs typeface="Aileron"/>
                <a:sym typeface="Aileron"/>
              </a:rPr>
              <a:t>Gr</a:t>
            </a:r>
            <a:r>
              <a:rPr lang="en-US" sz="1901" spc="-39">
                <a:solidFill>
                  <a:srgbClr val="163B42"/>
                </a:solidFill>
                <a:latin typeface="Aileron"/>
                <a:ea typeface="Aileron"/>
                <a:cs typeface="Aileron"/>
                <a:sym typeface="Aileron"/>
              </a:rPr>
              <a:t>adient boosting on a 1M+ row dataset optimized for predictive accuracy. </a:t>
            </a: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Candidate for production-level scoring of user behavior at scale.</a:t>
            </a:r>
          </a:p>
        </p:txBody>
      </p:sp>
      <p:sp>
        <p:nvSpPr>
          <p:cNvPr name="TextBox 25" id="2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8975831" y="-861914"/>
            <a:ext cx="10768546" cy="10768546"/>
          </a:xfrm>
          <a:custGeom>
            <a:avLst/>
            <a:gdLst/>
            <a:ahLst/>
            <a:cxnLst/>
            <a:rect r="r" b="b" t="t" l="l"/>
            <a:pathLst>
              <a:path h="10768546" w="10768546">
                <a:moveTo>
                  <a:pt x="0" y="0"/>
                </a:moveTo>
                <a:lnTo>
                  <a:pt x="10768546" y="0"/>
                </a:lnTo>
                <a:lnTo>
                  <a:pt x="10768546" y="10768546"/>
                </a:lnTo>
                <a:lnTo>
                  <a:pt x="0" y="10768546"/>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6661901" y="-2841859"/>
            <a:ext cx="6332329" cy="6332329"/>
          </a:xfrm>
          <a:custGeom>
            <a:avLst/>
            <a:gdLst/>
            <a:ahLst/>
            <a:cxnLst/>
            <a:rect r="r" b="b" t="t" l="l"/>
            <a:pathLst>
              <a:path h="6332329" w="6332329">
                <a:moveTo>
                  <a:pt x="0" y="0"/>
                </a:moveTo>
                <a:lnTo>
                  <a:pt x="6332330" y="0"/>
                </a:lnTo>
                <a:lnTo>
                  <a:pt x="6332330" y="6332330"/>
                </a:lnTo>
                <a:lnTo>
                  <a:pt x="0" y="6332330"/>
                </a:lnTo>
                <a:lnTo>
                  <a:pt x="0" y="0"/>
                </a:lnTo>
                <a:close/>
              </a:path>
            </a:pathLst>
          </a:custGeom>
          <a:blipFill>
            <a:blip r:embed="rId3">
              <a:alphaModFix amt="12000"/>
            </a:blip>
            <a:stretch>
              <a:fillRect l="0" t="0" r="0" b="0"/>
            </a:stretch>
          </a:blipFill>
        </p:spPr>
      </p:sp>
      <p:grpSp>
        <p:nvGrpSpPr>
          <p:cNvPr name="Group 5" id="5"/>
          <p:cNvGrpSpPr/>
          <p:nvPr/>
        </p:nvGrpSpPr>
        <p:grpSpPr>
          <a:xfrm rot="0">
            <a:off x="887689" y="3076100"/>
            <a:ext cx="5203689" cy="6333012"/>
            <a:chOff x="0" y="0"/>
            <a:chExt cx="1370519" cy="1667954"/>
          </a:xfrm>
        </p:grpSpPr>
        <p:sp>
          <p:nvSpPr>
            <p:cNvPr name="Freeform 6" id="6"/>
            <p:cNvSpPr/>
            <p:nvPr/>
          </p:nvSpPr>
          <p:spPr>
            <a:xfrm flipH="false" flipV="false" rot="0">
              <a:off x="0" y="0"/>
              <a:ext cx="1370519" cy="1667954"/>
            </a:xfrm>
            <a:custGeom>
              <a:avLst/>
              <a:gdLst/>
              <a:ahLst/>
              <a:cxnLst/>
              <a:rect r="r" b="b" t="t" l="l"/>
              <a:pathLst>
                <a:path h="1667954" w="1370519">
                  <a:moveTo>
                    <a:pt x="52072" y="0"/>
                  </a:moveTo>
                  <a:lnTo>
                    <a:pt x="1318447" y="0"/>
                  </a:lnTo>
                  <a:cubicBezTo>
                    <a:pt x="1347206" y="0"/>
                    <a:pt x="1370519" y="23313"/>
                    <a:pt x="1370519" y="52072"/>
                  </a:cubicBezTo>
                  <a:lnTo>
                    <a:pt x="1370519" y="1615882"/>
                  </a:lnTo>
                  <a:cubicBezTo>
                    <a:pt x="1370519" y="1629692"/>
                    <a:pt x="1365033" y="1642937"/>
                    <a:pt x="1355267" y="1652702"/>
                  </a:cubicBezTo>
                  <a:cubicBezTo>
                    <a:pt x="1345502" y="1662468"/>
                    <a:pt x="1332257" y="1667954"/>
                    <a:pt x="1318447" y="1667954"/>
                  </a:cubicBezTo>
                  <a:lnTo>
                    <a:pt x="52072" y="1667954"/>
                  </a:lnTo>
                  <a:cubicBezTo>
                    <a:pt x="23313" y="1667954"/>
                    <a:pt x="0" y="1644640"/>
                    <a:pt x="0" y="1615882"/>
                  </a:cubicBezTo>
                  <a:lnTo>
                    <a:pt x="0" y="52072"/>
                  </a:lnTo>
                  <a:cubicBezTo>
                    <a:pt x="0" y="38262"/>
                    <a:pt x="5486" y="25017"/>
                    <a:pt x="15252" y="15252"/>
                  </a:cubicBezTo>
                  <a:cubicBezTo>
                    <a:pt x="25017" y="5486"/>
                    <a:pt x="38262" y="0"/>
                    <a:pt x="52072" y="0"/>
                  </a:cubicBezTo>
                  <a:close/>
                </a:path>
              </a:pathLst>
            </a:custGeom>
            <a:solidFill>
              <a:srgbClr val="FFFFFF"/>
            </a:solidFill>
            <a:ln w="123825" cap="rnd">
              <a:solidFill>
                <a:srgbClr val="8CB491"/>
              </a:solidFill>
              <a:prstDash val="solid"/>
              <a:round/>
            </a:ln>
          </p:spPr>
        </p:sp>
        <p:sp>
          <p:nvSpPr>
            <p:cNvPr name="TextBox 7" id="7"/>
            <p:cNvSpPr txBox="true"/>
            <p:nvPr/>
          </p:nvSpPr>
          <p:spPr>
            <a:xfrm>
              <a:off x="0" y="85725"/>
              <a:ext cx="1370519" cy="1582229"/>
            </a:xfrm>
            <a:prstGeom prst="rect">
              <a:avLst/>
            </a:prstGeom>
          </p:spPr>
          <p:txBody>
            <a:bodyPr anchor="ctr" rtlCol="false" tIns="50800" lIns="50800" bIns="50800" rIns="50800"/>
            <a:lstStyle/>
            <a:p>
              <a:pPr algn="ctr">
                <a:lnSpc>
                  <a:spcPts val="2218"/>
                </a:lnSpc>
              </a:pPr>
            </a:p>
          </p:txBody>
        </p:sp>
      </p:grpSp>
      <p:grpSp>
        <p:nvGrpSpPr>
          <p:cNvPr name="Group 8" id="8"/>
          <p:cNvGrpSpPr/>
          <p:nvPr/>
        </p:nvGrpSpPr>
        <p:grpSpPr>
          <a:xfrm rot="0">
            <a:off x="6542155" y="3076100"/>
            <a:ext cx="5203689" cy="6333012"/>
            <a:chOff x="0" y="0"/>
            <a:chExt cx="1370519" cy="1667954"/>
          </a:xfrm>
        </p:grpSpPr>
        <p:sp>
          <p:nvSpPr>
            <p:cNvPr name="Freeform 9" id="9"/>
            <p:cNvSpPr/>
            <p:nvPr/>
          </p:nvSpPr>
          <p:spPr>
            <a:xfrm flipH="false" flipV="false" rot="0">
              <a:off x="0" y="0"/>
              <a:ext cx="1370519" cy="1667954"/>
            </a:xfrm>
            <a:custGeom>
              <a:avLst/>
              <a:gdLst/>
              <a:ahLst/>
              <a:cxnLst/>
              <a:rect r="r" b="b" t="t" l="l"/>
              <a:pathLst>
                <a:path h="1667954" w="1370519">
                  <a:moveTo>
                    <a:pt x="52072" y="0"/>
                  </a:moveTo>
                  <a:lnTo>
                    <a:pt x="1318447" y="0"/>
                  </a:lnTo>
                  <a:cubicBezTo>
                    <a:pt x="1347206" y="0"/>
                    <a:pt x="1370519" y="23313"/>
                    <a:pt x="1370519" y="52072"/>
                  </a:cubicBezTo>
                  <a:lnTo>
                    <a:pt x="1370519" y="1615882"/>
                  </a:lnTo>
                  <a:cubicBezTo>
                    <a:pt x="1370519" y="1629692"/>
                    <a:pt x="1365033" y="1642937"/>
                    <a:pt x="1355267" y="1652702"/>
                  </a:cubicBezTo>
                  <a:cubicBezTo>
                    <a:pt x="1345502" y="1662468"/>
                    <a:pt x="1332257" y="1667954"/>
                    <a:pt x="1318447" y="1667954"/>
                  </a:cubicBezTo>
                  <a:lnTo>
                    <a:pt x="52072" y="1667954"/>
                  </a:lnTo>
                  <a:cubicBezTo>
                    <a:pt x="23313" y="1667954"/>
                    <a:pt x="0" y="1644640"/>
                    <a:pt x="0" y="1615882"/>
                  </a:cubicBezTo>
                  <a:lnTo>
                    <a:pt x="0" y="52072"/>
                  </a:lnTo>
                  <a:cubicBezTo>
                    <a:pt x="0" y="38262"/>
                    <a:pt x="5486" y="25017"/>
                    <a:pt x="15252" y="15252"/>
                  </a:cubicBezTo>
                  <a:cubicBezTo>
                    <a:pt x="25017" y="5486"/>
                    <a:pt x="38262" y="0"/>
                    <a:pt x="52072" y="0"/>
                  </a:cubicBezTo>
                  <a:close/>
                </a:path>
              </a:pathLst>
            </a:custGeom>
            <a:solidFill>
              <a:srgbClr val="FFFFFF"/>
            </a:solidFill>
            <a:ln w="123825" cap="rnd">
              <a:solidFill>
                <a:srgbClr val="163B42"/>
              </a:solidFill>
              <a:prstDash val="solid"/>
              <a:round/>
            </a:ln>
          </p:spPr>
        </p:sp>
        <p:sp>
          <p:nvSpPr>
            <p:cNvPr name="TextBox 10" id="10"/>
            <p:cNvSpPr txBox="true"/>
            <p:nvPr/>
          </p:nvSpPr>
          <p:spPr>
            <a:xfrm>
              <a:off x="0" y="85725"/>
              <a:ext cx="1370519" cy="1582229"/>
            </a:xfrm>
            <a:prstGeom prst="rect">
              <a:avLst/>
            </a:prstGeom>
          </p:spPr>
          <p:txBody>
            <a:bodyPr anchor="ctr" rtlCol="false" tIns="50800" lIns="50800" bIns="50800" rIns="50800"/>
            <a:lstStyle/>
            <a:p>
              <a:pPr algn="ctr">
                <a:lnSpc>
                  <a:spcPts val="2218"/>
                </a:lnSpc>
              </a:pPr>
            </a:p>
          </p:txBody>
        </p:sp>
      </p:grpSp>
      <p:grpSp>
        <p:nvGrpSpPr>
          <p:cNvPr name="Group 11" id="11"/>
          <p:cNvGrpSpPr/>
          <p:nvPr/>
        </p:nvGrpSpPr>
        <p:grpSpPr>
          <a:xfrm rot="0">
            <a:off x="12196621" y="3076100"/>
            <a:ext cx="5203689" cy="6333012"/>
            <a:chOff x="0" y="0"/>
            <a:chExt cx="1370519" cy="1667954"/>
          </a:xfrm>
        </p:grpSpPr>
        <p:sp>
          <p:nvSpPr>
            <p:cNvPr name="Freeform 12" id="12"/>
            <p:cNvSpPr/>
            <p:nvPr/>
          </p:nvSpPr>
          <p:spPr>
            <a:xfrm flipH="false" flipV="false" rot="0">
              <a:off x="0" y="0"/>
              <a:ext cx="1370519" cy="1667954"/>
            </a:xfrm>
            <a:custGeom>
              <a:avLst/>
              <a:gdLst/>
              <a:ahLst/>
              <a:cxnLst/>
              <a:rect r="r" b="b" t="t" l="l"/>
              <a:pathLst>
                <a:path h="1667954" w="1370519">
                  <a:moveTo>
                    <a:pt x="52072" y="0"/>
                  </a:moveTo>
                  <a:lnTo>
                    <a:pt x="1318447" y="0"/>
                  </a:lnTo>
                  <a:cubicBezTo>
                    <a:pt x="1347206" y="0"/>
                    <a:pt x="1370519" y="23313"/>
                    <a:pt x="1370519" y="52072"/>
                  </a:cubicBezTo>
                  <a:lnTo>
                    <a:pt x="1370519" y="1615882"/>
                  </a:lnTo>
                  <a:cubicBezTo>
                    <a:pt x="1370519" y="1629692"/>
                    <a:pt x="1365033" y="1642937"/>
                    <a:pt x="1355267" y="1652702"/>
                  </a:cubicBezTo>
                  <a:cubicBezTo>
                    <a:pt x="1345502" y="1662468"/>
                    <a:pt x="1332257" y="1667954"/>
                    <a:pt x="1318447" y="1667954"/>
                  </a:cubicBezTo>
                  <a:lnTo>
                    <a:pt x="52072" y="1667954"/>
                  </a:lnTo>
                  <a:cubicBezTo>
                    <a:pt x="23313" y="1667954"/>
                    <a:pt x="0" y="1644640"/>
                    <a:pt x="0" y="1615882"/>
                  </a:cubicBezTo>
                  <a:lnTo>
                    <a:pt x="0" y="52072"/>
                  </a:lnTo>
                  <a:cubicBezTo>
                    <a:pt x="0" y="38262"/>
                    <a:pt x="5486" y="25017"/>
                    <a:pt x="15252" y="15252"/>
                  </a:cubicBezTo>
                  <a:cubicBezTo>
                    <a:pt x="25017" y="5486"/>
                    <a:pt x="38262" y="0"/>
                    <a:pt x="52072" y="0"/>
                  </a:cubicBezTo>
                  <a:close/>
                </a:path>
              </a:pathLst>
            </a:custGeom>
            <a:solidFill>
              <a:srgbClr val="FFFFFF"/>
            </a:solidFill>
            <a:ln w="123825" cap="rnd">
              <a:solidFill>
                <a:srgbClr val="BCBC9E"/>
              </a:solidFill>
              <a:prstDash val="solid"/>
              <a:round/>
            </a:ln>
          </p:spPr>
        </p:sp>
        <p:sp>
          <p:nvSpPr>
            <p:cNvPr name="TextBox 13" id="13"/>
            <p:cNvSpPr txBox="true"/>
            <p:nvPr/>
          </p:nvSpPr>
          <p:spPr>
            <a:xfrm>
              <a:off x="0" y="85725"/>
              <a:ext cx="1370519" cy="1582229"/>
            </a:xfrm>
            <a:prstGeom prst="rect">
              <a:avLst/>
            </a:prstGeom>
          </p:spPr>
          <p:txBody>
            <a:bodyPr anchor="ctr" rtlCol="false" tIns="50800" lIns="50800" bIns="50800" rIns="50800"/>
            <a:lstStyle/>
            <a:p>
              <a:pPr algn="ctr">
                <a:lnSpc>
                  <a:spcPts val="2218"/>
                </a:lnSpc>
              </a:pPr>
            </a:p>
          </p:txBody>
        </p:sp>
      </p:grpSp>
      <p:sp>
        <p:nvSpPr>
          <p:cNvPr name="Freeform 14" id="14"/>
          <p:cNvSpPr/>
          <p:nvPr/>
        </p:nvSpPr>
        <p:spPr>
          <a:xfrm flipH="false" flipV="false" rot="0">
            <a:off x="7023056" y="3864364"/>
            <a:ext cx="4241888" cy="2192437"/>
          </a:xfrm>
          <a:custGeom>
            <a:avLst/>
            <a:gdLst/>
            <a:ahLst/>
            <a:cxnLst/>
            <a:rect r="r" b="b" t="t" l="l"/>
            <a:pathLst>
              <a:path h="2192437" w="4241888">
                <a:moveTo>
                  <a:pt x="0" y="0"/>
                </a:moveTo>
                <a:lnTo>
                  <a:pt x="4241888" y="0"/>
                </a:lnTo>
                <a:lnTo>
                  <a:pt x="4241888" y="2192437"/>
                </a:lnTo>
                <a:lnTo>
                  <a:pt x="0" y="2192437"/>
                </a:lnTo>
                <a:lnTo>
                  <a:pt x="0" y="0"/>
                </a:lnTo>
                <a:close/>
              </a:path>
            </a:pathLst>
          </a:custGeom>
          <a:blipFill>
            <a:blip r:embed="rId4"/>
            <a:stretch>
              <a:fillRect l="0" t="0" r="0" b="0"/>
            </a:stretch>
          </a:blipFill>
          <a:ln w="9525" cap="sq">
            <a:solidFill>
              <a:srgbClr val="000000"/>
            </a:solidFill>
            <a:prstDash val="solid"/>
            <a:miter/>
          </a:ln>
        </p:spPr>
      </p:sp>
      <p:sp>
        <p:nvSpPr>
          <p:cNvPr name="Freeform 15" id="15"/>
          <p:cNvSpPr/>
          <p:nvPr/>
        </p:nvSpPr>
        <p:spPr>
          <a:xfrm flipH="false" flipV="false" rot="0">
            <a:off x="12434749" y="3854839"/>
            <a:ext cx="4727434" cy="2034919"/>
          </a:xfrm>
          <a:custGeom>
            <a:avLst/>
            <a:gdLst/>
            <a:ahLst/>
            <a:cxnLst/>
            <a:rect r="r" b="b" t="t" l="l"/>
            <a:pathLst>
              <a:path h="2034919" w="4727434">
                <a:moveTo>
                  <a:pt x="0" y="0"/>
                </a:moveTo>
                <a:lnTo>
                  <a:pt x="4727434" y="0"/>
                </a:lnTo>
                <a:lnTo>
                  <a:pt x="4727434" y="2034920"/>
                </a:lnTo>
                <a:lnTo>
                  <a:pt x="0" y="2034920"/>
                </a:lnTo>
                <a:lnTo>
                  <a:pt x="0" y="0"/>
                </a:lnTo>
                <a:close/>
              </a:path>
            </a:pathLst>
          </a:custGeom>
          <a:blipFill>
            <a:blip r:embed="rId5"/>
            <a:stretch>
              <a:fillRect l="-492" t="0" r="-492" b="0"/>
            </a:stretch>
          </a:blipFill>
        </p:spPr>
      </p:sp>
      <p:sp>
        <p:nvSpPr>
          <p:cNvPr name="TextBox 16" id="16"/>
          <p:cNvSpPr txBox="true"/>
          <p:nvPr/>
        </p:nvSpPr>
        <p:spPr>
          <a:xfrm rot="0">
            <a:off x="924421" y="1013634"/>
            <a:ext cx="15004511" cy="1039379"/>
          </a:xfrm>
          <a:prstGeom prst="rect">
            <a:avLst/>
          </a:prstGeom>
        </p:spPr>
        <p:txBody>
          <a:bodyPr anchor="t" rtlCol="false" tIns="0" lIns="0" bIns="0" rIns="0">
            <a:spAutoFit/>
          </a:bodyPr>
          <a:lstStyle/>
          <a:p>
            <a:pPr algn="l">
              <a:lnSpc>
                <a:spcPts val="7821"/>
              </a:lnSpc>
            </a:pPr>
            <a:r>
              <a:rPr lang="en-US" sz="7900" spc="-742" b="true">
                <a:solidFill>
                  <a:srgbClr val="FFFFFF"/>
                </a:solidFill>
                <a:latin typeface="Canva Sans Bold"/>
                <a:ea typeface="Canva Sans Bold"/>
                <a:cs typeface="Canva Sans Bold"/>
                <a:sym typeface="Canva Sans Bold"/>
              </a:rPr>
              <a:t>Result: 3 model , 1 target</a:t>
            </a:r>
          </a:p>
        </p:txBody>
      </p:sp>
      <p:sp>
        <p:nvSpPr>
          <p:cNvPr name="TextBox 17" id="17"/>
          <p:cNvSpPr txBox="true"/>
          <p:nvPr/>
        </p:nvSpPr>
        <p:spPr>
          <a:xfrm rot="0">
            <a:off x="1028700" y="2184974"/>
            <a:ext cx="16512622" cy="290449"/>
          </a:xfrm>
          <a:prstGeom prst="rect">
            <a:avLst/>
          </a:prstGeom>
        </p:spPr>
        <p:txBody>
          <a:bodyPr anchor="t" rtlCol="false" tIns="0" lIns="0" bIns="0" rIns="0">
            <a:spAutoFit/>
          </a:bodyPr>
          <a:lstStyle/>
          <a:p>
            <a:pPr algn="l">
              <a:lnSpc>
                <a:spcPts val="2317"/>
              </a:lnSpc>
            </a:pPr>
            <a:r>
              <a:rPr lang="en-US" sz="1899" spc="-39">
                <a:solidFill>
                  <a:srgbClr val="FFFFFF"/>
                </a:solidFill>
                <a:latin typeface="Aileron Light"/>
                <a:ea typeface="Aileron Light"/>
                <a:cs typeface="Aileron Light"/>
                <a:sym typeface="Aileron Light"/>
              </a:rPr>
              <a:t>Target variable: did the user choose the immediate reward? (binary 0/1). Each model was chosen to answer a different question about the same prediction problem.</a:t>
            </a:r>
          </a:p>
        </p:txBody>
      </p:sp>
      <p:sp>
        <p:nvSpPr>
          <p:cNvPr name="TextBox 18" id="18"/>
          <p:cNvSpPr txBox="true"/>
          <p:nvPr/>
        </p:nvSpPr>
        <p:spPr>
          <a:xfrm rot="0">
            <a:off x="1168766" y="3440913"/>
            <a:ext cx="3137657" cy="215260"/>
          </a:xfrm>
          <a:prstGeom prst="rect">
            <a:avLst/>
          </a:prstGeom>
        </p:spPr>
        <p:txBody>
          <a:bodyPr anchor="t" rtlCol="false" tIns="0" lIns="0" bIns="0" rIns="0">
            <a:spAutoFit/>
          </a:bodyPr>
          <a:lstStyle/>
          <a:p>
            <a:pPr algn="l">
              <a:lnSpc>
                <a:spcPts val="1626"/>
              </a:lnSpc>
            </a:pPr>
            <a:r>
              <a:rPr lang="en-US" sz="1642" b="true">
                <a:solidFill>
                  <a:srgbClr val="163B42"/>
                </a:solidFill>
                <a:latin typeface="Canva Sans Bold"/>
                <a:ea typeface="Canva Sans Bold"/>
                <a:cs typeface="Canva Sans Bold"/>
                <a:sym typeface="Canva Sans Bold"/>
              </a:rPr>
              <a:t>LOGISTIC REGRESSION</a:t>
            </a:r>
          </a:p>
        </p:txBody>
      </p:sp>
      <p:sp>
        <p:nvSpPr>
          <p:cNvPr name="TextBox 19" id="19"/>
          <p:cNvSpPr txBox="true"/>
          <p:nvPr/>
        </p:nvSpPr>
        <p:spPr>
          <a:xfrm rot="0">
            <a:off x="6887079" y="3440913"/>
            <a:ext cx="3137657" cy="215260"/>
          </a:xfrm>
          <a:prstGeom prst="rect">
            <a:avLst/>
          </a:prstGeom>
        </p:spPr>
        <p:txBody>
          <a:bodyPr anchor="t" rtlCol="false" tIns="0" lIns="0" bIns="0" rIns="0">
            <a:spAutoFit/>
          </a:bodyPr>
          <a:lstStyle/>
          <a:p>
            <a:pPr algn="l">
              <a:lnSpc>
                <a:spcPts val="1626"/>
              </a:lnSpc>
            </a:pPr>
            <a:r>
              <a:rPr lang="en-US" sz="1642" b="true">
                <a:solidFill>
                  <a:srgbClr val="163B42"/>
                </a:solidFill>
                <a:latin typeface="Canva Sans Bold"/>
                <a:ea typeface="Canva Sans Bold"/>
                <a:cs typeface="Canva Sans Bold"/>
                <a:sym typeface="Canva Sans Bold"/>
              </a:rPr>
              <a:t>RANDOM FOREST</a:t>
            </a:r>
          </a:p>
        </p:txBody>
      </p:sp>
      <p:sp>
        <p:nvSpPr>
          <p:cNvPr name="TextBox 20" id="20"/>
          <p:cNvSpPr txBox="true"/>
          <p:nvPr/>
        </p:nvSpPr>
        <p:spPr>
          <a:xfrm rot="0">
            <a:off x="12650264" y="3440913"/>
            <a:ext cx="3137657" cy="215260"/>
          </a:xfrm>
          <a:prstGeom prst="rect">
            <a:avLst/>
          </a:prstGeom>
        </p:spPr>
        <p:txBody>
          <a:bodyPr anchor="t" rtlCol="false" tIns="0" lIns="0" bIns="0" rIns="0">
            <a:spAutoFit/>
          </a:bodyPr>
          <a:lstStyle/>
          <a:p>
            <a:pPr algn="l">
              <a:lnSpc>
                <a:spcPts val="1626"/>
              </a:lnSpc>
            </a:pPr>
            <a:r>
              <a:rPr lang="en-US" sz="1642" b="true">
                <a:solidFill>
                  <a:srgbClr val="163B42"/>
                </a:solidFill>
                <a:latin typeface="Canva Sans Bold"/>
                <a:ea typeface="Canva Sans Bold"/>
                <a:cs typeface="Canva Sans Bold"/>
                <a:sym typeface="Canva Sans Bold"/>
              </a:rPr>
              <a:t>XGBOOST</a:t>
            </a:r>
          </a:p>
        </p:txBody>
      </p:sp>
      <p:sp>
        <p:nvSpPr>
          <p:cNvPr name="TextBox 21" id="21"/>
          <p:cNvSpPr txBox="true"/>
          <p:nvPr/>
        </p:nvSpPr>
        <p:spPr>
          <a:xfrm rot="0">
            <a:off x="12462008" y="8950667"/>
            <a:ext cx="4428114" cy="205428"/>
          </a:xfrm>
          <a:prstGeom prst="rect">
            <a:avLst/>
          </a:prstGeom>
        </p:spPr>
        <p:txBody>
          <a:bodyPr anchor="t" rtlCol="false" tIns="0" lIns="0" bIns="0" rIns="0">
            <a:spAutoFit/>
          </a:bodyPr>
          <a:lstStyle/>
          <a:p>
            <a:pPr algn="l">
              <a:lnSpc>
                <a:spcPts val="1527"/>
              </a:lnSpc>
            </a:pPr>
            <a:r>
              <a:rPr lang="en-US" sz="1542" b="true">
                <a:solidFill>
                  <a:srgbClr val="163B42"/>
                </a:solidFill>
                <a:latin typeface="Canva Sans Bold"/>
                <a:ea typeface="Canva Sans Bold"/>
                <a:cs typeface="Canva Sans Bold"/>
                <a:sym typeface="Canva Sans Bold"/>
              </a:rPr>
              <a:t>STRENGTH: BEST PREDICTIVE ACCURACY</a:t>
            </a:r>
          </a:p>
        </p:txBody>
      </p:sp>
      <p:sp>
        <p:nvSpPr>
          <p:cNvPr name="TextBox 22" id="22"/>
          <p:cNvSpPr txBox="true"/>
          <p:nvPr/>
        </p:nvSpPr>
        <p:spPr>
          <a:xfrm rot="0">
            <a:off x="1271867" y="4239097"/>
            <a:ext cx="4237762" cy="3147946"/>
          </a:xfrm>
          <a:prstGeom prst="rect">
            <a:avLst/>
          </a:prstGeom>
        </p:spPr>
        <p:txBody>
          <a:bodyPr anchor="t" rtlCol="false" tIns="0" lIns="0" bIns="0" rIns="0">
            <a:spAutoFit/>
          </a:bodyPr>
          <a:lstStyle/>
          <a:p>
            <a:pPr algn="l" marL="410475" indent="-205238" lvl="1">
              <a:lnSpc>
                <a:spcPts val="2319"/>
              </a:lnSpc>
              <a:buFont typeface="Arial"/>
              <a:buChar char="•"/>
            </a:pPr>
            <a:r>
              <a:rPr lang="en-US" sz="1901" spc="-39">
                <a:solidFill>
                  <a:srgbClr val="163B42"/>
                </a:solidFill>
                <a:latin typeface="Aileron"/>
                <a:ea typeface="Aileron"/>
                <a:cs typeface="Aileron"/>
                <a:sym typeface="Aileron"/>
              </a:rPr>
              <a:t>Found  patience_rate strongly pushes people toward LL (patient) while log_discount_k strongly pushes toward SS (impatient)  </a:t>
            </a:r>
          </a:p>
          <a:p>
            <a:pPr algn="l">
              <a:lnSpc>
                <a:spcPts val="2319"/>
              </a:lnSpc>
            </a:pP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Confirmed by their coefficients (+1.34 and −1.07 respectively)</a:t>
            </a:r>
          </a:p>
          <a:p>
            <a:pPr algn="l">
              <a:lnSpc>
                <a:spcPts val="2319"/>
              </a:lnSpc>
            </a:pP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 ~76% accuracy, slightly weaker than Random Forest because real human behavior isn't perfectly linear.</a:t>
            </a:r>
          </a:p>
        </p:txBody>
      </p:sp>
      <p:sp>
        <p:nvSpPr>
          <p:cNvPr name="TextBox 23" id="23"/>
          <p:cNvSpPr txBox="true"/>
          <p:nvPr/>
        </p:nvSpPr>
        <p:spPr>
          <a:xfrm rot="0">
            <a:off x="6887079" y="6176898"/>
            <a:ext cx="4377865" cy="2862196"/>
          </a:xfrm>
          <a:prstGeom prst="rect">
            <a:avLst/>
          </a:prstGeom>
        </p:spPr>
        <p:txBody>
          <a:bodyPr anchor="t" rtlCol="false" tIns="0" lIns="0" bIns="0" rIns="0">
            <a:spAutoFit/>
          </a:bodyPr>
          <a:lstStyle/>
          <a:p>
            <a:pPr algn="l" marL="410475" indent="-205238" lvl="1">
              <a:lnSpc>
                <a:spcPts val="2319"/>
              </a:lnSpc>
              <a:buFont typeface="Arial"/>
              <a:buChar char="•"/>
            </a:pPr>
            <a:r>
              <a:rPr lang="en-US" b="true" sz="1901" spc="-39">
                <a:solidFill>
                  <a:srgbClr val="163B42"/>
                </a:solidFill>
                <a:latin typeface="Aileron Bold"/>
                <a:ea typeface="Aileron Bold"/>
                <a:cs typeface="Aileron Bold"/>
                <a:sym typeface="Aileron Bold"/>
              </a:rPr>
              <a:t>key drivers: </a:t>
            </a:r>
          </a:p>
          <a:p>
            <a:pPr algn="l" marL="820950" indent="-273650" lvl="2">
              <a:lnSpc>
                <a:spcPts val="2319"/>
              </a:lnSpc>
              <a:buFont typeface="Arial"/>
              <a:buChar char="⚬"/>
            </a:pPr>
            <a:r>
              <a:rPr lang="en-US" b="true" sz="1901" spc="-39">
                <a:solidFill>
                  <a:srgbClr val="163B42"/>
                </a:solidFill>
                <a:latin typeface="Aileron Bold"/>
                <a:ea typeface="Aileron Bold"/>
                <a:cs typeface="Aileron Bold"/>
                <a:sym typeface="Aileron Bold"/>
              </a:rPr>
              <a:t>patience_rate (~0.45)</a:t>
            </a:r>
            <a:r>
              <a:rPr lang="en-US" sz="1901" spc="-39">
                <a:solidFill>
                  <a:srgbClr val="163B42"/>
                </a:solidFill>
                <a:latin typeface="Aileron"/>
                <a:ea typeface="Aileron"/>
                <a:cs typeface="Aileron"/>
                <a:sym typeface="Aileron"/>
              </a:rPr>
              <a:t> historical customer RT.</a:t>
            </a:r>
          </a:p>
          <a:p>
            <a:pPr algn="l" marL="820950" indent="-273650" lvl="2">
              <a:lnSpc>
                <a:spcPts val="2319"/>
              </a:lnSpc>
              <a:buFont typeface="Arial"/>
              <a:buChar char="⚬"/>
            </a:pPr>
            <a:r>
              <a:rPr lang="en-US" b="true" sz="1901" spc="-39">
                <a:solidFill>
                  <a:srgbClr val="163B42"/>
                </a:solidFill>
                <a:latin typeface="Aileron Bold"/>
                <a:ea typeface="Aileron Bold"/>
                <a:cs typeface="Aileron Bold"/>
                <a:sym typeface="Aileron Bold"/>
              </a:rPr>
              <a:t>log_discount_k (~0.21)</a:t>
            </a:r>
            <a:r>
              <a:rPr lang="en-US" sz="1901" spc="-39">
                <a:solidFill>
                  <a:srgbClr val="163B42"/>
                </a:solidFill>
                <a:latin typeface="Aileron"/>
                <a:ea typeface="Aileron"/>
                <a:cs typeface="Aileron"/>
                <a:sym typeface="Aileron"/>
              </a:rPr>
              <a:t> — how steeply someone discounts future rewards.</a:t>
            </a:r>
          </a:p>
          <a:p>
            <a:pPr algn="l">
              <a:lnSpc>
                <a:spcPts val="2319"/>
              </a:lnSpc>
            </a:pP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SHAP confirms the same story who the person is (patience_rate) matters far more than what the offer is. </a:t>
            </a:r>
          </a:p>
        </p:txBody>
      </p:sp>
      <p:sp>
        <p:nvSpPr>
          <p:cNvPr name="TextBox 24" id="24"/>
          <p:cNvSpPr txBox="true"/>
          <p:nvPr/>
        </p:nvSpPr>
        <p:spPr>
          <a:xfrm rot="0">
            <a:off x="12509596" y="6167373"/>
            <a:ext cx="4332938" cy="2576446"/>
          </a:xfrm>
          <a:prstGeom prst="rect">
            <a:avLst/>
          </a:prstGeom>
        </p:spPr>
        <p:txBody>
          <a:bodyPr anchor="t" rtlCol="false" tIns="0" lIns="0" bIns="0" rIns="0">
            <a:spAutoFit/>
          </a:bodyPr>
          <a:lstStyle/>
          <a:p>
            <a:pPr algn="l" marL="410475" indent="-205238" lvl="1">
              <a:lnSpc>
                <a:spcPts val="2319"/>
              </a:lnSpc>
              <a:buFont typeface="Arial"/>
              <a:buChar char="•"/>
            </a:pPr>
            <a:r>
              <a:rPr lang="en-US" b="true" sz="1901" spc="-39">
                <a:solidFill>
                  <a:srgbClr val="163B42"/>
                </a:solidFill>
                <a:latin typeface="Aileron Bold"/>
                <a:ea typeface="Aileron Bold"/>
                <a:cs typeface="Aileron Bold"/>
                <a:sym typeface="Aileron Bold"/>
              </a:rPr>
              <a:t>Key drivers:</a:t>
            </a:r>
          </a:p>
          <a:p>
            <a:pPr algn="l" marL="820950" indent="-273650" lvl="2">
              <a:lnSpc>
                <a:spcPts val="2319"/>
              </a:lnSpc>
              <a:buFont typeface="Arial"/>
              <a:buChar char="⚬"/>
            </a:pPr>
            <a:r>
              <a:rPr lang="en-US" b="true" sz="1901" spc="-39">
                <a:solidFill>
                  <a:srgbClr val="163B42"/>
                </a:solidFill>
                <a:latin typeface="Aileron Bold"/>
                <a:ea typeface="Aileron Bold"/>
                <a:cs typeface="Aileron Bold"/>
                <a:sym typeface="Aileron Bold"/>
              </a:rPr>
              <a:t>delay_diff </a:t>
            </a:r>
            <a:r>
              <a:rPr lang="en-US" sz="1901" spc="-39">
                <a:solidFill>
                  <a:srgbClr val="163B42"/>
                </a:solidFill>
                <a:latin typeface="Aileron"/>
                <a:ea typeface="Aileron"/>
                <a:cs typeface="Aileron"/>
                <a:sym typeface="Aileron"/>
              </a:rPr>
              <a:t>(0.066)</a:t>
            </a:r>
          </a:p>
          <a:p>
            <a:pPr algn="l" marL="820950" indent="-273650" lvl="2">
              <a:lnSpc>
                <a:spcPts val="2319"/>
              </a:lnSpc>
              <a:buFont typeface="Arial"/>
              <a:buChar char="⚬"/>
            </a:pPr>
            <a:r>
              <a:rPr lang="en-US" b="true" sz="1901" spc="-39">
                <a:solidFill>
                  <a:srgbClr val="163B42"/>
                </a:solidFill>
                <a:latin typeface="Aileron Bold"/>
                <a:ea typeface="Aileron Bold"/>
                <a:cs typeface="Aileron Bold"/>
                <a:sym typeface="Aileron Bold"/>
              </a:rPr>
              <a:t>value_ratio </a:t>
            </a:r>
            <a:r>
              <a:rPr lang="en-US" sz="1901" spc="-39">
                <a:solidFill>
                  <a:srgbClr val="163B42"/>
                </a:solidFill>
                <a:latin typeface="Aileron"/>
                <a:ea typeface="Aileron"/>
                <a:cs typeface="Aileron"/>
                <a:sym typeface="Aileron"/>
              </a:rPr>
              <a:t>(0.065)</a:t>
            </a:r>
          </a:p>
          <a:p>
            <a:pPr algn="l" marL="820950" indent="-273650" lvl="2">
              <a:lnSpc>
                <a:spcPts val="2319"/>
              </a:lnSpc>
              <a:buFont typeface="Arial"/>
              <a:buChar char="⚬"/>
            </a:pPr>
            <a:r>
              <a:rPr lang="en-US" b="true" sz="1901" spc="-39">
                <a:solidFill>
                  <a:srgbClr val="163B42"/>
                </a:solidFill>
                <a:latin typeface="Aileron Bold"/>
                <a:ea typeface="Aileron Bold"/>
                <a:cs typeface="Aileron Bold"/>
                <a:sym typeface="Aileron Bold"/>
              </a:rPr>
              <a:t>fixed_all_value </a:t>
            </a:r>
            <a:r>
              <a:rPr lang="en-US" sz="1901" spc="-39">
                <a:solidFill>
                  <a:srgbClr val="163B42"/>
                </a:solidFill>
                <a:latin typeface="Aileron"/>
                <a:ea typeface="Aileron"/>
                <a:cs typeface="Aileron"/>
                <a:sym typeface="Aileron"/>
              </a:rPr>
              <a:t>(0.047) — When the premium value is anchored and visible, it paradoxically pushes customers away</a:t>
            </a:r>
          </a:p>
          <a:p>
            <a:pPr algn="l" marL="410475" indent="-205238" lvl="1">
              <a:lnSpc>
                <a:spcPts val="2319"/>
              </a:lnSpc>
              <a:buFont typeface="Arial"/>
              <a:buChar char="•"/>
            </a:pPr>
            <a:r>
              <a:rPr lang="en-US" sz="1901" spc="-39">
                <a:solidFill>
                  <a:srgbClr val="163B42"/>
                </a:solidFill>
                <a:latin typeface="Aileron"/>
                <a:ea typeface="Aileron"/>
                <a:cs typeface="Aileron"/>
                <a:sym typeface="Aileron"/>
              </a:rPr>
              <a:t>Model confirms that customer decisions are non-linear and complex.</a:t>
            </a:r>
          </a:p>
        </p:txBody>
      </p:sp>
      <p:sp>
        <p:nvSpPr>
          <p:cNvPr name="TextBox 25" id="2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028700" y="4273705"/>
            <a:ext cx="16346846" cy="1572900"/>
            <a:chOff x="0" y="0"/>
            <a:chExt cx="4465291" cy="429652"/>
          </a:xfrm>
        </p:grpSpPr>
        <p:sp>
          <p:nvSpPr>
            <p:cNvPr name="Freeform 4" id="4"/>
            <p:cNvSpPr/>
            <p:nvPr/>
          </p:nvSpPr>
          <p:spPr>
            <a:xfrm flipH="false" flipV="false" rot="0">
              <a:off x="0" y="0"/>
              <a:ext cx="4465291" cy="429652"/>
            </a:xfrm>
            <a:custGeom>
              <a:avLst/>
              <a:gdLst/>
              <a:ahLst/>
              <a:cxnLst/>
              <a:rect r="r" b="b" t="t" l="l"/>
              <a:pathLst>
                <a:path h="429652" w="4465291">
                  <a:moveTo>
                    <a:pt x="16576" y="0"/>
                  </a:moveTo>
                  <a:lnTo>
                    <a:pt x="4448715" y="0"/>
                  </a:lnTo>
                  <a:cubicBezTo>
                    <a:pt x="4453111" y="0"/>
                    <a:pt x="4457328" y="1746"/>
                    <a:pt x="4460436" y="4855"/>
                  </a:cubicBezTo>
                  <a:cubicBezTo>
                    <a:pt x="4463545" y="7964"/>
                    <a:pt x="4465291" y="12180"/>
                    <a:pt x="4465291" y="16576"/>
                  </a:cubicBezTo>
                  <a:lnTo>
                    <a:pt x="4465291" y="413076"/>
                  </a:lnTo>
                  <a:cubicBezTo>
                    <a:pt x="4465291" y="417472"/>
                    <a:pt x="4463545" y="421688"/>
                    <a:pt x="4460436" y="424797"/>
                  </a:cubicBezTo>
                  <a:cubicBezTo>
                    <a:pt x="4457328" y="427906"/>
                    <a:pt x="4453111" y="429652"/>
                    <a:pt x="4448715" y="429652"/>
                  </a:cubicBezTo>
                  <a:lnTo>
                    <a:pt x="16576" y="429652"/>
                  </a:lnTo>
                  <a:cubicBezTo>
                    <a:pt x="12180" y="429652"/>
                    <a:pt x="7964" y="427906"/>
                    <a:pt x="4855" y="424797"/>
                  </a:cubicBezTo>
                  <a:cubicBezTo>
                    <a:pt x="1746" y="421688"/>
                    <a:pt x="0" y="417472"/>
                    <a:pt x="0" y="413076"/>
                  </a:cubicBezTo>
                  <a:lnTo>
                    <a:pt x="0" y="16576"/>
                  </a:lnTo>
                  <a:cubicBezTo>
                    <a:pt x="0" y="12180"/>
                    <a:pt x="1746" y="7964"/>
                    <a:pt x="4855" y="4855"/>
                  </a:cubicBezTo>
                  <a:cubicBezTo>
                    <a:pt x="7964" y="1746"/>
                    <a:pt x="12180" y="0"/>
                    <a:pt x="16576" y="0"/>
                  </a:cubicBezTo>
                  <a:close/>
                </a:path>
              </a:pathLst>
            </a:custGeom>
            <a:solidFill>
              <a:srgbClr val="709F87"/>
            </a:solidFill>
            <a:ln w="19050" cap="rnd">
              <a:solidFill>
                <a:srgbClr val="FFFFFF"/>
              </a:solidFill>
              <a:prstDash val="solid"/>
              <a:round/>
            </a:ln>
          </p:spPr>
        </p:sp>
        <p:sp>
          <p:nvSpPr>
            <p:cNvPr name="TextBox 5" id="5"/>
            <p:cNvSpPr txBox="true"/>
            <p:nvPr/>
          </p:nvSpPr>
          <p:spPr>
            <a:xfrm>
              <a:off x="0" y="85725"/>
              <a:ext cx="4465291" cy="343927"/>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6" id="6"/>
          <p:cNvGrpSpPr/>
          <p:nvPr/>
        </p:nvGrpSpPr>
        <p:grpSpPr>
          <a:xfrm rot="0">
            <a:off x="1028700" y="5979955"/>
            <a:ext cx="16346846" cy="1572900"/>
            <a:chOff x="0" y="0"/>
            <a:chExt cx="4465291" cy="429652"/>
          </a:xfrm>
        </p:grpSpPr>
        <p:sp>
          <p:nvSpPr>
            <p:cNvPr name="Freeform 7" id="7"/>
            <p:cNvSpPr/>
            <p:nvPr/>
          </p:nvSpPr>
          <p:spPr>
            <a:xfrm flipH="false" flipV="false" rot="0">
              <a:off x="0" y="0"/>
              <a:ext cx="4465291" cy="429652"/>
            </a:xfrm>
            <a:custGeom>
              <a:avLst/>
              <a:gdLst/>
              <a:ahLst/>
              <a:cxnLst/>
              <a:rect r="r" b="b" t="t" l="l"/>
              <a:pathLst>
                <a:path h="429652" w="4465291">
                  <a:moveTo>
                    <a:pt x="16576" y="0"/>
                  </a:moveTo>
                  <a:lnTo>
                    <a:pt x="4448715" y="0"/>
                  </a:lnTo>
                  <a:cubicBezTo>
                    <a:pt x="4453111" y="0"/>
                    <a:pt x="4457328" y="1746"/>
                    <a:pt x="4460436" y="4855"/>
                  </a:cubicBezTo>
                  <a:cubicBezTo>
                    <a:pt x="4463545" y="7964"/>
                    <a:pt x="4465291" y="12180"/>
                    <a:pt x="4465291" y="16576"/>
                  </a:cubicBezTo>
                  <a:lnTo>
                    <a:pt x="4465291" y="413076"/>
                  </a:lnTo>
                  <a:cubicBezTo>
                    <a:pt x="4465291" y="417472"/>
                    <a:pt x="4463545" y="421688"/>
                    <a:pt x="4460436" y="424797"/>
                  </a:cubicBezTo>
                  <a:cubicBezTo>
                    <a:pt x="4457328" y="427906"/>
                    <a:pt x="4453111" y="429652"/>
                    <a:pt x="4448715" y="429652"/>
                  </a:cubicBezTo>
                  <a:lnTo>
                    <a:pt x="16576" y="429652"/>
                  </a:lnTo>
                  <a:cubicBezTo>
                    <a:pt x="12180" y="429652"/>
                    <a:pt x="7964" y="427906"/>
                    <a:pt x="4855" y="424797"/>
                  </a:cubicBezTo>
                  <a:cubicBezTo>
                    <a:pt x="1746" y="421688"/>
                    <a:pt x="0" y="417472"/>
                    <a:pt x="0" y="413076"/>
                  </a:cubicBezTo>
                  <a:lnTo>
                    <a:pt x="0" y="16576"/>
                  </a:lnTo>
                  <a:cubicBezTo>
                    <a:pt x="0" y="12180"/>
                    <a:pt x="1746" y="7964"/>
                    <a:pt x="4855" y="4855"/>
                  </a:cubicBezTo>
                  <a:cubicBezTo>
                    <a:pt x="7964" y="1746"/>
                    <a:pt x="12180" y="0"/>
                    <a:pt x="16576" y="0"/>
                  </a:cubicBezTo>
                  <a:close/>
                </a:path>
              </a:pathLst>
            </a:custGeom>
            <a:solidFill>
              <a:srgbClr val="163B42"/>
            </a:solidFill>
            <a:ln w="19050" cap="rnd">
              <a:solidFill>
                <a:srgbClr val="FFFFFF"/>
              </a:solidFill>
              <a:prstDash val="solid"/>
              <a:round/>
            </a:ln>
          </p:spPr>
        </p:sp>
        <p:sp>
          <p:nvSpPr>
            <p:cNvPr name="TextBox 8" id="8"/>
            <p:cNvSpPr txBox="true"/>
            <p:nvPr/>
          </p:nvSpPr>
          <p:spPr>
            <a:xfrm>
              <a:off x="0" y="85725"/>
              <a:ext cx="4465291" cy="343927"/>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9" id="9"/>
          <p:cNvGrpSpPr/>
          <p:nvPr/>
        </p:nvGrpSpPr>
        <p:grpSpPr>
          <a:xfrm rot="0">
            <a:off x="1028700" y="7686205"/>
            <a:ext cx="16346846" cy="1572900"/>
            <a:chOff x="0" y="0"/>
            <a:chExt cx="4465291" cy="429652"/>
          </a:xfrm>
        </p:grpSpPr>
        <p:sp>
          <p:nvSpPr>
            <p:cNvPr name="Freeform 10" id="10"/>
            <p:cNvSpPr/>
            <p:nvPr/>
          </p:nvSpPr>
          <p:spPr>
            <a:xfrm flipH="false" flipV="false" rot="0">
              <a:off x="0" y="0"/>
              <a:ext cx="4465291" cy="429652"/>
            </a:xfrm>
            <a:custGeom>
              <a:avLst/>
              <a:gdLst/>
              <a:ahLst/>
              <a:cxnLst/>
              <a:rect r="r" b="b" t="t" l="l"/>
              <a:pathLst>
                <a:path h="429652" w="4465291">
                  <a:moveTo>
                    <a:pt x="16576" y="0"/>
                  </a:moveTo>
                  <a:lnTo>
                    <a:pt x="4448715" y="0"/>
                  </a:lnTo>
                  <a:cubicBezTo>
                    <a:pt x="4453111" y="0"/>
                    <a:pt x="4457328" y="1746"/>
                    <a:pt x="4460436" y="4855"/>
                  </a:cubicBezTo>
                  <a:cubicBezTo>
                    <a:pt x="4463545" y="7964"/>
                    <a:pt x="4465291" y="12180"/>
                    <a:pt x="4465291" y="16576"/>
                  </a:cubicBezTo>
                  <a:lnTo>
                    <a:pt x="4465291" y="413076"/>
                  </a:lnTo>
                  <a:cubicBezTo>
                    <a:pt x="4465291" y="417472"/>
                    <a:pt x="4463545" y="421688"/>
                    <a:pt x="4460436" y="424797"/>
                  </a:cubicBezTo>
                  <a:cubicBezTo>
                    <a:pt x="4457328" y="427906"/>
                    <a:pt x="4453111" y="429652"/>
                    <a:pt x="4448715" y="429652"/>
                  </a:cubicBezTo>
                  <a:lnTo>
                    <a:pt x="16576" y="429652"/>
                  </a:lnTo>
                  <a:cubicBezTo>
                    <a:pt x="12180" y="429652"/>
                    <a:pt x="7964" y="427906"/>
                    <a:pt x="4855" y="424797"/>
                  </a:cubicBezTo>
                  <a:cubicBezTo>
                    <a:pt x="1746" y="421688"/>
                    <a:pt x="0" y="417472"/>
                    <a:pt x="0" y="413076"/>
                  </a:cubicBezTo>
                  <a:lnTo>
                    <a:pt x="0" y="16576"/>
                  </a:lnTo>
                  <a:cubicBezTo>
                    <a:pt x="0" y="12180"/>
                    <a:pt x="1746" y="7964"/>
                    <a:pt x="4855" y="4855"/>
                  </a:cubicBezTo>
                  <a:cubicBezTo>
                    <a:pt x="7964" y="1746"/>
                    <a:pt x="12180" y="0"/>
                    <a:pt x="16576" y="0"/>
                  </a:cubicBezTo>
                  <a:close/>
                </a:path>
              </a:pathLst>
            </a:custGeom>
            <a:solidFill>
              <a:srgbClr val="163B42"/>
            </a:solidFill>
            <a:ln w="19050" cap="rnd">
              <a:solidFill>
                <a:srgbClr val="FFFFFF"/>
              </a:solidFill>
              <a:prstDash val="solid"/>
              <a:round/>
            </a:ln>
          </p:spPr>
        </p:sp>
        <p:sp>
          <p:nvSpPr>
            <p:cNvPr name="TextBox 11" id="11"/>
            <p:cNvSpPr txBox="true"/>
            <p:nvPr/>
          </p:nvSpPr>
          <p:spPr>
            <a:xfrm>
              <a:off x="0" y="85725"/>
              <a:ext cx="4465291" cy="343927"/>
            </a:xfrm>
            <a:prstGeom prst="rect">
              <a:avLst/>
            </a:prstGeom>
          </p:spPr>
          <p:txBody>
            <a:bodyPr anchor="ctr" rtlCol="false" tIns="48980" lIns="48980" bIns="48980" rIns="48980"/>
            <a:lstStyle/>
            <a:p>
              <a:pPr algn="ctr" marL="0" indent="0" lvl="0">
                <a:lnSpc>
                  <a:spcPts val="2218"/>
                </a:lnSpc>
                <a:spcBef>
                  <a:spcPct val="0"/>
                </a:spcBef>
              </a:pPr>
            </a:p>
          </p:txBody>
        </p:sp>
      </p:grpSp>
      <p:sp>
        <p:nvSpPr>
          <p:cNvPr name="Freeform 12" id="12"/>
          <p:cNvSpPr/>
          <p:nvPr/>
        </p:nvSpPr>
        <p:spPr>
          <a:xfrm flipH="false" flipV="false" rot="5120089">
            <a:off x="-3021265" y="-3988519"/>
            <a:ext cx="13529234" cy="13529234"/>
          </a:xfrm>
          <a:custGeom>
            <a:avLst/>
            <a:gdLst/>
            <a:ahLst/>
            <a:cxnLst/>
            <a:rect r="r" b="b" t="t" l="l"/>
            <a:pathLst>
              <a:path h="13529234" w="13529234">
                <a:moveTo>
                  <a:pt x="0" y="0"/>
                </a:moveTo>
                <a:lnTo>
                  <a:pt x="13529234" y="0"/>
                </a:lnTo>
                <a:lnTo>
                  <a:pt x="13529234" y="13529234"/>
                </a:lnTo>
                <a:lnTo>
                  <a:pt x="0" y="13529234"/>
                </a:lnTo>
                <a:lnTo>
                  <a:pt x="0" y="0"/>
                </a:lnTo>
                <a:close/>
              </a:path>
            </a:pathLst>
          </a:custGeom>
          <a:blipFill>
            <a:blip r:embed="rId3">
              <a:alphaModFix amt="6000"/>
            </a:blip>
            <a:stretch>
              <a:fillRect l="0" t="0" r="0" b="0"/>
            </a:stretch>
          </a:blipFill>
        </p:spPr>
      </p:sp>
      <p:sp>
        <p:nvSpPr>
          <p:cNvPr name="Freeform 13" id="13"/>
          <p:cNvSpPr/>
          <p:nvPr/>
        </p:nvSpPr>
        <p:spPr>
          <a:xfrm flipH="false" flipV="false" rot="5120089">
            <a:off x="-848034" y="-2084840"/>
            <a:ext cx="8981122" cy="8981122"/>
          </a:xfrm>
          <a:custGeom>
            <a:avLst/>
            <a:gdLst/>
            <a:ahLst/>
            <a:cxnLst/>
            <a:rect r="r" b="b" t="t" l="l"/>
            <a:pathLst>
              <a:path h="8981122" w="8981122">
                <a:moveTo>
                  <a:pt x="0" y="0"/>
                </a:moveTo>
                <a:lnTo>
                  <a:pt x="8981122" y="0"/>
                </a:lnTo>
                <a:lnTo>
                  <a:pt x="8981122" y="8981122"/>
                </a:lnTo>
                <a:lnTo>
                  <a:pt x="0" y="8981122"/>
                </a:lnTo>
                <a:lnTo>
                  <a:pt x="0" y="0"/>
                </a:lnTo>
                <a:close/>
              </a:path>
            </a:pathLst>
          </a:custGeom>
          <a:blipFill>
            <a:blip r:embed="rId3">
              <a:alphaModFix amt="12000"/>
            </a:blip>
            <a:stretch>
              <a:fillRect l="0" t="0" r="0" b="0"/>
            </a:stretch>
          </a:blipFill>
        </p:spPr>
      </p:sp>
      <p:sp>
        <p:nvSpPr>
          <p:cNvPr name="TextBox 14" id="14"/>
          <p:cNvSpPr txBox="true"/>
          <p:nvPr/>
        </p:nvSpPr>
        <p:spPr>
          <a:xfrm rot="0">
            <a:off x="1223035" y="980035"/>
            <a:ext cx="10084065" cy="1155976"/>
          </a:xfrm>
          <a:prstGeom prst="rect">
            <a:avLst/>
          </a:prstGeom>
        </p:spPr>
        <p:txBody>
          <a:bodyPr anchor="t" rtlCol="false" tIns="0" lIns="0" bIns="0" rIns="0">
            <a:spAutoFit/>
          </a:bodyPr>
          <a:lstStyle/>
          <a:p>
            <a:pPr algn="l">
              <a:lnSpc>
                <a:spcPts val="8613"/>
              </a:lnSpc>
            </a:pPr>
            <a:r>
              <a:rPr lang="en-US" b="true" sz="8700" spc="-817">
                <a:solidFill>
                  <a:srgbClr val="FFFFFF"/>
                </a:solidFill>
                <a:latin typeface="Canva Sans Bold"/>
                <a:ea typeface="Canva Sans Bold"/>
                <a:cs typeface="Canva Sans Bold"/>
                <a:sym typeface="Canva Sans Bold"/>
              </a:rPr>
              <a:t>Feature Engineering</a:t>
            </a:r>
          </a:p>
        </p:txBody>
      </p:sp>
      <p:grpSp>
        <p:nvGrpSpPr>
          <p:cNvPr name="Group 15" id="15"/>
          <p:cNvGrpSpPr/>
          <p:nvPr/>
        </p:nvGrpSpPr>
        <p:grpSpPr>
          <a:xfrm rot="0">
            <a:off x="1028700" y="2567454"/>
            <a:ext cx="16346846" cy="1572900"/>
            <a:chOff x="0" y="0"/>
            <a:chExt cx="4465291" cy="429652"/>
          </a:xfrm>
        </p:grpSpPr>
        <p:sp>
          <p:nvSpPr>
            <p:cNvPr name="Freeform 16" id="16"/>
            <p:cNvSpPr/>
            <p:nvPr/>
          </p:nvSpPr>
          <p:spPr>
            <a:xfrm flipH="false" flipV="false" rot="0">
              <a:off x="0" y="0"/>
              <a:ext cx="4465291" cy="429652"/>
            </a:xfrm>
            <a:custGeom>
              <a:avLst/>
              <a:gdLst/>
              <a:ahLst/>
              <a:cxnLst/>
              <a:rect r="r" b="b" t="t" l="l"/>
              <a:pathLst>
                <a:path h="429652" w="4465291">
                  <a:moveTo>
                    <a:pt x="16576" y="0"/>
                  </a:moveTo>
                  <a:lnTo>
                    <a:pt x="4448715" y="0"/>
                  </a:lnTo>
                  <a:cubicBezTo>
                    <a:pt x="4453111" y="0"/>
                    <a:pt x="4457328" y="1746"/>
                    <a:pt x="4460436" y="4855"/>
                  </a:cubicBezTo>
                  <a:cubicBezTo>
                    <a:pt x="4463545" y="7964"/>
                    <a:pt x="4465291" y="12180"/>
                    <a:pt x="4465291" y="16576"/>
                  </a:cubicBezTo>
                  <a:lnTo>
                    <a:pt x="4465291" y="413076"/>
                  </a:lnTo>
                  <a:cubicBezTo>
                    <a:pt x="4465291" y="417472"/>
                    <a:pt x="4463545" y="421688"/>
                    <a:pt x="4460436" y="424797"/>
                  </a:cubicBezTo>
                  <a:cubicBezTo>
                    <a:pt x="4457328" y="427906"/>
                    <a:pt x="4453111" y="429652"/>
                    <a:pt x="4448715" y="429652"/>
                  </a:cubicBezTo>
                  <a:lnTo>
                    <a:pt x="16576" y="429652"/>
                  </a:lnTo>
                  <a:cubicBezTo>
                    <a:pt x="12180" y="429652"/>
                    <a:pt x="7964" y="427906"/>
                    <a:pt x="4855" y="424797"/>
                  </a:cubicBezTo>
                  <a:cubicBezTo>
                    <a:pt x="1746" y="421688"/>
                    <a:pt x="0" y="417472"/>
                    <a:pt x="0" y="413076"/>
                  </a:cubicBezTo>
                  <a:lnTo>
                    <a:pt x="0" y="16576"/>
                  </a:lnTo>
                  <a:cubicBezTo>
                    <a:pt x="0" y="12180"/>
                    <a:pt x="1746" y="7964"/>
                    <a:pt x="4855" y="4855"/>
                  </a:cubicBezTo>
                  <a:cubicBezTo>
                    <a:pt x="7964" y="1746"/>
                    <a:pt x="12180" y="0"/>
                    <a:pt x="16576" y="0"/>
                  </a:cubicBezTo>
                  <a:close/>
                </a:path>
              </a:pathLst>
            </a:custGeom>
            <a:solidFill>
              <a:srgbClr val="70A288"/>
            </a:solidFill>
            <a:ln w="19050" cap="rnd">
              <a:solidFill>
                <a:srgbClr val="FFFFFF"/>
              </a:solidFill>
              <a:prstDash val="solid"/>
              <a:round/>
            </a:ln>
          </p:spPr>
        </p:sp>
        <p:sp>
          <p:nvSpPr>
            <p:cNvPr name="TextBox 17" id="17"/>
            <p:cNvSpPr txBox="true"/>
            <p:nvPr/>
          </p:nvSpPr>
          <p:spPr>
            <a:xfrm>
              <a:off x="0" y="85725"/>
              <a:ext cx="4465291" cy="343927"/>
            </a:xfrm>
            <a:prstGeom prst="rect">
              <a:avLst/>
            </a:prstGeom>
          </p:spPr>
          <p:txBody>
            <a:bodyPr anchor="ctr" rtlCol="false" tIns="48980" lIns="48980" bIns="48980" rIns="48980"/>
            <a:lstStyle/>
            <a:p>
              <a:pPr algn="ctr" marL="0" indent="0" lvl="0">
                <a:lnSpc>
                  <a:spcPts val="2218"/>
                </a:lnSpc>
                <a:spcBef>
                  <a:spcPct val="0"/>
                </a:spcBef>
              </a:pPr>
            </a:p>
          </p:txBody>
        </p:sp>
      </p:grpSp>
      <p:sp>
        <p:nvSpPr>
          <p:cNvPr name="TextBox 18" id="18"/>
          <p:cNvSpPr txBox="true"/>
          <p:nvPr/>
        </p:nvSpPr>
        <p:spPr>
          <a:xfrm rot="0">
            <a:off x="1420365" y="2894279"/>
            <a:ext cx="4448914" cy="239644"/>
          </a:xfrm>
          <a:prstGeom prst="rect">
            <a:avLst/>
          </a:prstGeom>
        </p:spPr>
        <p:txBody>
          <a:bodyPr anchor="t" rtlCol="false" tIns="0" lIns="0" bIns="0" rIns="0">
            <a:spAutoFit/>
          </a:bodyPr>
          <a:lstStyle/>
          <a:p>
            <a:pPr algn="l">
              <a:lnSpc>
                <a:spcPts val="1824"/>
              </a:lnSpc>
            </a:pPr>
            <a:r>
              <a:rPr lang="en-US" b="true" sz="1842">
                <a:solidFill>
                  <a:srgbClr val="FFFFFF"/>
                </a:solidFill>
                <a:latin typeface="Canva Sans Bold"/>
                <a:ea typeface="Canva Sans Bold"/>
                <a:cs typeface="Canva Sans Bold"/>
                <a:sym typeface="Canva Sans Bold"/>
              </a:rPr>
              <a:t>VALUE DIFFERENCE (LL-SS)</a:t>
            </a:r>
          </a:p>
        </p:txBody>
      </p:sp>
      <p:sp>
        <p:nvSpPr>
          <p:cNvPr name="TextBox 19" id="19"/>
          <p:cNvSpPr txBox="true"/>
          <p:nvPr/>
        </p:nvSpPr>
        <p:spPr>
          <a:xfrm rot="0">
            <a:off x="1223035" y="3265909"/>
            <a:ext cx="11015228" cy="547875"/>
          </a:xfrm>
          <a:prstGeom prst="rect">
            <a:avLst/>
          </a:prstGeom>
        </p:spPr>
        <p:txBody>
          <a:bodyPr anchor="t" rtlCol="false" tIns="0" lIns="0" bIns="0" rIns="0">
            <a:spAutoFit/>
          </a:bodyPr>
          <a:lstStyle/>
          <a:p>
            <a:pPr algn="l" marL="388886" indent="-194443" lvl="1">
              <a:lnSpc>
                <a:spcPts val="2197"/>
              </a:lnSpc>
              <a:buFont typeface="Arial"/>
              <a:buChar char="•"/>
            </a:pPr>
            <a:r>
              <a:rPr lang="en-US" sz="1801" spc="-37">
                <a:solidFill>
                  <a:srgbClr val="F8F6F7"/>
                </a:solidFill>
                <a:latin typeface="Aileron"/>
                <a:ea typeface="Aileron"/>
                <a:cs typeface="Aileron"/>
                <a:sym typeface="Aileron"/>
              </a:rPr>
              <a:t>Measures how much more valuable the delayed reward is compared to the immediate one </a:t>
            </a:r>
          </a:p>
          <a:p>
            <a:pPr algn="l" marL="388886" indent="-194443" lvl="1">
              <a:lnSpc>
                <a:spcPts val="2197"/>
              </a:lnSpc>
              <a:buFont typeface="Arial"/>
              <a:buChar char="•"/>
            </a:pPr>
            <a:r>
              <a:rPr lang="en-US" sz="1801" spc="-37">
                <a:solidFill>
                  <a:srgbClr val="F8F6F7"/>
                </a:solidFill>
                <a:latin typeface="Aileron"/>
                <a:ea typeface="Aileron"/>
                <a:cs typeface="Aileron"/>
                <a:sym typeface="Aileron"/>
              </a:rPr>
              <a:t>A direct signal of the premium offer’s added benefit</a:t>
            </a:r>
          </a:p>
        </p:txBody>
      </p:sp>
      <p:sp>
        <p:nvSpPr>
          <p:cNvPr name="TextBox 20" id="20"/>
          <p:cNvSpPr txBox="true"/>
          <p:nvPr/>
        </p:nvSpPr>
        <p:spPr>
          <a:xfrm rot="0">
            <a:off x="1420365" y="4464205"/>
            <a:ext cx="6289778" cy="239644"/>
          </a:xfrm>
          <a:prstGeom prst="rect">
            <a:avLst/>
          </a:prstGeom>
        </p:spPr>
        <p:txBody>
          <a:bodyPr anchor="t" rtlCol="false" tIns="0" lIns="0" bIns="0" rIns="0">
            <a:spAutoFit/>
          </a:bodyPr>
          <a:lstStyle/>
          <a:p>
            <a:pPr algn="l">
              <a:lnSpc>
                <a:spcPts val="1824"/>
              </a:lnSpc>
            </a:pPr>
            <a:r>
              <a:rPr lang="en-US" sz="1842" b="true">
                <a:solidFill>
                  <a:srgbClr val="F8F6F7"/>
                </a:solidFill>
                <a:latin typeface="Canva Sans Bold"/>
                <a:ea typeface="Canva Sans Bold"/>
                <a:cs typeface="Canva Sans Bold"/>
                <a:sym typeface="Canva Sans Bold"/>
              </a:rPr>
              <a:t>TIME DIFFERENCE IN DAYS (LL DELAY-SS DELAY)</a:t>
            </a:r>
          </a:p>
        </p:txBody>
      </p:sp>
      <p:sp>
        <p:nvSpPr>
          <p:cNvPr name="TextBox 21" id="21"/>
          <p:cNvSpPr txBox="true"/>
          <p:nvPr/>
        </p:nvSpPr>
        <p:spPr>
          <a:xfrm rot="0">
            <a:off x="1223035" y="4835835"/>
            <a:ext cx="11015228" cy="824100"/>
          </a:xfrm>
          <a:prstGeom prst="rect">
            <a:avLst/>
          </a:prstGeom>
        </p:spPr>
        <p:txBody>
          <a:bodyPr anchor="t" rtlCol="false" tIns="0" lIns="0" bIns="0" rIns="0">
            <a:spAutoFit/>
          </a:bodyPr>
          <a:lstStyle/>
          <a:p>
            <a:pPr algn="l" marL="388886" indent="-194443" lvl="1">
              <a:lnSpc>
                <a:spcPts val="2197"/>
              </a:lnSpc>
              <a:buFont typeface="Arial"/>
              <a:buChar char="•"/>
            </a:pPr>
            <a:r>
              <a:rPr lang="en-US" sz="1801" spc="-37">
                <a:solidFill>
                  <a:srgbClr val="F8F6F7"/>
                </a:solidFill>
                <a:latin typeface="Aileron"/>
                <a:ea typeface="Aileron"/>
                <a:cs typeface="Aileron"/>
                <a:sym typeface="Aileron"/>
              </a:rPr>
              <a:t>Captures how much longer the delayed reward requires you to wait compared to the immediate option</a:t>
            </a:r>
          </a:p>
          <a:p>
            <a:pPr algn="l" marL="388886" indent="-194443" lvl="1">
              <a:lnSpc>
                <a:spcPts val="2197"/>
              </a:lnSpc>
              <a:buFont typeface="Arial"/>
              <a:buChar char="•"/>
            </a:pPr>
            <a:r>
              <a:rPr lang="en-US" sz="1801" spc="-37">
                <a:solidFill>
                  <a:srgbClr val="F8F6F7"/>
                </a:solidFill>
                <a:latin typeface="Aileron"/>
                <a:ea typeface="Aileron"/>
                <a:cs typeface="Aileron"/>
                <a:sym typeface="Aileron"/>
              </a:rPr>
              <a:t>Represents the psychological ‘cost of waiting,’ a key factor influencing whether users stick with the cheaper tier or consider upgrading</a:t>
            </a:r>
          </a:p>
        </p:txBody>
      </p:sp>
      <p:sp>
        <p:nvSpPr>
          <p:cNvPr name="TextBox 22" id="22"/>
          <p:cNvSpPr txBox="true"/>
          <p:nvPr/>
        </p:nvSpPr>
        <p:spPr>
          <a:xfrm rot="0">
            <a:off x="1420365" y="6170455"/>
            <a:ext cx="6289778" cy="239644"/>
          </a:xfrm>
          <a:prstGeom prst="rect">
            <a:avLst/>
          </a:prstGeom>
        </p:spPr>
        <p:txBody>
          <a:bodyPr anchor="t" rtlCol="false" tIns="0" lIns="0" bIns="0" rIns="0">
            <a:spAutoFit/>
          </a:bodyPr>
          <a:lstStyle/>
          <a:p>
            <a:pPr algn="l">
              <a:lnSpc>
                <a:spcPts val="1824"/>
              </a:lnSpc>
            </a:pPr>
            <a:r>
              <a:rPr lang="en-US" sz="1842" b="true">
                <a:solidFill>
                  <a:srgbClr val="F8F6F7"/>
                </a:solidFill>
                <a:latin typeface="Canva Sans Bold"/>
                <a:ea typeface="Canva Sans Bold"/>
                <a:cs typeface="Canva Sans Bold"/>
                <a:sym typeface="Canva Sans Bold"/>
              </a:rPr>
              <a:t>REWARD RATIO ( LL VALUE / SS VALUE)</a:t>
            </a:r>
          </a:p>
        </p:txBody>
      </p:sp>
      <p:sp>
        <p:nvSpPr>
          <p:cNvPr name="TextBox 23" id="23"/>
          <p:cNvSpPr txBox="true"/>
          <p:nvPr/>
        </p:nvSpPr>
        <p:spPr>
          <a:xfrm rot="0">
            <a:off x="1223035" y="6543449"/>
            <a:ext cx="11015228" cy="824100"/>
          </a:xfrm>
          <a:prstGeom prst="rect">
            <a:avLst/>
          </a:prstGeom>
        </p:spPr>
        <p:txBody>
          <a:bodyPr anchor="t" rtlCol="false" tIns="0" lIns="0" bIns="0" rIns="0">
            <a:spAutoFit/>
          </a:bodyPr>
          <a:lstStyle/>
          <a:p>
            <a:pPr algn="l" marL="388886" indent="-194443" lvl="1">
              <a:lnSpc>
                <a:spcPts val="2197"/>
              </a:lnSpc>
              <a:buFont typeface="Arial"/>
              <a:buChar char="•"/>
            </a:pPr>
            <a:r>
              <a:rPr lang="en-US" sz="1801" spc="-37">
                <a:solidFill>
                  <a:srgbClr val="F8F6F7"/>
                </a:solidFill>
                <a:latin typeface="Aileron"/>
                <a:ea typeface="Aileron"/>
                <a:cs typeface="Aileron"/>
                <a:sym typeface="Aileron"/>
              </a:rPr>
              <a:t>Measures how attractive the delayed reward is relative to the immediate one</a:t>
            </a:r>
          </a:p>
          <a:p>
            <a:pPr algn="l" marL="388886" indent="-194443" lvl="1">
              <a:lnSpc>
                <a:spcPts val="2197"/>
              </a:lnSpc>
              <a:buFont typeface="Arial"/>
              <a:buChar char="•"/>
            </a:pPr>
            <a:r>
              <a:rPr lang="en-US" sz="1801" spc="-37">
                <a:solidFill>
                  <a:srgbClr val="F8F6F7"/>
                </a:solidFill>
                <a:latin typeface="Aileron"/>
                <a:ea typeface="Aileron"/>
                <a:cs typeface="Aileron"/>
                <a:sym typeface="Aileron"/>
              </a:rPr>
              <a:t>Helps the model capture whether users respond more to relative value than absolute differences, which is often a stronger driver of upgrade behavior</a:t>
            </a:r>
          </a:p>
        </p:txBody>
      </p:sp>
      <p:sp>
        <p:nvSpPr>
          <p:cNvPr name="TextBox 24" id="24"/>
          <p:cNvSpPr txBox="true"/>
          <p:nvPr/>
        </p:nvSpPr>
        <p:spPr>
          <a:xfrm rot="0">
            <a:off x="1420365" y="7876705"/>
            <a:ext cx="6289778" cy="239644"/>
          </a:xfrm>
          <a:prstGeom prst="rect">
            <a:avLst/>
          </a:prstGeom>
        </p:spPr>
        <p:txBody>
          <a:bodyPr anchor="t" rtlCol="false" tIns="0" lIns="0" bIns="0" rIns="0">
            <a:spAutoFit/>
          </a:bodyPr>
          <a:lstStyle/>
          <a:p>
            <a:pPr algn="l">
              <a:lnSpc>
                <a:spcPts val="1824"/>
              </a:lnSpc>
            </a:pPr>
            <a:r>
              <a:rPr lang="en-US" sz="1842" b="true">
                <a:solidFill>
                  <a:srgbClr val="F8F6F7"/>
                </a:solidFill>
                <a:latin typeface="Canva Sans Bold"/>
                <a:ea typeface="Canva Sans Bold"/>
                <a:cs typeface="Canva Sans Bold"/>
                <a:sym typeface="Canva Sans Bold"/>
              </a:rPr>
              <a:t>AGE GROUP</a:t>
            </a:r>
          </a:p>
        </p:txBody>
      </p:sp>
      <p:sp>
        <p:nvSpPr>
          <p:cNvPr name="TextBox 25" id="25"/>
          <p:cNvSpPr txBox="true"/>
          <p:nvPr/>
        </p:nvSpPr>
        <p:spPr>
          <a:xfrm rot="0">
            <a:off x="1223035" y="8249699"/>
            <a:ext cx="11015228" cy="824100"/>
          </a:xfrm>
          <a:prstGeom prst="rect">
            <a:avLst/>
          </a:prstGeom>
        </p:spPr>
        <p:txBody>
          <a:bodyPr anchor="t" rtlCol="false" tIns="0" lIns="0" bIns="0" rIns="0">
            <a:spAutoFit/>
          </a:bodyPr>
          <a:lstStyle/>
          <a:p>
            <a:pPr algn="l" marL="388886" indent="-194443" lvl="1">
              <a:lnSpc>
                <a:spcPts val="2197"/>
              </a:lnSpc>
              <a:buFont typeface="Arial"/>
              <a:buChar char="•"/>
            </a:pPr>
            <a:r>
              <a:rPr lang="en-US" sz="1801" spc="-37">
                <a:solidFill>
                  <a:srgbClr val="F8F6F7"/>
                </a:solidFill>
                <a:latin typeface="Aileron"/>
                <a:ea typeface="Aileron"/>
                <a:cs typeface="Aileron"/>
                <a:sym typeface="Aileron"/>
              </a:rPr>
              <a:t>Age was binned into 12 granular brackets to avoid masking nonlinear behavioral patterns</a:t>
            </a:r>
          </a:p>
          <a:p>
            <a:pPr algn="l" marL="388886" indent="-194443" lvl="1">
              <a:lnSpc>
                <a:spcPts val="2197"/>
              </a:lnSpc>
              <a:buFont typeface="Arial"/>
              <a:buChar char="•"/>
            </a:pPr>
            <a:r>
              <a:rPr lang="en-US" sz="1801" spc="-37">
                <a:solidFill>
                  <a:srgbClr val="F8F6F7"/>
                </a:solidFill>
                <a:latin typeface="Aileron"/>
                <a:ea typeface="Aileron"/>
                <a:cs typeface="Aileron"/>
                <a:sym typeface="Aileron"/>
              </a:rPr>
              <a:t>This lets the model capture sharp shifts in impatience or upgrade likelihood that a single continuous age variable would smooth out</a:t>
            </a:r>
          </a:p>
        </p:txBody>
      </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538202" y="3147657"/>
            <a:ext cx="5211597" cy="5716601"/>
            <a:chOff x="0" y="0"/>
            <a:chExt cx="1440366" cy="1579938"/>
          </a:xfrm>
        </p:grpSpPr>
        <p:sp>
          <p:nvSpPr>
            <p:cNvPr name="Freeform 3" id="3"/>
            <p:cNvSpPr/>
            <p:nvPr/>
          </p:nvSpPr>
          <p:spPr>
            <a:xfrm flipH="false" flipV="false" rot="0">
              <a:off x="0" y="0"/>
              <a:ext cx="1440366" cy="1579938"/>
            </a:xfrm>
            <a:custGeom>
              <a:avLst/>
              <a:gdLst/>
              <a:ahLst/>
              <a:cxnLst/>
              <a:rect r="r" b="b" t="t" l="l"/>
              <a:pathLst>
                <a:path h="1579938" w="1440366">
                  <a:moveTo>
                    <a:pt x="50508" y="0"/>
                  </a:moveTo>
                  <a:lnTo>
                    <a:pt x="1389858" y="0"/>
                  </a:lnTo>
                  <a:cubicBezTo>
                    <a:pt x="1417753" y="0"/>
                    <a:pt x="1440366" y="22613"/>
                    <a:pt x="1440366" y="50508"/>
                  </a:cubicBezTo>
                  <a:lnTo>
                    <a:pt x="1440366" y="1529430"/>
                  </a:lnTo>
                  <a:cubicBezTo>
                    <a:pt x="1440366" y="1542825"/>
                    <a:pt x="1435045" y="1555672"/>
                    <a:pt x="1425573" y="1565144"/>
                  </a:cubicBezTo>
                  <a:cubicBezTo>
                    <a:pt x="1416101" y="1574616"/>
                    <a:pt x="1403254" y="1579938"/>
                    <a:pt x="1389858" y="1579938"/>
                  </a:cubicBezTo>
                  <a:lnTo>
                    <a:pt x="50508" y="1579938"/>
                  </a:lnTo>
                  <a:cubicBezTo>
                    <a:pt x="22613" y="1579938"/>
                    <a:pt x="0" y="1557325"/>
                    <a:pt x="0" y="1529430"/>
                  </a:cubicBezTo>
                  <a:lnTo>
                    <a:pt x="0" y="50508"/>
                  </a:lnTo>
                  <a:cubicBezTo>
                    <a:pt x="0" y="22613"/>
                    <a:pt x="22613" y="0"/>
                    <a:pt x="50508" y="0"/>
                  </a:cubicBezTo>
                  <a:close/>
                </a:path>
              </a:pathLst>
            </a:custGeom>
            <a:solidFill>
              <a:srgbClr val="2F605C">
                <a:alpha val="92941"/>
              </a:srgbClr>
            </a:solidFill>
            <a:ln w="19050" cap="rnd">
              <a:solidFill>
                <a:srgbClr val="163B42">
                  <a:alpha val="92941"/>
                </a:srgbClr>
              </a:solidFill>
              <a:prstDash val="solid"/>
              <a:round/>
            </a:ln>
          </p:spPr>
        </p:sp>
        <p:sp>
          <p:nvSpPr>
            <p:cNvPr name="TextBox 4" id="4"/>
            <p:cNvSpPr txBox="true"/>
            <p:nvPr/>
          </p:nvSpPr>
          <p:spPr>
            <a:xfrm>
              <a:off x="0" y="19050"/>
              <a:ext cx="1440366" cy="1560888"/>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5" id="5"/>
          <p:cNvGrpSpPr/>
          <p:nvPr/>
        </p:nvGrpSpPr>
        <p:grpSpPr>
          <a:xfrm rot="0">
            <a:off x="1080146" y="3173819"/>
            <a:ext cx="5211597" cy="5716601"/>
            <a:chOff x="0" y="0"/>
            <a:chExt cx="1440366" cy="1579938"/>
          </a:xfrm>
        </p:grpSpPr>
        <p:sp>
          <p:nvSpPr>
            <p:cNvPr name="Freeform 6" id="6"/>
            <p:cNvSpPr/>
            <p:nvPr/>
          </p:nvSpPr>
          <p:spPr>
            <a:xfrm flipH="false" flipV="false" rot="0">
              <a:off x="0" y="0"/>
              <a:ext cx="1440366" cy="1579938"/>
            </a:xfrm>
            <a:custGeom>
              <a:avLst/>
              <a:gdLst/>
              <a:ahLst/>
              <a:cxnLst/>
              <a:rect r="r" b="b" t="t" l="l"/>
              <a:pathLst>
                <a:path h="1579938" w="1440366">
                  <a:moveTo>
                    <a:pt x="50508" y="0"/>
                  </a:moveTo>
                  <a:lnTo>
                    <a:pt x="1389858" y="0"/>
                  </a:lnTo>
                  <a:cubicBezTo>
                    <a:pt x="1417753" y="0"/>
                    <a:pt x="1440366" y="22613"/>
                    <a:pt x="1440366" y="50508"/>
                  </a:cubicBezTo>
                  <a:lnTo>
                    <a:pt x="1440366" y="1529430"/>
                  </a:lnTo>
                  <a:cubicBezTo>
                    <a:pt x="1440366" y="1542825"/>
                    <a:pt x="1435045" y="1555672"/>
                    <a:pt x="1425573" y="1565144"/>
                  </a:cubicBezTo>
                  <a:cubicBezTo>
                    <a:pt x="1416101" y="1574616"/>
                    <a:pt x="1403254" y="1579938"/>
                    <a:pt x="1389858" y="1579938"/>
                  </a:cubicBezTo>
                  <a:lnTo>
                    <a:pt x="50508" y="1579938"/>
                  </a:lnTo>
                  <a:cubicBezTo>
                    <a:pt x="22613" y="1579938"/>
                    <a:pt x="0" y="1557325"/>
                    <a:pt x="0" y="1529430"/>
                  </a:cubicBezTo>
                  <a:lnTo>
                    <a:pt x="0" y="50508"/>
                  </a:lnTo>
                  <a:cubicBezTo>
                    <a:pt x="0" y="22613"/>
                    <a:pt x="22613" y="0"/>
                    <a:pt x="50508" y="0"/>
                  </a:cubicBezTo>
                  <a:close/>
                </a:path>
              </a:pathLst>
            </a:custGeom>
            <a:solidFill>
              <a:srgbClr val="9EBCAC">
                <a:alpha val="92941"/>
              </a:srgbClr>
            </a:solidFill>
            <a:ln w="19050" cap="rnd">
              <a:solidFill>
                <a:srgbClr val="163B42">
                  <a:alpha val="92941"/>
                </a:srgbClr>
              </a:solidFill>
              <a:prstDash val="solid"/>
              <a:round/>
            </a:ln>
          </p:spPr>
        </p:sp>
        <p:sp>
          <p:nvSpPr>
            <p:cNvPr name="TextBox 7" id="7"/>
            <p:cNvSpPr txBox="true"/>
            <p:nvPr/>
          </p:nvSpPr>
          <p:spPr>
            <a:xfrm>
              <a:off x="0" y="19050"/>
              <a:ext cx="1440366" cy="1560888"/>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8" id="8"/>
          <p:cNvGrpSpPr/>
          <p:nvPr/>
        </p:nvGrpSpPr>
        <p:grpSpPr>
          <a:xfrm rot="0">
            <a:off x="7122597" y="2895365"/>
            <a:ext cx="4059738" cy="900125"/>
            <a:chOff x="0" y="0"/>
            <a:chExt cx="1122019" cy="248774"/>
          </a:xfrm>
        </p:grpSpPr>
        <p:sp>
          <p:nvSpPr>
            <p:cNvPr name="Freeform 9" id="9"/>
            <p:cNvSpPr/>
            <p:nvPr/>
          </p:nvSpPr>
          <p:spPr>
            <a:xfrm flipH="false" flipV="false" rot="0">
              <a:off x="0" y="0"/>
              <a:ext cx="1122019" cy="248774"/>
            </a:xfrm>
            <a:custGeom>
              <a:avLst/>
              <a:gdLst/>
              <a:ahLst/>
              <a:cxnLst/>
              <a:rect r="r" b="b" t="t" l="l"/>
              <a:pathLst>
                <a:path h="248774" w="1122019">
                  <a:moveTo>
                    <a:pt x="41954" y="0"/>
                  </a:moveTo>
                  <a:lnTo>
                    <a:pt x="1080065" y="0"/>
                  </a:lnTo>
                  <a:cubicBezTo>
                    <a:pt x="1091192" y="0"/>
                    <a:pt x="1101863" y="4420"/>
                    <a:pt x="1109731" y="12288"/>
                  </a:cubicBezTo>
                  <a:cubicBezTo>
                    <a:pt x="1117598" y="20156"/>
                    <a:pt x="1122019" y="30827"/>
                    <a:pt x="1122019" y="41954"/>
                  </a:cubicBezTo>
                  <a:lnTo>
                    <a:pt x="1122019" y="206820"/>
                  </a:lnTo>
                  <a:cubicBezTo>
                    <a:pt x="1122019" y="217947"/>
                    <a:pt x="1117598" y="228618"/>
                    <a:pt x="1109731" y="236486"/>
                  </a:cubicBezTo>
                  <a:cubicBezTo>
                    <a:pt x="1101863" y="244354"/>
                    <a:pt x="1091192" y="248774"/>
                    <a:pt x="1080065" y="248774"/>
                  </a:cubicBezTo>
                  <a:lnTo>
                    <a:pt x="41954" y="248774"/>
                  </a:lnTo>
                  <a:cubicBezTo>
                    <a:pt x="30827" y="248774"/>
                    <a:pt x="20156" y="244354"/>
                    <a:pt x="12288" y="236486"/>
                  </a:cubicBezTo>
                  <a:cubicBezTo>
                    <a:pt x="4420" y="228618"/>
                    <a:pt x="0" y="217947"/>
                    <a:pt x="0" y="206820"/>
                  </a:cubicBezTo>
                  <a:lnTo>
                    <a:pt x="0" y="41954"/>
                  </a:lnTo>
                  <a:cubicBezTo>
                    <a:pt x="0" y="30827"/>
                    <a:pt x="4420" y="20156"/>
                    <a:pt x="12288" y="12288"/>
                  </a:cubicBezTo>
                  <a:cubicBezTo>
                    <a:pt x="20156" y="4420"/>
                    <a:pt x="30827" y="0"/>
                    <a:pt x="41954" y="0"/>
                  </a:cubicBezTo>
                  <a:close/>
                </a:path>
              </a:pathLst>
            </a:custGeom>
            <a:solidFill>
              <a:srgbClr val="FFFFFF"/>
            </a:solidFill>
            <a:ln w="19050" cap="rnd">
              <a:solidFill>
                <a:srgbClr val="163B42"/>
              </a:solidFill>
              <a:prstDash val="solid"/>
              <a:round/>
            </a:ln>
          </p:spPr>
        </p:sp>
        <p:sp>
          <p:nvSpPr>
            <p:cNvPr name="TextBox 10" id="10"/>
            <p:cNvSpPr txBox="true"/>
            <p:nvPr/>
          </p:nvSpPr>
          <p:spPr>
            <a:xfrm>
              <a:off x="0" y="19050"/>
              <a:ext cx="1122019" cy="229724"/>
            </a:xfrm>
            <a:prstGeom prst="rect">
              <a:avLst/>
            </a:prstGeom>
          </p:spPr>
          <p:txBody>
            <a:bodyPr anchor="ctr" rtlCol="false" tIns="50800" lIns="50800" bIns="50800" rIns="50800"/>
            <a:lstStyle/>
            <a:p>
              <a:pPr algn="ctr">
                <a:lnSpc>
                  <a:spcPts val="2160"/>
                </a:lnSpc>
              </a:pPr>
            </a:p>
          </p:txBody>
        </p:sp>
      </p:grpSp>
      <p:grpSp>
        <p:nvGrpSpPr>
          <p:cNvPr name="Group 11" id="11"/>
          <p:cNvGrpSpPr/>
          <p:nvPr/>
        </p:nvGrpSpPr>
        <p:grpSpPr>
          <a:xfrm rot="0">
            <a:off x="1656075" y="2895365"/>
            <a:ext cx="4059738" cy="900125"/>
            <a:chOff x="0" y="0"/>
            <a:chExt cx="1122019" cy="248774"/>
          </a:xfrm>
        </p:grpSpPr>
        <p:sp>
          <p:nvSpPr>
            <p:cNvPr name="Freeform 12" id="12"/>
            <p:cNvSpPr/>
            <p:nvPr/>
          </p:nvSpPr>
          <p:spPr>
            <a:xfrm flipH="false" flipV="false" rot="0">
              <a:off x="0" y="0"/>
              <a:ext cx="1122019" cy="248774"/>
            </a:xfrm>
            <a:custGeom>
              <a:avLst/>
              <a:gdLst/>
              <a:ahLst/>
              <a:cxnLst/>
              <a:rect r="r" b="b" t="t" l="l"/>
              <a:pathLst>
                <a:path h="248774" w="1122019">
                  <a:moveTo>
                    <a:pt x="41954" y="0"/>
                  </a:moveTo>
                  <a:lnTo>
                    <a:pt x="1080065" y="0"/>
                  </a:lnTo>
                  <a:cubicBezTo>
                    <a:pt x="1091192" y="0"/>
                    <a:pt x="1101863" y="4420"/>
                    <a:pt x="1109731" y="12288"/>
                  </a:cubicBezTo>
                  <a:cubicBezTo>
                    <a:pt x="1117598" y="20156"/>
                    <a:pt x="1122019" y="30827"/>
                    <a:pt x="1122019" y="41954"/>
                  </a:cubicBezTo>
                  <a:lnTo>
                    <a:pt x="1122019" y="206820"/>
                  </a:lnTo>
                  <a:cubicBezTo>
                    <a:pt x="1122019" y="217947"/>
                    <a:pt x="1117598" y="228618"/>
                    <a:pt x="1109731" y="236486"/>
                  </a:cubicBezTo>
                  <a:cubicBezTo>
                    <a:pt x="1101863" y="244354"/>
                    <a:pt x="1091192" y="248774"/>
                    <a:pt x="1080065" y="248774"/>
                  </a:cubicBezTo>
                  <a:lnTo>
                    <a:pt x="41954" y="248774"/>
                  </a:lnTo>
                  <a:cubicBezTo>
                    <a:pt x="30827" y="248774"/>
                    <a:pt x="20156" y="244354"/>
                    <a:pt x="12288" y="236486"/>
                  </a:cubicBezTo>
                  <a:cubicBezTo>
                    <a:pt x="4420" y="228618"/>
                    <a:pt x="0" y="217947"/>
                    <a:pt x="0" y="206820"/>
                  </a:cubicBezTo>
                  <a:lnTo>
                    <a:pt x="0" y="41954"/>
                  </a:lnTo>
                  <a:cubicBezTo>
                    <a:pt x="0" y="30827"/>
                    <a:pt x="4420" y="20156"/>
                    <a:pt x="12288" y="12288"/>
                  </a:cubicBezTo>
                  <a:cubicBezTo>
                    <a:pt x="20156" y="4420"/>
                    <a:pt x="30827" y="0"/>
                    <a:pt x="41954" y="0"/>
                  </a:cubicBezTo>
                  <a:close/>
                </a:path>
              </a:pathLst>
            </a:custGeom>
            <a:solidFill>
              <a:srgbClr val="FFFFFF"/>
            </a:solidFill>
            <a:ln w="19050" cap="rnd">
              <a:solidFill>
                <a:srgbClr val="163B42"/>
              </a:solidFill>
              <a:prstDash val="solid"/>
              <a:round/>
            </a:ln>
          </p:spPr>
        </p:sp>
        <p:sp>
          <p:nvSpPr>
            <p:cNvPr name="TextBox 13" id="13"/>
            <p:cNvSpPr txBox="true"/>
            <p:nvPr/>
          </p:nvSpPr>
          <p:spPr>
            <a:xfrm>
              <a:off x="0" y="19050"/>
              <a:ext cx="1122019" cy="229724"/>
            </a:xfrm>
            <a:prstGeom prst="rect">
              <a:avLst/>
            </a:prstGeom>
          </p:spPr>
          <p:txBody>
            <a:bodyPr anchor="ctr" rtlCol="false" tIns="50800" lIns="50800" bIns="50800" rIns="50800"/>
            <a:lstStyle/>
            <a:p>
              <a:pPr algn="ctr">
                <a:lnSpc>
                  <a:spcPts val="2160"/>
                </a:lnSpc>
              </a:pPr>
            </a:p>
          </p:txBody>
        </p:sp>
      </p:grpSp>
      <p:sp>
        <p:nvSpPr>
          <p:cNvPr name="TextBox 14" id="14"/>
          <p:cNvSpPr txBox="true"/>
          <p:nvPr/>
        </p:nvSpPr>
        <p:spPr>
          <a:xfrm rot="0">
            <a:off x="682039" y="1219200"/>
            <a:ext cx="9352486" cy="1265684"/>
          </a:xfrm>
          <a:prstGeom prst="rect">
            <a:avLst/>
          </a:prstGeom>
        </p:spPr>
        <p:txBody>
          <a:bodyPr anchor="t" rtlCol="false" tIns="0" lIns="0" bIns="0" rIns="0">
            <a:spAutoFit/>
          </a:bodyPr>
          <a:lstStyle/>
          <a:p>
            <a:pPr algn="l">
              <a:lnSpc>
                <a:spcPts val="9504"/>
              </a:lnSpc>
            </a:pPr>
            <a:r>
              <a:rPr lang="en-US" sz="9600" spc="-902" b="true">
                <a:solidFill>
                  <a:srgbClr val="163B42"/>
                </a:solidFill>
                <a:latin typeface="Canva Sans Bold"/>
                <a:ea typeface="Canva Sans Bold"/>
                <a:cs typeface="Canva Sans Bold"/>
                <a:sym typeface="Canva Sans Bold"/>
              </a:rPr>
              <a:t>We should target..</a:t>
            </a:r>
          </a:p>
        </p:txBody>
      </p:sp>
      <p:sp>
        <p:nvSpPr>
          <p:cNvPr name="TextBox 15" id="15"/>
          <p:cNvSpPr txBox="true"/>
          <p:nvPr/>
        </p:nvSpPr>
        <p:spPr>
          <a:xfrm rot="0">
            <a:off x="1956468" y="3141446"/>
            <a:ext cx="3429992" cy="451820"/>
          </a:xfrm>
          <a:prstGeom prst="rect">
            <a:avLst/>
          </a:prstGeom>
        </p:spPr>
        <p:txBody>
          <a:bodyPr anchor="t" rtlCol="false" tIns="0" lIns="0" bIns="0" rIns="0">
            <a:spAutoFit/>
          </a:bodyPr>
          <a:lstStyle/>
          <a:p>
            <a:pPr algn="l">
              <a:lnSpc>
                <a:spcPts val="3410"/>
              </a:lnSpc>
            </a:pPr>
            <a:r>
              <a:rPr lang="en-US" sz="3445" spc="-230" b="true">
                <a:solidFill>
                  <a:srgbClr val="163B42"/>
                </a:solidFill>
                <a:latin typeface="Canva Sans Bold"/>
                <a:ea typeface="Canva Sans Bold"/>
                <a:cs typeface="Canva Sans Bold"/>
                <a:sym typeface="Canva Sans Bold"/>
              </a:rPr>
              <a:t>Impulsive user</a:t>
            </a:r>
          </a:p>
        </p:txBody>
      </p:sp>
      <p:grpSp>
        <p:nvGrpSpPr>
          <p:cNvPr name="Group 16" id="16"/>
          <p:cNvGrpSpPr/>
          <p:nvPr/>
        </p:nvGrpSpPr>
        <p:grpSpPr>
          <a:xfrm rot="0">
            <a:off x="5093070" y="3159067"/>
            <a:ext cx="364304" cy="372722"/>
            <a:chOff x="0" y="0"/>
            <a:chExt cx="794443" cy="812800"/>
          </a:xfrm>
        </p:grpSpPr>
        <p:sp>
          <p:nvSpPr>
            <p:cNvPr name="Freeform 17" id="17"/>
            <p:cNvSpPr/>
            <p:nvPr/>
          </p:nvSpPr>
          <p:spPr>
            <a:xfrm flipH="false" flipV="false" rot="0">
              <a:off x="0" y="0"/>
              <a:ext cx="794443" cy="812800"/>
            </a:xfrm>
            <a:custGeom>
              <a:avLst/>
              <a:gdLst/>
              <a:ahLst/>
              <a:cxnLst/>
              <a:rect r="r" b="b" t="t" l="l"/>
              <a:pathLst>
                <a:path h="812800" w="794443">
                  <a:moveTo>
                    <a:pt x="397222" y="0"/>
                  </a:moveTo>
                  <a:cubicBezTo>
                    <a:pt x="177842" y="0"/>
                    <a:pt x="0" y="181951"/>
                    <a:pt x="0" y="406400"/>
                  </a:cubicBezTo>
                  <a:cubicBezTo>
                    <a:pt x="0" y="630849"/>
                    <a:pt x="177842" y="812800"/>
                    <a:pt x="397222" y="812800"/>
                  </a:cubicBezTo>
                  <a:cubicBezTo>
                    <a:pt x="616601" y="812800"/>
                    <a:pt x="794443" y="630849"/>
                    <a:pt x="794443" y="406400"/>
                  </a:cubicBezTo>
                  <a:cubicBezTo>
                    <a:pt x="794443" y="181951"/>
                    <a:pt x="616601" y="0"/>
                    <a:pt x="397222" y="0"/>
                  </a:cubicBezTo>
                  <a:close/>
                </a:path>
              </a:pathLst>
            </a:custGeom>
            <a:solidFill>
              <a:srgbClr val="B8DDB8">
                <a:alpha val="92941"/>
              </a:srgbClr>
            </a:solidFill>
            <a:ln w="19050" cap="sq">
              <a:solidFill>
                <a:srgbClr val="163B42">
                  <a:alpha val="92941"/>
                </a:srgbClr>
              </a:solidFill>
              <a:prstDash val="solid"/>
              <a:miter/>
            </a:ln>
          </p:spPr>
        </p:sp>
        <p:sp>
          <p:nvSpPr>
            <p:cNvPr name="TextBox 18" id="18"/>
            <p:cNvSpPr txBox="true"/>
            <p:nvPr/>
          </p:nvSpPr>
          <p:spPr>
            <a:xfrm>
              <a:off x="74479" y="95250"/>
              <a:ext cx="645485" cy="641350"/>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19" id="19"/>
          <p:cNvGrpSpPr/>
          <p:nvPr/>
        </p:nvGrpSpPr>
        <p:grpSpPr>
          <a:xfrm rot="0">
            <a:off x="10645836" y="3147657"/>
            <a:ext cx="364304" cy="372722"/>
            <a:chOff x="0" y="0"/>
            <a:chExt cx="794443" cy="812800"/>
          </a:xfrm>
        </p:grpSpPr>
        <p:sp>
          <p:nvSpPr>
            <p:cNvPr name="Freeform 20" id="20"/>
            <p:cNvSpPr/>
            <p:nvPr/>
          </p:nvSpPr>
          <p:spPr>
            <a:xfrm flipH="false" flipV="false" rot="0">
              <a:off x="0" y="0"/>
              <a:ext cx="794443" cy="812800"/>
            </a:xfrm>
            <a:custGeom>
              <a:avLst/>
              <a:gdLst/>
              <a:ahLst/>
              <a:cxnLst/>
              <a:rect r="r" b="b" t="t" l="l"/>
              <a:pathLst>
                <a:path h="812800" w="794443">
                  <a:moveTo>
                    <a:pt x="397222" y="0"/>
                  </a:moveTo>
                  <a:cubicBezTo>
                    <a:pt x="177842" y="0"/>
                    <a:pt x="0" y="181951"/>
                    <a:pt x="0" y="406400"/>
                  </a:cubicBezTo>
                  <a:cubicBezTo>
                    <a:pt x="0" y="630849"/>
                    <a:pt x="177842" y="812800"/>
                    <a:pt x="397222" y="812800"/>
                  </a:cubicBezTo>
                  <a:cubicBezTo>
                    <a:pt x="616601" y="812800"/>
                    <a:pt x="794443" y="630849"/>
                    <a:pt x="794443" y="406400"/>
                  </a:cubicBezTo>
                  <a:cubicBezTo>
                    <a:pt x="794443" y="181951"/>
                    <a:pt x="616601" y="0"/>
                    <a:pt x="397222" y="0"/>
                  </a:cubicBezTo>
                  <a:close/>
                </a:path>
              </a:pathLst>
            </a:custGeom>
            <a:solidFill>
              <a:srgbClr val="2F605C">
                <a:alpha val="92941"/>
              </a:srgbClr>
            </a:solidFill>
            <a:ln w="19050" cap="sq">
              <a:solidFill>
                <a:srgbClr val="163B42">
                  <a:alpha val="92941"/>
                </a:srgbClr>
              </a:solidFill>
              <a:prstDash val="solid"/>
              <a:miter/>
            </a:ln>
          </p:spPr>
        </p:sp>
        <p:sp>
          <p:nvSpPr>
            <p:cNvPr name="TextBox 21" id="21"/>
            <p:cNvSpPr txBox="true"/>
            <p:nvPr/>
          </p:nvSpPr>
          <p:spPr>
            <a:xfrm>
              <a:off x="74479" y="95250"/>
              <a:ext cx="645485" cy="641350"/>
            </a:xfrm>
            <a:prstGeom prst="rect">
              <a:avLst/>
            </a:prstGeom>
          </p:spPr>
          <p:txBody>
            <a:bodyPr anchor="ctr" rtlCol="false" tIns="50800" lIns="50800" bIns="50800" rIns="50800"/>
            <a:lstStyle/>
            <a:p>
              <a:pPr algn="ctr" marL="0" indent="0" lvl="0">
                <a:lnSpc>
                  <a:spcPts val="2160"/>
                </a:lnSpc>
                <a:spcBef>
                  <a:spcPct val="0"/>
                </a:spcBef>
              </a:pPr>
            </a:p>
          </p:txBody>
        </p:sp>
      </p:grpSp>
      <p:sp>
        <p:nvSpPr>
          <p:cNvPr name="TextBox 22" id="22"/>
          <p:cNvSpPr txBox="true"/>
          <p:nvPr/>
        </p:nvSpPr>
        <p:spPr>
          <a:xfrm rot="0">
            <a:off x="7397995" y="3141446"/>
            <a:ext cx="3429992" cy="451820"/>
          </a:xfrm>
          <a:prstGeom prst="rect">
            <a:avLst/>
          </a:prstGeom>
        </p:spPr>
        <p:txBody>
          <a:bodyPr anchor="t" rtlCol="false" tIns="0" lIns="0" bIns="0" rIns="0">
            <a:spAutoFit/>
          </a:bodyPr>
          <a:lstStyle/>
          <a:p>
            <a:pPr algn="l">
              <a:lnSpc>
                <a:spcPts val="3410"/>
              </a:lnSpc>
            </a:pPr>
            <a:r>
              <a:rPr lang="en-US" sz="3445" spc="-230" b="true">
                <a:solidFill>
                  <a:srgbClr val="163B42"/>
                </a:solidFill>
                <a:latin typeface="Canva Sans Bold"/>
                <a:ea typeface="Canva Sans Bold"/>
                <a:cs typeface="Canva Sans Bold"/>
                <a:sym typeface="Canva Sans Bold"/>
              </a:rPr>
              <a:t>Undecided users</a:t>
            </a:r>
          </a:p>
        </p:txBody>
      </p:sp>
      <p:sp>
        <p:nvSpPr>
          <p:cNvPr name="TextBox 23" id="23"/>
          <p:cNvSpPr txBox="true"/>
          <p:nvPr/>
        </p:nvSpPr>
        <p:spPr>
          <a:xfrm rot="0">
            <a:off x="1820752" y="4687022"/>
            <a:ext cx="3730385" cy="3645975"/>
          </a:xfrm>
          <a:prstGeom prst="rect">
            <a:avLst/>
          </a:prstGeom>
        </p:spPr>
        <p:txBody>
          <a:bodyPr anchor="t" rtlCol="false" tIns="0" lIns="0" bIns="0" rIns="0">
            <a:spAutoFit/>
          </a:bodyPr>
          <a:lstStyle/>
          <a:p>
            <a:pPr algn="l">
              <a:lnSpc>
                <a:spcPts val="2602"/>
              </a:lnSpc>
            </a:pPr>
            <a:r>
              <a:rPr lang="en-US" sz="2133" spc="-44">
                <a:solidFill>
                  <a:srgbClr val="163B42"/>
                </a:solidFill>
                <a:latin typeface="Aileron"/>
                <a:ea typeface="Aileron"/>
                <a:cs typeface="Aileron"/>
                <a:sym typeface="Aileron"/>
              </a:rPr>
              <a:t>→ </a:t>
            </a:r>
            <a:r>
              <a:rPr lang="en-US" sz="2133" spc="-44">
                <a:solidFill>
                  <a:srgbClr val="163B42"/>
                </a:solidFill>
                <a:latin typeface="Aileron"/>
                <a:ea typeface="Aileron"/>
                <a:cs typeface="Aileron"/>
                <a:sym typeface="Aileron"/>
              </a:rPr>
              <a:t>Unlik</a:t>
            </a:r>
            <a:r>
              <a:rPr lang="en-US" sz="2133" spc="-44">
                <a:solidFill>
                  <a:srgbClr val="163B42"/>
                </a:solidFill>
                <a:latin typeface="Aileron"/>
                <a:ea typeface="Aileron"/>
                <a:cs typeface="Aileron"/>
                <a:sym typeface="Aileron"/>
              </a:rPr>
              <a:t>ely to self-upgrade — price-sensitive, short time horizon</a:t>
            </a:r>
          </a:p>
          <a:p>
            <a:pPr algn="l">
              <a:lnSpc>
                <a:spcPts val="2602"/>
              </a:lnSpc>
            </a:pPr>
          </a:p>
          <a:p>
            <a:pPr algn="l">
              <a:lnSpc>
                <a:spcPts val="2602"/>
              </a:lnSpc>
            </a:pPr>
            <a:r>
              <a:rPr lang="en-US" sz="2133" spc="-44">
                <a:solidFill>
                  <a:srgbClr val="163B42"/>
                </a:solidFill>
                <a:latin typeface="Aileron"/>
                <a:ea typeface="Aileron"/>
                <a:cs typeface="Aileron"/>
                <a:sym typeface="Aileron"/>
              </a:rPr>
              <a:t>→Strategy: time-limited flash offers ("upgrade today, 50% off")</a:t>
            </a:r>
          </a:p>
          <a:p>
            <a:pPr algn="l">
              <a:lnSpc>
                <a:spcPts val="2602"/>
              </a:lnSpc>
            </a:pPr>
          </a:p>
          <a:p>
            <a:pPr algn="l">
              <a:lnSpc>
                <a:spcPts val="2602"/>
              </a:lnSpc>
            </a:pPr>
            <a:r>
              <a:rPr lang="en-US" sz="2133" spc="-44">
                <a:solidFill>
                  <a:srgbClr val="163B42"/>
                </a:solidFill>
                <a:latin typeface="Aileron"/>
                <a:ea typeface="Aileron"/>
                <a:cs typeface="Aileron"/>
                <a:sym typeface="Aileron"/>
              </a:rPr>
              <a:t>→Focus on ad-tier monetization, not conversion spend</a:t>
            </a:r>
          </a:p>
          <a:p>
            <a:pPr algn="l">
              <a:lnSpc>
                <a:spcPts val="2602"/>
              </a:lnSpc>
            </a:pPr>
          </a:p>
        </p:txBody>
      </p:sp>
      <p:grpSp>
        <p:nvGrpSpPr>
          <p:cNvPr name="Group 24" id="24"/>
          <p:cNvGrpSpPr/>
          <p:nvPr/>
        </p:nvGrpSpPr>
        <p:grpSpPr>
          <a:xfrm rot="0">
            <a:off x="11996257" y="3173819"/>
            <a:ext cx="5211597" cy="5716601"/>
            <a:chOff x="0" y="0"/>
            <a:chExt cx="1440366" cy="1579938"/>
          </a:xfrm>
        </p:grpSpPr>
        <p:sp>
          <p:nvSpPr>
            <p:cNvPr name="Freeform 25" id="25"/>
            <p:cNvSpPr/>
            <p:nvPr/>
          </p:nvSpPr>
          <p:spPr>
            <a:xfrm flipH="false" flipV="false" rot="0">
              <a:off x="0" y="0"/>
              <a:ext cx="1440366" cy="1579938"/>
            </a:xfrm>
            <a:custGeom>
              <a:avLst/>
              <a:gdLst/>
              <a:ahLst/>
              <a:cxnLst/>
              <a:rect r="r" b="b" t="t" l="l"/>
              <a:pathLst>
                <a:path h="1579938" w="1440366">
                  <a:moveTo>
                    <a:pt x="50508" y="0"/>
                  </a:moveTo>
                  <a:lnTo>
                    <a:pt x="1389858" y="0"/>
                  </a:lnTo>
                  <a:cubicBezTo>
                    <a:pt x="1417753" y="0"/>
                    <a:pt x="1440366" y="22613"/>
                    <a:pt x="1440366" y="50508"/>
                  </a:cubicBezTo>
                  <a:lnTo>
                    <a:pt x="1440366" y="1529430"/>
                  </a:lnTo>
                  <a:cubicBezTo>
                    <a:pt x="1440366" y="1542825"/>
                    <a:pt x="1435045" y="1555672"/>
                    <a:pt x="1425573" y="1565144"/>
                  </a:cubicBezTo>
                  <a:cubicBezTo>
                    <a:pt x="1416101" y="1574616"/>
                    <a:pt x="1403254" y="1579938"/>
                    <a:pt x="1389858" y="1579938"/>
                  </a:cubicBezTo>
                  <a:lnTo>
                    <a:pt x="50508" y="1579938"/>
                  </a:lnTo>
                  <a:cubicBezTo>
                    <a:pt x="22613" y="1579938"/>
                    <a:pt x="0" y="1557325"/>
                    <a:pt x="0" y="1529430"/>
                  </a:cubicBezTo>
                  <a:lnTo>
                    <a:pt x="0" y="50508"/>
                  </a:lnTo>
                  <a:cubicBezTo>
                    <a:pt x="0" y="22613"/>
                    <a:pt x="22613" y="0"/>
                    <a:pt x="50508" y="0"/>
                  </a:cubicBezTo>
                  <a:close/>
                </a:path>
              </a:pathLst>
            </a:custGeom>
            <a:solidFill>
              <a:srgbClr val="598C71">
                <a:alpha val="92941"/>
              </a:srgbClr>
            </a:solidFill>
            <a:ln w="19050" cap="rnd">
              <a:solidFill>
                <a:srgbClr val="163B42">
                  <a:alpha val="92941"/>
                </a:srgbClr>
              </a:solidFill>
              <a:prstDash val="solid"/>
              <a:round/>
            </a:ln>
          </p:spPr>
        </p:sp>
        <p:sp>
          <p:nvSpPr>
            <p:cNvPr name="TextBox 26" id="26"/>
            <p:cNvSpPr txBox="true"/>
            <p:nvPr/>
          </p:nvSpPr>
          <p:spPr>
            <a:xfrm>
              <a:off x="0" y="19050"/>
              <a:ext cx="1440366" cy="1560888"/>
            </a:xfrm>
            <a:prstGeom prst="rect">
              <a:avLst/>
            </a:prstGeom>
          </p:spPr>
          <p:txBody>
            <a:bodyPr anchor="ctr" rtlCol="false" tIns="50800" lIns="50800" bIns="50800" rIns="50800"/>
            <a:lstStyle/>
            <a:p>
              <a:pPr algn="ctr" marL="0" indent="0" lvl="0">
                <a:lnSpc>
                  <a:spcPts val="2160"/>
                </a:lnSpc>
                <a:spcBef>
                  <a:spcPct val="0"/>
                </a:spcBef>
              </a:pPr>
            </a:p>
          </p:txBody>
        </p:sp>
      </p:grpSp>
      <p:grpSp>
        <p:nvGrpSpPr>
          <p:cNvPr name="Group 27" id="27"/>
          <p:cNvGrpSpPr/>
          <p:nvPr/>
        </p:nvGrpSpPr>
        <p:grpSpPr>
          <a:xfrm rot="0">
            <a:off x="12533829" y="2895365"/>
            <a:ext cx="4059738" cy="900125"/>
            <a:chOff x="0" y="0"/>
            <a:chExt cx="1122019" cy="248774"/>
          </a:xfrm>
        </p:grpSpPr>
        <p:sp>
          <p:nvSpPr>
            <p:cNvPr name="Freeform 28" id="28"/>
            <p:cNvSpPr/>
            <p:nvPr/>
          </p:nvSpPr>
          <p:spPr>
            <a:xfrm flipH="false" flipV="false" rot="0">
              <a:off x="0" y="0"/>
              <a:ext cx="1122019" cy="248774"/>
            </a:xfrm>
            <a:custGeom>
              <a:avLst/>
              <a:gdLst/>
              <a:ahLst/>
              <a:cxnLst/>
              <a:rect r="r" b="b" t="t" l="l"/>
              <a:pathLst>
                <a:path h="248774" w="1122019">
                  <a:moveTo>
                    <a:pt x="41954" y="0"/>
                  </a:moveTo>
                  <a:lnTo>
                    <a:pt x="1080065" y="0"/>
                  </a:lnTo>
                  <a:cubicBezTo>
                    <a:pt x="1091192" y="0"/>
                    <a:pt x="1101863" y="4420"/>
                    <a:pt x="1109731" y="12288"/>
                  </a:cubicBezTo>
                  <a:cubicBezTo>
                    <a:pt x="1117598" y="20156"/>
                    <a:pt x="1122019" y="30827"/>
                    <a:pt x="1122019" y="41954"/>
                  </a:cubicBezTo>
                  <a:lnTo>
                    <a:pt x="1122019" y="206820"/>
                  </a:lnTo>
                  <a:cubicBezTo>
                    <a:pt x="1122019" y="217947"/>
                    <a:pt x="1117598" y="228618"/>
                    <a:pt x="1109731" y="236486"/>
                  </a:cubicBezTo>
                  <a:cubicBezTo>
                    <a:pt x="1101863" y="244354"/>
                    <a:pt x="1091192" y="248774"/>
                    <a:pt x="1080065" y="248774"/>
                  </a:cubicBezTo>
                  <a:lnTo>
                    <a:pt x="41954" y="248774"/>
                  </a:lnTo>
                  <a:cubicBezTo>
                    <a:pt x="30827" y="248774"/>
                    <a:pt x="20156" y="244354"/>
                    <a:pt x="12288" y="236486"/>
                  </a:cubicBezTo>
                  <a:cubicBezTo>
                    <a:pt x="4420" y="228618"/>
                    <a:pt x="0" y="217947"/>
                    <a:pt x="0" y="206820"/>
                  </a:cubicBezTo>
                  <a:lnTo>
                    <a:pt x="0" y="41954"/>
                  </a:lnTo>
                  <a:cubicBezTo>
                    <a:pt x="0" y="30827"/>
                    <a:pt x="4420" y="20156"/>
                    <a:pt x="12288" y="12288"/>
                  </a:cubicBezTo>
                  <a:cubicBezTo>
                    <a:pt x="20156" y="4420"/>
                    <a:pt x="30827" y="0"/>
                    <a:pt x="41954" y="0"/>
                  </a:cubicBezTo>
                  <a:close/>
                </a:path>
              </a:pathLst>
            </a:custGeom>
            <a:solidFill>
              <a:srgbClr val="FFFFFF"/>
            </a:solidFill>
            <a:ln w="19050" cap="rnd">
              <a:solidFill>
                <a:srgbClr val="163B42"/>
              </a:solidFill>
              <a:prstDash val="solid"/>
              <a:round/>
            </a:ln>
          </p:spPr>
        </p:sp>
        <p:sp>
          <p:nvSpPr>
            <p:cNvPr name="TextBox 29" id="29"/>
            <p:cNvSpPr txBox="true"/>
            <p:nvPr/>
          </p:nvSpPr>
          <p:spPr>
            <a:xfrm>
              <a:off x="0" y="19050"/>
              <a:ext cx="1122019" cy="229724"/>
            </a:xfrm>
            <a:prstGeom prst="rect">
              <a:avLst/>
            </a:prstGeom>
          </p:spPr>
          <p:txBody>
            <a:bodyPr anchor="ctr" rtlCol="false" tIns="50800" lIns="50800" bIns="50800" rIns="50800"/>
            <a:lstStyle/>
            <a:p>
              <a:pPr algn="ctr">
                <a:lnSpc>
                  <a:spcPts val="2160"/>
                </a:lnSpc>
              </a:pPr>
            </a:p>
          </p:txBody>
        </p:sp>
      </p:grpSp>
      <p:grpSp>
        <p:nvGrpSpPr>
          <p:cNvPr name="Group 30" id="30"/>
          <p:cNvGrpSpPr/>
          <p:nvPr/>
        </p:nvGrpSpPr>
        <p:grpSpPr>
          <a:xfrm rot="0">
            <a:off x="15986092" y="3147657"/>
            <a:ext cx="364304" cy="372722"/>
            <a:chOff x="0" y="0"/>
            <a:chExt cx="794443" cy="812800"/>
          </a:xfrm>
        </p:grpSpPr>
        <p:sp>
          <p:nvSpPr>
            <p:cNvPr name="Freeform 31" id="31"/>
            <p:cNvSpPr/>
            <p:nvPr/>
          </p:nvSpPr>
          <p:spPr>
            <a:xfrm flipH="false" flipV="false" rot="0">
              <a:off x="0" y="0"/>
              <a:ext cx="794443" cy="812800"/>
            </a:xfrm>
            <a:custGeom>
              <a:avLst/>
              <a:gdLst/>
              <a:ahLst/>
              <a:cxnLst/>
              <a:rect r="r" b="b" t="t" l="l"/>
              <a:pathLst>
                <a:path h="812800" w="794443">
                  <a:moveTo>
                    <a:pt x="397222" y="0"/>
                  </a:moveTo>
                  <a:cubicBezTo>
                    <a:pt x="177842" y="0"/>
                    <a:pt x="0" y="181951"/>
                    <a:pt x="0" y="406400"/>
                  </a:cubicBezTo>
                  <a:cubicBezTo>
                    <a:pt x="0" y="630849"/>
                    <a:pt x="177842" y="812800"/>
                    <a:pt x="397222" y="812800"/>
                  </a:cubicBezTo>
                  <a:cubicBezTo>
                    <a:pt x="616601" y="812800"/>
                    <a:pt x="794443" y="630849"/>
                    <a:pt x="794443" y="406400"/>
                  </a:cubicBezTo>
                  <a:cubicBezTo>
                    <a:pt x="794443" y="181951"/>
                    <a:pt x="616601" y="0"/>
                    <a:pt x="397222" y="0"/>
                  </a:cubicBezTo>
                  <a:close/>
                </a:path>
              </a:pathLst>
            </a:custGeom>
            <a:gradFill rotWithShape="true">
              <a:gsLst>
                <a:gs pos="0">
                  <a:srgbClr val="6F9F97">
                    <a:alpha val="93000"/>
                  </a:srgbClr>
                </a:gs>
                <a:gs pos="100000">
                  <a:srgbClr val="3B6261">
                    <a:alpha val="93000"/>
                  </a:srgbClr>
                </a:gs>
              </a:gsLst>
              <a:lin ang="0"/>
            </a:gradFill>
            <a:ln w="19050" cap="sq">
              <a:solidFill>
                <a:srgbClr val="163B42">
                  <a:alpha val="92941"/>
                </a:srgbClr>
              </a:solidFill>
              <a:prstDash val="solid"/>
              <a:miter/>
            </a:ln>
          </p:spPr>
        </p:sp>
        <p:sp>
          <p:nvSpPr>
            <p:cNvPr name="TextBox 32" id="32"/>
            <p:cNvSpPr txBox="true"/>
            <p:nvPr/>
          </p:nvSpPr>
          <p:spPr>
            <a:xfrm>
              <a:off x="74479" y="95250"/>
              <a:ext cx="645485" cy="641350"/>
            </a:xfrm>
            <a:prstGeom prst="rect">
              <a:avLst/>
            </a:prstGeom>
          </p:spPr>
          <p:txBody>
            <a:bodyPr anchor="ctr" rtlCol="false" tIns="50800" lIns="50800" bIns="50800" rIns="50800"/>
            <a:lstStyle/>
            <a:p>
              <a:pPr algn="ctr" marL="0" indent="0" lvl="0">
                <a:lnSpc>
                  <a:spcPts val="2160"/>
                </a:lnSpc>
                <a:spcBef>
                  <a:spcPct val="0"/>
                </a:spcBef>
              </a:pPr>
            </a:p>
          </p:txBody>
        </p:sp>
      </p:grpSp>
      <p:sp>
        <p:nvSpPr>
          <p:cNvPr name="TextBox 33" id="33"/>
          <p:cNvSpPr txBox="true"/>
          <p:nvPr/>
        </p:nvSpPr>
        <p:spPr>
          <a:xfrm rot="0">
            <a:off x="12809227" y="3141446"/>
            <a:ext cx="3429992" cy="451820"/>
          </a:xfrm>
          <a:prstGeom prst="rect">
            <a:avLst/>
          </a:prstGeom>
        </p:spPr>
        <p:txBody>
          <a:bodyPr anchor="t" rtlCol="false" tIns="0" lIns="0" bIns="0" rIns="0">
            <a:spAutoFit/>
          </a:bodyPr>
          <a:lstStyle/>
          <a:p>
            <a:pPr algn="l">
              <a:lnSpc>
                <a:spcPts val="3410"/>
              </a:lnSpc>
            </a:pPr>
            <a:r>
              <a:rPr lang="en-US" sz="3445" spc="-230" b="true">
                <a:solidFill>
                  <a:srgbClr val="163B42"/>
                </a:solidFill>
                <a:latin typeface="Canva Sans Bold"/>
                <a:ea typeface="Canva Sans Bold"/>
                <a:cs typeface="Canva Sans Bold"/>
                <a:sym typeface="Canva Sans Bold"/>
              </a:rPr>
              <a:t>Patient users</a:t>
            </a:r>
          </a:p>
        </p:txBody>
      </p:sp>
      <p:sp>
        <p:nvSpPr>
          <p:cNvPr name="TextBox 34" id="34"/>
          <p:cNvSpPr txBox="true"/>
          <p:nvPr/>
        </p:nvSpPr>
        <p:spPr>
          <a:xfrm rot="0">
            <a:off x="9335373" y="634189"/>
            <a:ext cx="8453076" cy="1265684"/>
          </a:xfrm>
          <a:prstGeom prst="rect">
            <a:avLst/>
          </a:prstGeom>
        </p:spPr>
        <p:txBody>
          <a:bodyPr anchor="t" rtlCol="false" tIns="0" lIns="0" bIns="0" rIns="0">
            <a:spAutoFit/>
          </a:bodyPr>
          <a:lstStyle/>
          <a:p>
            <a:pPr algn="l">
              <a:lnSpc>
                <a:spcPts val="9504"/>
              </a:lnSpc>
            </a:pPr>
            <a:r>
              <a:rPr lang="en-US" sz="9600" spc="-902" b="true">
                <a:solidFill>
                  <a:srgbClr val="163B42"/>
                </a:solidFill>
                <a:latin typeface="Canva Sans Bold"/>
                <a:ea typeface="Canva Sans Bold"/>
                <a:cs typeface="Canva Sans Bold"/>
                <a:sym typeface="Canva Sans Bold"/>
              </a:rPr>
              <a:t>When..</a:t>
            </a:r>
          </a:p>
        </p:txBody>
      </p:sp>
      <p:sp>
        <p:nvSpPr>
          <p:cNvPr name="TextBox 35" id="35"/>
          <p:cNvSpPr txBox="true"/>
          <p:nvPr/>
        </p:nvSpPr>
        <p:spPr>
          <a:xfrm rot="0">
            <a:off x="12678130" y="1499482"/>
            <a:ext cx="8453076" cy="1265684"/>
          </a:xfrm>
          <a:prstGeom prst="rect">
            <a:avLst/>
          </a:prstGeom>
        </p:spPr>
        <p:txBody>
          <a:bodyPr anchor="t" rtlCol="false" tIns="0" lIns="0" bIns="0" rIns="0">
            <a:spAutoFit/>
          </a:bodyPr>
          <a:lstStyle/>
          <a:p>
            <a:pPr algn="l">
              <a:lnSpc>
                <a:spcPts val="9504"/>
              </a:lnSpc>
            </a:pPr>
            <a:r>
              <a:rPr lang="en-US" sz="9600" spc="-902" b="true">
                <a:solidFill>
                  <a:srgbClr val="163B42"/>
                </a:solidFill>
                <a:latin typeface="Canva Sans Bold"/>
                <a:ea typeface="Canva Sans Bold"/>
                <a:cs typeface="Canva Sans Bold"/>
                <a:sym typeface="Canva Sans Bold"/>
              </a:rPr>
              <a:t>How..</a:t>
            </a:r>
          </a:p>
        </p:txBody>
      </p:sp>
      <p:sp>
        <p:nvSpPr>
          <p:cNvPr name="TextBox 36" id="36"/>
          <p:cNvSpPr txBox="true"/>
          <p:nvPr/>
        </p:nvSpPr>
        <p:spPr>
          <a:xfrm rot="0">
            <a:off x="1634108" y="4002953"/>
            <a:ext cx="4103674" cy="328050"/>
          </a:xfrm>
          <a:prstGeom prst="rect">
            <a:avLst/>
          </a:prstGeom>
        </p:spPr>
        <p:txBody>
          <a:bodyPr anchor="t" rtlCol="false" tIns="0" lIns="0" bIns="0" rIns="0">
            <a:spAutoFit/>
          </a:bodyPr>
          <a:lstStyle/>
          <a:p>
            <a:pPr algn="ctr">
              <a:lnSpc>
                <a:spcPts val="2557"/>
              </a:lnSpc>
            </a:pPr>
            <a:r>
              <a:rPr lang="en-US" b="true" sz="2096" spc="-44">
                <a:solidFill>
                  <a:srgbClr val="163B42"/>
                </a:solidFill>
                <a:latin typeface="Aileron Bold"/>
                <a:ea typeface="Aileron Bold"/>
                <a:cs typeface="Aileron Bold"/>
                <a:sym typeface="Aileron Bold"/>
              </a:rPr>
              <a:t>High k · </a:t>
            </a:r>
            <a:r>
              <a:rPr lang="en-US" b="true" sz="2096" spc="-44">
                <a:solidFill>
                  <a:srgbClr val="163B42"/>
                </a:solidFill>
                <a:latin typeface="Aileron Bold"/>
                <a:ea typeface="Aileron Bold"/>
                <a:cs typeface="Aileron Bold"/>
                <a:sym typeface="Aileron Bold"/>
              </a:rPr>
              <a:t>Fast RT • Chose SS</a:t>
            </a:r>
          </a:p>
        </p:txBody>
      </p:sp>
      <p:sp>
        <p:nvSpPr>
          <p:cNvPr name="TextBox 37" id="37"/>
          <p:cNvSpPr txBox="true"/>
          <p:nvPr/>
        </p:nvSpPr>
        <p:spPr>
          <a:xfrm rot="0">
            <a:off x="7122597" y="4002953"/>
            <a:ext cx="4103674" cy="328050"/>
          </a:xfrm>
          <a:prstGeom prst="rect">
            <a:avLst/>
          </a:prstGeom>
        </p:spPr>
        <p:txBody>
          <a:bodyPr anchor="t" rtlCol="false" tIns="0" lIns="0" bIns="0" rIns="0">
            <a:spAutoFit/>
          </a:bodyPr>
          <a:lstStyle/>
          <a:p>
            <a:pPr algn="ctr">
              <a:lnSpc>
                <a:spcPts val="2557"/>
              </a:lnSpc>
            </a:pPr>
            <a:r>
              <a:rPr lang="en-US" b="true" sz="2096" spc="-44">
                <a:solidFill>
                  <a:srgbClr val="FFFFFF"/>
                </a:solidFill>
                <a:latin typeface="Aileron Bold"/>
                <a:ea typeface="Aileron Bold"/>
                <a:cs typeface="Aileron Bold"/>
                <a:sym typeface="Aileron Bold"/>
              </a:rPr>
              <a:t>Medium k · Slow</a:t>
            </a:r>
            <a:r>
              <a:rPr lang="en-US" b="true" sz="2096" spc="-44">
                <a:solidFill>
                  <a:srgbClr val="FFFFFF"/>
                </a:solidFill>
                <a:latin typeface="Aileron Bold"/>
                <a:ea typeface="Aileron Bold"/>
                <a:cs typeface="Aileron Bold"/>
                <a:sym typeface="Aileron Bold"/>
              </a:rPr>
              <a:t> RT • Chose SS</a:t>
            </a:r>
          </a:p>
        </p:txBody>
      </p:sp>
      <p:sp>
        <p:nvSpPr>
          <p:cNvPr name="TextBox 38" id="38"/>
          <p:cNvSpPr txBox="true"/>
          <p:nvPr/>
        </p:nvSpPr>
        <p:spPr>
          <a:xfrm rot="0">
            <a:off x="12546610" y="4002953"/>
            <a:ext cx="4103674" cy="328050"/>
          </a:xfrm>
          <a:prstGeom prst="rect">
            <a:avLst/>
          </a:prstGeom>
        </p:spPr>
        <p:txBody>
          <a:bodyPr anchor="t" rtlCol="false" tIns="0" lIns="0" bIns="0" rIns="0">
            <a:spAutoFit/>
          </a:bodyPr>
          <a:lstStyle/>
          <a:p>
            <a:pPr algn="ctr">
              <a:lnSpc>
                <a:spcPts val="2557"/>
              </a:lnSpc>
            </a:pPr>
            <a:r>
              <a:rPr lang="en-US" b="true" sz="2096" spc="-44">
                <a:solidFill>
                  <a:srgbClr val="FFFFFF"/>
                </a:solidFill>
                <a:latin typeface="Aileron Bold"/>
                <a:ea typeface="Aileron Bold"/>
                <a:cs typeface="Aileron Bold"/>
                <a:sym typeface="Aileron Bold"/>
              </a:rPr>
              <a:t>Low k · Fast RT • Chose LL</a:t>
            </a:r>
          </a:p>
        </p:txBody>
      </p:sp>
      <p:sp>
        <p:nvSpPr>
          <p:cNvPr name="TextBox 39" id="39"/>
          <p:cNvSpPr txBox="true"/>
          <p:nvPr/>
        </p:nvSpPr>
        <p:spPr>
          <a:xfrm rot="0">
            <a:off x="7247799" y="4687022"/>
            <a:ext cx="3730385" cy="3315762"/>
          </a:xfrm>
          <a:prstGeom prst="rect">
            <a:avLst/>
          </a:prstGeom>
        </p:spPr>
        <p:txBody>
          <a:bodyPr anchor="t" rtlCol="false" tIns="0" lIns="0" bIns="0" rIns="0">
            <a:spAutoFit/>
          </a:bodyPr>
          <a:lstStyle/>
          <a:p>
            <a:pPr algn="l">
              <a:lnSpc>
                <a:spcPts val="2602"/>
              </a:lnSpc>
            </a:pPr>
            <a:r>
              <a:rPr lang="en-US" sz="2133" spc="-44">
                <a:solidFill>
                  <a:srgbClr val="FFFFFF"/>
                </a:solidFill>
                <a:latin typeface="Aileron"/>
                <a:ea typeface="Aileron"/>
                <a:cs typeface="Aileron"/>
                <a:sym typeface="Aileron"/>
              </a:rPr>
              <a:t>→ Slow RT signals genuine deliberation — they're actually considering it</a:t>
            </a:r>
          </a:p>
          <a:p>
            <a:pPr algn="l">
              <a:lnSpc>
                <a:spcPts val="2602"/>
              </a:lnSpc>
            </a:pPr>
          </a:p>
          <a:p>
            <a:pPr algn="l">
              <a:lnSpc>
                <a:spcPts val="2602"/>
              </a:lnSpc>
            </a:pPr>
            <a:r>
              <a:rPr lang="en-US" sz="2133" spc="-44">
                <a:solidFill>
                  <a:srgbClr val="FFFFFF"/>
                </a:solidFill>
                <a:latin typeface="Aileron"/>
                <a:ea typeface="Aileron"/>
                <a:cs typeface="Aileron"/>
                <a:sym typeface="Aileron"/>
              </a:rPr>
              <a:t>→ Strategy: free trial nudge, social proof, feature comparison</a:t>
            </a:r>
          </a:p>
          <a:p>
            <a:pPr algn="l">
              <a:lnSpc>
                <a:spcPts val="2602"/>
              </a:lnSpc>
            </a:pPr>
          </a:p>
          <a:p>
            <a:pPr algn="l">
              <a:lnSpc>
                <a:spcPts val="2602"/>
              </a:lnSpc>
            </a:pPr>
            <a:r>
              <a:rPr lang="en-US" sz="2133" spc="-44">
                <a:solidFill>
                  <a:srgbClr val="FFFFFF"/>
                </a:solidFill>
                <a:latin typeface="Aileron"/>
                <a:ea typeface="Aileron"/>
                <a:cs typeface="Aileron"/>
                <a:sym typeface="Aileron"/>
              </a:rPr>
              <a:t>→Highest ROI for personalized engagement spend</a:t>
            </a:r>
          </a:p>
          <a:p>
            <a:pPr algn="l">
              <a:lnSpc>
                <a:spcPts val="2602"/>
              </a:lnSpc>
            </a:pPr>
          </a:p>
        </p:txBody>
      </p:sp>
      <p:sp>
        <p:nvSpPr>
          <p:cNvPr name="TextBox 40" id="40"/>
          <p:cNvSpPr txBox="true"/>
          <p:nvPr/>
        </p:nvSpPr>
        <p:spPr>
          <a:xfrm rot="0">
            <a:off x="12698505" y="4596254"/>
            <a:ext cx="3730385" cy="3645975"/>
          </a:xfrm>
          <a:prstGeom prst="rect">
            <a:avLst/>
          </a:prstGeom>
        </p:spPr>
        <p:txBody>
          <a:bodyPr anchor="t" rtlCol="false" tIns="0" lIns="0" bIns="0" rIns="0">
            <a:spAutoFit/>
          </a:bodyPr>
          <a:lstStyle/>
          <a:p>
            <a:pPr algn="l">
              <a:lnSpc>
                <a:spcPts val="2602"/>
              </a:lnSpc>
            </a:pPr>
            <a:r>
              <a:rPr lang="en-US" sz="2133" spc="-44">
                <a:solidFill>
                  <a:srgbClr val="FFFFFF"/>
                </a:solidFill>
                <a:latin typeface="Aileron"/>
                <a:ea typeface="Aileron"/>
                <a:cs typeface="Aileron"/>
                <a:sym typeface="Aileron"/>
              </a:rPr>
              <a:t>→ ~20% of users — naturally long time horizon, high CLV potential</a:t>
            </a:r>
          </a:p>
          <a:p>
            <a:pPr algn="l">
              <a:lnSpc>
                <a:spcPts val="2602"/>
              </a:lnSpc>
            </a:pPr>
          </a:p>
          <a:p>
            <a:pPr algn="l">
              <a:lnSpc>
                <a:spcPts val="2602"/>
              </a:lnSpc>
            </a:pPr>
            <a:r>
              <a:rPr lang="en-US" sz="2133" spc="-44">
                <a:solidFill>
                  <a:srgbClr val="FFFFFF"/>
                </a:solidFill>
                <a:latin typeface="Aileron"/>
                <a:ea typeface="Aileron"/>
                <a:cs typeface="Aileron"/>
                <a:sym typeface="Aileron"/>
              </a:rPr>
              <a:t>→ Strategy: annual plan messaging, loyalty benefits, value-stacking</a:t>
            </a:r>
          </a:p>
          <a:p>
            <a:pPr algn="l">
              <a:lnSpc>
                <a:spcPts val="2602"/>
              </a:lnSpc>
            </a:pPr>
          </a:p>
          <a:p>
            <a:pPr algn="l">
              <a:lnSpc>
                <a:spcPts val="2602"/>
              </a:lnSpc>
            </a:pPr>
            <a:r>
              <a:rPr lang="en-US" sz="2133" spc="-44">
                <a:solidFill>
                  <a:srgbClr val="FFFFFF"/>
                </a:solidFill>
                <a:latin typeface="Aileron"/>
                <a:ea typeface="Aileron"/>
                <a:cs typeface="Aileron"/>
                <a:sym typeface="Aileron"/>
              </a:rPr>
              <a:t>→Respond to long-term value framing, not discounts</a:t>
            </a:r>
          </a:p>
          <a:p>
            <a:pPr algn="l">
              <a:lnSpc>
                <a:spcPts val="2602"/>
              </a:lnSpc>
            </a:pPr>
          </a:p>
        </p:txBody>
      </p:sp>
      <p:grpSp>
        <p:nvGrpSpPr>
          <p:cNvPr name="Group 41" id="41"/>
          <p:cNvGrpSpPr/>
          <p:nvPr/>
        </p:nvGrpSpPr>
        <p:grpSpPr>
          <a:xfrm rot="0">
            <a:off x="1080146" y="9163578"/>
            <a:ext cx="16179154" cy="729993"/>
            <a:chOff x="0" y="0"/>
            <a:chExt cx="4261176" cy="192262"/>
          </a:xfrm>
        </p:grpSpPr>
        <p:sp>
          <p:nvSpPr>
            <p:cNvPr name="Freeform 42" id="42"/>
            <p:cNvSpPr/>
            <p:nvPr/>
          </p:nvSpPr>
          <p:spPr>
            <a:xfrm flipH="false" flipV="false" rot="0">
              <a:off x="0" y="0"/>
              <a:ext cx="4261176" cy="192262"/>
            </a:xfrm>
            <a:custGeom>
              <a:avLst/>
              <a:gdLst/>
              <a:ahLst/>
              <a:cxnLst/>
              <a:rect r="r" b="b" t="t" l="l"/>
              <a:pathLst>
                <a:path h="192262" w="4261176">
                  <a:moveTo>
                    <a:pt x="10049" y="0"/>
                  </a:moveTo>
                  <a:lnTo>
                    <a:pt x="4251128" y="0"/>
                  </a:lnTo>
                  <a:cubicBezTo>
                    <a:pt x="4256677" y="0"/>
                    <a:pt x="4261176" y="4499"/>
                    <a:pt x="4261176" y="10049"/>
                  </a:cubicBezTo>
                  <a:lnTo>
                    <a:pt x="4261176" y="182213"/>
                  </a:lnTo>
                  <a:cubicBezTo>
                    <a:pt x="4261176" y="184878"/>
                    <a:pt x="4260117" y="187434"/>
                    <a:pt x="4258233" y="189318"/>
                  </a:cubicBezTo>
                  <a:cubicBezTo>
                    <a:pt x="4256349" y="191203"/>
                    <a:pt x="4253793" y="192262"/>
                    <a:pt x="4251128" y="192262"/>
                  </a:cubicBezTo>
                  <a:lnTo>
                    <a:pt x="10049" y="192262"/>
                  </a:lnTo>
                  <a:cubicBezTo>
                    <a:pt x="4499" y="192262"/>
                    <a:pt x="0" y="187763"/>
                    <a:pt x="0" y="182213"/>
                  </a:cubicBezTo>
                  <a:lnTo>
                    <a:pt x="0" y="10049"/>
                  </a:lnTo>
                  <a:cubicBezTo>
                    <a:pt x="0" y="4499"/>
                    <a:pt x="4499" y="0"/>
                    <a:pt x="10049" y="0"/>
                  </a:cubicBezTo>
                  <a:close/>
                </a:path>
              </a:pathLst>
            </a:custGeom>
            <a:solidFill>
              <a:srgbClr val="B8DDB8">
                <a:alpha val="34902"/>
              </a:srgbClr>
            </a:solidFill>
            <a:ln w="19050" cap="rnd">
              <a:gradFill>
                <a:gsLst>
                  <a:gs pos="0">
                    <a:srgbClr val="FFFFFF">
                      <a:alpha val="2450"/>
                    </a:srgbClr>
                  </a:gs>
                  <a:gs pos="100000">
                    <a:srgbClr val="FFFFFF">
                      <a:alpha val="4900"/>
                    </a:srgbClr>
                  </a:gs>
                </a:gsLst>
                <a:path path="circle">
                  <a:fillToRect l="0" r="100000" t="0" b="100000"/>
                </a:path>
                <a:tileRect r="0" l="-100000" b="0" t="-100000"/>
              </a:gradFill>
              <a:prstDash val="solid"/>
              <a:round/>
            </a:ln>
          </p:spPr>
        </p:sp>
        <p:sp>
          <p:nvSpPr>
            <p:cNvPr name="TextBox 43" id="43"/>
            <p:cNvSpPr txBox="true"/>
            <p:nvPr/>
          </p:nvSpPr>
          <p:spPr>
            <a:xfrm>
              <a:off x="0" y="85725"/>
              <a:ext cx="4261176" cy="106537"/>
            </a:xfrm>
            <a:prstGeom prst="rect">
              <a:avLst/>
            </a:prstGeom>
          </p:spPr>
          <p:txBody>
            <a:bodyPr anchor="ctr" rtlCol="false" tIns="50800" lIns="50800" bIns="50800" rIns="50800"/>
            <a:lstStyle/>
            <a:p>
              <a:pPr algn="ctr">
                <a:lnSpc>
                  <a:spcPts val="2218"/>
                </a:lnSpc>
              </a:pPr>
            </a:p>
          </p:txBody>
        </p:sp>
      </p:grpSp>
      <p:sp>
        <p:nvSpPr>
          <p:cNvPr name="TextBox 44" id="44"/>
          <p:cNvSpPr txBox="true"/>
          <p:nvPr/>
        </p:nvSpPr>
        <p:spPr>
          <a:xfrm rot="0">
            <a:off x="1224224" y="9426657"/>
            <a:ext cx="15839552" cy="213360"/>
          </a:xfrm>
          <a:prstGeom prst="rect">
            <a:avLst/>
          </a:prstGeom>
        </p:spPr>
        <p:txBody>
          <a:bodyPr anchor="t" rtlCol="false" tIns="0" lIns="0" bIns="0" rIns="0">
            <a:spAutoFit/>
          </a:bodyPr>
          <a:lstStyle/>
          <a:p>
            <a:pPr algn="ctr">
              <a:lnSpc>
                <a:spcPts val="1620"/>
              </a:lnSpc>
              <a:spcBef>
                <a:spcPct val="0"/>
              </a:spcBef>
            </a:pPr>
            <a:r>
              <a:rPr lang="en-US" sz="1500" spc="-10">
                <a:solidFill>
                  <a:srgbClr val="000000"/>
                </a:solidFill>
                <a:latin typeface="Aileron"/>
                <a:ea typeface="Aileron"/>
                <a:cs typeface="Aileron"/>
                <a:sym typeface="Aileron"/>
              </a:rPr>
              <a:t>Remark: </a:t>
            </a:r>
            <a:r>
              <a:rPr lang="en-US" b="true" sz="1500" spc="-10">
                <a:solidFill>
                  <a:srgbClr val="000000"/>
                </a:solidFill>
                <a:latin typeface="Aileron Bold"/>
                <a:ea typeface="Aileron Bold"/>
                <a:cs typeface="Aileron Bold"/>
                <a:sym typeface="Aileron Bold"/>
              </a:rPr>
              <a:t>discount rate k(k = (LL/SS - 1) / delay)</a:t>
            </a:r>
            <a:r>
              <a:rPr lang="en-US" sz="1500" spc="-10">
                <a:solidFill>
                  <a:srgbClr val="000000"/>
                </a:solidFill>
                <a:latin typeface="Aileron"/>
                <a:ea typeface="Aileron"/>
                <a:cs typeface="Aileron"/>
                <a:sym typeface="Aileron"/>
              </a:rPr>
              <a:t> k is the hyperbolic discount rate it measures how impatient someone is when choosing between a reward now vs. later.</a:t>
            </a:r>
          </a:p>
        </p:txBody>
      </p:sp>
      <p:sp>
        <p:nvSpPr>
          <p:cNvPr name="TextBox 45" id="4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F9F97">
                <a:alpha val="100000"/>
              </a:srgbClr>
            </a:gs>
            <a:gs pos="100000">
              <a:srgbClr val="3B6261">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120089">
            <a:off x="-3021265" y="-3988519"/>
            <a:ext cx="13529234" cy="13529234"/>
          </a:xfrm>
          <a:custGeom>
            <a:avLst/>
            <a:gdLst/>
            <a:ahLst/>
            <a:cxnLst/>
            <a:rect r="r" b="b" t="t" l="l"/>
            <a:pathLst>
              <a:path h="13529234" w="13529234">
                <a:moveTo>
                  <a:pt x="0" y="0"/>
                </a:moveTo>
                <a:lnTo>
                  <a:pt x="13529234" y="0"/>
                </a:lnTo>
                <a:lnTo>
                  <a:pt x="13529234" y="13529234"/>
                </a:lnTo>
                <a:lnTo>
                  <a:pt x="0" y="13529234"/>
                </a:lnTo>
                <a:lnTo>
                  <a:pt x="0" y="0"/>
                </a:lnTo>
                <a:close/>
              </a:path>
            </a:pathLst>
          </a:custGeom>
          <a:blipFill>
            <a:blip r:embed="rId2">
              <a:alphaModFix amt="6000"/>
            </a:blip>
            <a:stretch>
              <a:fillRect l="0" t="0" r="0" b="0"/>
            </a:stretch>
          </a:blipFill>
        </p:spPr>
      </p:sp>
      <p:sp>
        <p:nvSpPr>
          <p:cNvPr name="Freeform 3" id="3"/>
          <p:cNvSpPr/>
          <p:nvPr/>
        </p:nvSpPr>
        <p:spPr>
          <a:xfrm flipH="false" flipV="false" rot="5120089">
            <a:off x="-848034" y="-2084840"/>
            <a:ext cx="8981122" cy="8981122"/>
          </a:xfrm>
          <a:custGeom>
            <a:avLst/>
            <a:gdLst/>
            <a:ahLst/>
            <a:cxnLst/>
            <a:rect r="r" b="b" t="t" l="l"/>
            <a:pathLst>
              <a:path h="8981122" w="8981122">
                <a:moveTo>
                  <a:pt x="0" y="0"/>
                </a:moveTo>
                <a:lnTo>
                  <a:pt x="8981122" y="0"/>
                </a:lnTo>
                <a:lnTo>
                  <a:pt x="8981122" y="8981122"/>
                </a:lnTo>
                <a:lnTo>
                  <a:pt x="0" y="8981122"/>
                </a:lnTo>
                <a:lnTo>
                  <a:pt x="0" y="0"/>
                </a:lnTo>
                <a:close/>
              </a:path>
            </a:pathLst>
          </a:custGeom>
          <a:blipFill>
            <a:blip r:embed="rId2">
              <a:alphaModFix amt="12000"/>
            </a:blip>
            <a:stretch>
              <a:fillRect l="0" t="0" r="0" b="0"/>
            </a:stretch>
          </a:blipFill>
        </p:spPr>
      </p:sp>
      <p:sp>
        <p:nvSpPr>
          <p:cNvPr name="TextBox 4" id="4"/>
          <p:cNvSpPr txBox="true"/>
          <p:nvPr/>
        </p:nvSpPr>
        <p:spPr>
          <a:xfrm rot="0">
            <a:off x="7135642" y="751435"/>
            <a:ext cx="10084065" cy="1155976"/>
          </a:xfrm>
          <a:prstGeom prst="rect">
            <a:avLst/>
          </a:prstGeom>
        </p:spPr>
        <p:txBody>
          <a:bodyPr anchor="t" rtlCol="false" tIns="0" lIns="0" bIns="0" rIns="0">
            <a:spAutoFit/>
          </a:bodyPr>
          <a:lstStyle/>
          <a:p>
            <a:pPr algn="l">
              <a:lnSpc>
                <a:spcPts val="8613"/>
              </a:lnSpc>
            </a:pPr>
            <a:r>
              <a:rPr lang="en-US" sz="8700" spc="-817" b="true">
                <a:solidFill>
                  <a:srgbClr val="F8F6F7"/>
                </a:solidFill>
                <a:latin typeface="Canva Sans Bold"/>
                <a:ea typeface="Canva Sans Bold"/>
                <a:cs typeface="Canva Sans Bold"/>
                <a:sym typeface="Canva Sans Bold"/>
              </a:rPr>
              <a:t>However , l</a:t>
            </a:r>
            <a:r>
              <a:rPr lang="en-US" b="true" sz="8700" spc="-817">
                <a:solidFill>
                  <a:srgbClr val="F8F6F7"/>
                </a:solidFill>
                <a:latin typeface="Canva Sans Bold"/>
                <a:ea typeface="Canva Sans Bold"/>
                <a:cs typeface="Canva Sans Bold"/>
                <a:sym typeface="Canva Sans Bold"/>
              </a:rPr>
              <a:t>imitations..</a:t>
            </a:r>
          </a:p>
        </p:txBody>
      </p:sp>
      <p:grpSp>
        <p:nvGrpSpPr>
          <p:cNvPr name="Group 5" id="5"/>
          <p:cNvGrpSpPr/>
          <p:nvPr/>
        </p:nvGrpSpPr>
        <p:grpSpPr>
          <a:xfrm rot="0">
            <a:off x="970577" y="2136011"/>
            <a:ext cx="16346846" cy="7498292"/>
            <a:chOff x="0" y="0"/>
            <a:chExt cx="4465291" cy="2048227"/>
          </a:xfrm>
        </p:grpSpPr>
        <p:sp>
          <p:nvSpPr>
            <p:cNvPr name="Freeform 6" id="6"/>
            <p:cNvSpPr/>
            <p:nvPr/>
          </p:nvSpPr>
          <p:spPr>
            <a:xfrm flipH="false" flipV="false" rot="0">
              <a:off x="0" y="0"/>
              <a:ext cx="4465291" cy="2048227"/>
            </a:xfrm>
            <a:custGeom>
              <a:avLst/>
              <a:gdLst/>
              <a:ahLst/>
              <a:cxnLst/>
              <a:rect r="r" b="b" t="t" l="l"/>
              <a:pathLst>
                <a:path h="2048227" w="4465291">
                  <a:moveTo>
                    <a:pt x="16576" y="0"/>
                  </a:moveTo>
                  <a:lnTo>
                    <a:pt x="4448715" y="0"/>
                  </a:lnTo>
                  <a:cubicBezTo>
                    <a:pt x="4453111" y="0"/>
                    <a:pt x="4457328" y="1746"/>
                    <a:pt x="4460436" y="4855"/>
                  </a:cubicBezTo>
                  <a:cubicBezTo>
                    <a:pt x="4463545" y="7964"/>
                    <a:pt x="4465291" y="12180"/>
                    <a:pt x="4465291" y="16576"/>
                  </a:cubicBezTo>
                  <a:lnTo>
                    <a:pt x="4465291" y="2031651"/>
                  </a:lnTo>
                  <a:cubicBezTo>
                    <a:pt x="4465291" y="2036047"/>
                    <a:pt x="4463545" y="2040264"/>
                    <a:pt x="4460436" y="2043372"/>
                  </a:cubicBezTo>
                  <a:cubicBezTo>
                    <a:pt x="4457328" y="2046481"/>
                    <a:pt x="4453111" y="2048227"/>
                    <a:pt x="4448715" y="2048227"/>
                  </a:cubicBezTo>
                  <a:lnTo>
                    <a:pt x="16576" y="2048227"/>
                  </a:lnTo>
                  <a:cubicBezTo>
                    <a:pt x="12180" y="2048227"/>
                    <a:pt x="7964" y="2046481"/>
                    <a:pt x="4855" y="2043372"/>
                  </a:cubicBezTo>
                  <a:cubicBezTo>
                    <a:pt x="1746" y="2040264"/>
                    <a:pt x="0" y="2036047"/>
                    <a:pt x="0" y="2031651"/>
                  </a:cubicBezTo>
                  <a:lnTo>
                    <a:pt x="0" y="16576"/>
                  </a:lnTo>
                  <a:cubicBezTo>
                    <a:pt x="0" y="12180"/>
                    <a:pt x="1746" y="7964"/>
                    <a:pt x="4855" y="4855"/>
                  </a:cubicBezTo>
                  <a:cubicBezTo>
                    <a:pt x="7964" y="1746"/>
                    <a:pt x="12180" y="0"/>
                    <a:pt x="16576" y="0"/>
                  </a:cubicBezTo>
                  <a:close/>
                </a:path>
              </a:pathLst>
            </a:custGeom>
            <a:solidFill>
              <a:srgbClr val="C4C3C3"/>
            </a:solidFill>
            <a:ln w="19050" cap="rnd">
              <a:solidFill>
                <a:srgbClr val="1F525C"/>
              </a:solidFill>
              <a:prstDash val="solid"/>
              <a:round/>
            </a:ln>
          </p:spPr>
        </p:sp>
        <p:sp>
          <p:nvSpPr>
            <p:cNvPr name="TextBox 7" id="7"/>
            <p:cNvSpPr txBox="true"/>
            <p:nvPr/>
          </p:nvSpPr>
          <p:spPr>
            <a:xfrm>
              <a:off x="0" y="85725"/>
              <a:ext cx="4465291" cy="1962502"/>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8" id="8"/>
          <p:cNvGrpSpPr/>
          <p:nvPr/>
        </p:nvGrpSpPr>
        <p:grpSpPr>
          <a:xfrm rot="0">
            <a:off x="1310124" y="2405721"/>
            <a:ext cx="7598798" cy="2117372"/>
            <a:chOff x="0" y="0"/>
            <a:chExt cx="2075681" cy="578380"/>
          </a:xfrm>
        </p:grpSpPr>
        <p:sp>
          <p:nvSpPr>
            <p:cNvPr name="Freeform 9" id="9"/>
            <p:cNvSpPr/>
            <p:nvPr/>
          </p:nvSpPr>
          <p:spPr>
            <a:xfrm flipH="false" flipV="false" rot="0">
              <a:off x="0" y="0"/>
              <a:ext cx="2075681" cy="578380"/>
            </a:xfrm>
            <a:custGeom>
              <a:avLst/>
              <a:gdLst/>
              <a:ahLst/>
              <a:cxnLst/>
              <a:rect r="r" b="b" t="t" l="l"/>
              <a:pathLst>
                <a:path h="578380" w="2075681">
                  <a:moveTo>
                    <a:pt x="35659" y="0"/>
                  </a:moveTo>
                  <a:lnTo>
                    <a:pt x="2040022" y="0"/>
                  </a:lnTo>
                  <a:cubicBezTo>
                    <a:pt x="2059716" y="0"/>
                    <a:pt x="2075681" y="15965"/>
                    <a:pt x="2075681" y="35659"/>
                  </a:cubicBezTo>
                  <a:lnTo>
                    <a:pt x="2075681" y="542720"/>
                  </a:lnTo>
                  <a:cubicBezTo>
                    <a:pt x="2075681" y="552178"/>
                    <a:pt x="2071925" y="561248"/>
                    <a:pt x="2065237" y="567935"/>
                  </a:cubicBezTo>
                  <a:cubicBezTo>
                    <a:pt x="2058550" y="574623"/>
                    <a:pt x="2049480" y="578380"/>
                    <a:pt x="2040022" y="578380"/>
                  </a:cubicBezTo>
                  <a:lnTo>
                    <a:pt x="35659" y="578380"/>
                  </a:lnTo>
                  <a:cubicBezTo>
                    <a:pt x="26202" y="578380"/>
                    <a:pt x="17132" y="574623"/>
                    <a:pt x="10444" y="567935"/>
                  </a:cubicBezTo>
                  <a:cubicBezTo>
                    <a:pt x="3757" y="561248"/>
                    <a:pt x="0" y="552178"/>
                    <a:pt x="0" y="542720"/>
                  </a:cubicBezTo>
                  <a:lnTo>
                    <a:pt x="0" y="35659"/>
                  </a:lnTo>
                  <a:cubicBezTo>
                    <a:pt x="0" y="26202"/>
                    <a:pt x="3757" y="17132"/>
                    <a:pt x="10444" y="10444"/>
                  </a:cubicBezTo>
                  <a:cubicBezTo>
                    <a:pt x="17132" y="3757"/>
                    <a:pt x="26202" y="0"/>
                    <a:pt x="35659" y="0"/>
                  </a:cubicBezTo>
                  <a:close/>
                </a:path>
              </a:pathLst>
            </a:custGeom>
            <a:solidFill>
              <a:srgbClr val="76A88E"/>
            </a:solidFill>
            <a:ln w="19050" cap="rnd">
              <a:solidFill>
                <a:srgbClr val="FFFFFF"/>
              </a:solidFill>
              <a:prstDash val="solid"/>
              <a:round/>
            </a:ln>
          </p:spPr>
        </p:sp>
        <p:sp>
          <p:nvSpPr>
            <p:cNvPr name="TextBox 10" id="10"/>
            <p:cNvSpPr txBox="true"/>
            <p:nvPr/>
          </p:nvSpPr>
          <p:spPr>
            <a:xfrm>
              <a:off x="0" y="85725"/>
              <a:ext cx="2075681" cy="492655"/>
            </a:xfrm>
            <a:prstGeom prst="rect">
              <a:avLst/>
            </a:prstGeom>
          </p:spPr>
          <p:txBody>
            <a:bodyPr anchor="ctr" rtlCol="false" tIns="48980" lIns="48980" bIns="48980" rIns="48980"/>
            <a:lstStyle/>
            <a:p>
              <a:pPr algn="ctr" marL="0" indent="0" lvl="0">
                <a:lnSpc>
                  <a:spcPts val="2218"/>
                </a:lnSpc>
                <a:spcBef>
                  <a:spcPct val="0"/>
                </a:spcBef>
              </a:pPr>
            </a:p>
          </p:txBody>
        </p:sp>
      </p:grpSp>
      <p:sp>
        <p:nvSpPr>
          <p:cNvPr name="TextBox 11" id="11"/>
          <p:cNvSpPr txBox="true"/>
          <p:nvPr/>
        </p:nvSpPr>
        <p:spPr>
          <a:xfrm rot="0">
            <a:off x="3083403" y="2729633"/>
            <a:ext cx="4052240" cy="355990"/>
          </a:xfrm>
          <a:prstGeom prst="rect">
            <a:avLst/>
          </a:prstGeom>
        </p:spPr>
        <p:txBody>
          <a:bodyPr anchor="t" rtlCol="false" tIns="0" lIns="0" bIns="0" rIns="0">
            <a:spAutoFit/>
          </a:bodyPr>
          <a:lstStyle/>
          <a:p>
            <a:pPr algn="ctr">
              <a:lnSpc>
                <a:spcPts val="2953"/>
              </a:lnSpc>
              <a:spcBef>
                <a:spcPct val="0"/>
              </a:spcBef>
            </a:pPr>
            <a:r>
              <a:rPr lang="en-US" b="true" sz="2109" spc="-158">
                <a:solidFill>
                  <a:srgbClr val="FFFFFF"/>
                </a:solidFill>
                <a:latin typeface="Canva Sans Bold"/>
                <a:ea typeface="Canva Sans Bold"/>
                <a:cs typeface="Canva Sans Bold"/>
                <a:sym typeface="Canva Sans Bold"/>
              </a:rPr>
              <a:t>Ti</a:t>
            </a:r>
            <a:r>
              <a:rPr lang="en-US" b="true" sz="2109" spc="-158">
                <a:solidFill>
                  <a:srgbClr val="FFFFFF"/>
                </a:solidFill>
                <a:latin typeface="Canva Sans Bold"/>
                <a:ea typeface="Canva Sans Bold"/>
                <a:cs typeface="Canva Sans Bold"/>
                <a:sym typeface="Canva Sans Bold"/>
              </a:rPr>
              <a:t>pping ratio may not generalize </a:t>
            </a:r>
          </a:p>
        </p:txBody>
      </p:sp>
      <p:sp>
        <p:nvSpPr>
          <p:cNvPr name="TextBox 12" id="12"/>
          <p:cNvSpPr txBox="true"/>
          <p:nvPr/>
        </p:nvSpPr>
        <p:spPr>
          <a:xfrm rot="0">
            <a:off x="1973703" y="3352322"/>
            <a:ext cx="6271640" cy="824100"/>
          </a:xfrm>
          <a:prstGeom prst="rect">
            <a:avLst/>
          </a:prstGeom>
        </p:spPr>
        <p:txBody>
          <a:bodyPr anchor="t" rtlCol="false" tIns="0" lIns="0" bIns="0" rIns="0">
            <a:spAutoFit/>
          </a:bodyPr>
          <a:lstStyle/>
          <a:p>
            <a:pPr algn="ctr">
              <a:lnSpc>
                <a:spcPts val="2197"/>
              </a:lnSpc>
            </a:pPr>
            <a:r>
              <a:rPr lang="en-US" sz="1801" spc="-37">
                <a:solidFill>
                  <a:srgbClr val="F8F6F7"/>
                </a:solidFill>
                <a:latin typeface="Aileron"/>
                <a:ea typeface="Aileron"/>
                <a:cs typeface="Aileron"/>
                <a:sym typeface="Aileron"/>
              </a:rPr>
              <a:t>The 1.29× threshold (LL adoption &gt;50%) is derived from this dataset; real‑world customers may respond differently to value ratios.</a:t>
            </a:r>
          </a:p>
        </p:txBody>
      </p:sp>
      <p:grpSp>
        <p:nvGrpSpPr>
          <p:cNvPr name="Group 13" id="13"/>
          <p:cNvGrpSpPr/>
          <p:nvPr/>
        </p:nvGrpSpPr>
        <p:grpSpPr>
          <a:xfrm rot="0">
            <a:off x="9265579" y="2405721"/>
            <a:ext cx="7598798" cy="2117372"/>
            <a:chOff x="0" y="0"/>
            <a:chExt cx="2075681" cy="578380"/>
          </a:xfrm>
        </p:grpSpPr>
        <p:sp>
          <p:nvSpPr>
            <p:cNvPr name="Freeform 14" id="14"/>
            <p:cNvSpPr/>
            <p:nvPr/>
          </p:nvSpPr>
          <p:spPr>
            <a:xfrm flipH="false" flipV="false" rot="0">
              <a:off x="0" y="0"/>
              <a:ext cx="2075681" cy="578380"/>
            </a:xfrm>
            <a:custGeom>
              <a:avLst/>
              <a:gdLst/>
              <a:ahLst/>
              <a:cxnLst/>
              <a:rect r="r" b="b" t="t" l="l"/>
              <a:pathLst>
                <a:path h="578380" w="2075681">
                  <a:moveTo>
                    <a:pt x="35659" y="0"/>
                  </a:moveTo>
                  <a:lnTo>
                    <a:pt x="2040022" y="0"/>
                  </a:lnTo>
                  <a:cubicBezTo>
                    <a:pt x="2059716" y="0"/>
                    <a:pt x="2075681" y="15965"/>
                    <a:pt x="2075681" y="35659"/>
                  </a:cubicBezTo>
                  <a:lnTo>
                    <a:pt x="2075681" y="542720"/>
                  </a:lnTo>
                  <a:cubicBezTo>
                    <a:pt x="2075681" y="552178"/>
                    <a:pt x="2071925" y="561248"/>
                    <a:pt x="2065237" y="567935"/>
                  </a:cubicBezTo>
                  <a:cubicBezTo>
                    <a:pt x="2058550" y="574623"/>
                    <a:pt x="2049480" y="578380"/>
                    <a:pt x="2040022" y="578380"/>
                  </a:cubicBezTo>
                  <a:lnTo>
                    <a:pt x="35659" y="578380"/>
                  </a:lnTo>
                  <a:cubicBezTo>
                    <a:pt x="26202" y="578380"/>
                    <a:pt x="17132" y="574623"/>
                    <a:pt x="10444" y="567935"/>
                  </a:cubicBezTo>
                  <a:cubicBezTo>
                    <a:pt x="3757" y="561248"/>
                    <a:pt x="0" y="552178"/>
                    <a:pt x="0" y="542720"/>
                  </a:cubicBezTo>
                  <a:lnTo>
                    <a:pt x="0" y="35659"/>
                  </a:lnTo>
                  <a:cubicBezTo>
                    <a:pt x="0" y="26202"/>
                    <a:pt x="3757" y="17132"/>
                    <a:pt x="10444" y="10444"/>
                  </a:cubicBezTo>
                  <a:cubicBezTo>
                    <a:pt x="17132" y="3757"/>
                    <a:pt x="26202" y="0"/>
                    <a:pt x="35659" y="0"/>
                  </a:cubicBezTo>
                  <a:close/>
                </a:path>
              </a:pathLst>
            </a:custGeom>
            <a:solidFill>
              <a:srgbClr val="76A88E"/>
            </a:solidFill>
            <a:ln w="19050" cap="rnd">
              <a:solidFill>
                <a:srgbClr val="FFFFFF"/>
              </a:solidFill>
              <a:prstDash val="solid"/>
              <a:round/>
            </a:ln>
          </p:spPr>
        </p:sp>
        <p:sp>
          <p:nvSpPr>
            <p:cNvPr name="TextBox 15" id="15"/>
            <p:cNvSpPr txBox="true"/>
            <p:nvPr/>
          </p:nvSpPr>
          <p:spPr>
            <a:xfrm>
              <a:off x="0" y="85725"/>
              <a:ext cx="2075681" cy="492655"/>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16" id="16"/>
          <p:cNvGrpSpPr/>
          <p:nvPr/>
        </p:nvGrpSpPr>
        <p:grpSpPr>
          <a:xfrm rot="0">
            <a:off x="1310124" y="4761218"/>
            <a:ext cx="7598798" cy="2117372"/>
            <a:chOff x="0" y="0"/>
            <a:chExt cx="2075681" cy="578380"/>
          </a:xfrm>
        </p:grpSpPr>
        <p:sp>
          <p:nvSpPr>
            <p:cNvPr name="Freeform 17" id="17"/>
            <p:cNvSpPr/>
            <p:nvPr/>
          </p:nvSpPr>
          <p:spPr>
            <a:xfrm flipH="false" flipV="false" rot="0">
              <a:off x="0" y="0"/>
              <a:ext cx="2075681" cy="578380"/>
            </a:xfrm>
            <a:custGeom>
              <a:avLst/>
              <a:gdLst/>
              <a:ahLst/>
              <a:cxnLst/>
              <a:rect r="r" b="b" t="t" l="l"/>
              <a:pathLst>
                <a:path h="578380" w="2075681">
                  <a:moveTo>
                    <a:pt x="35659" y="0"/>
                  </a:moveTo>
                  <a:lnTo>
                    <a:pt x="2040022" y="0"/>
                  </a:lnTo>
                  <a:cubicBezTo>
                    <a:pt x="2059716" y="0"/>
                    <a:pt x="2075681" y="15965"/>
                    <a:pt x="2075681" y="35659"/>
                  </a:cubicBezTo>
                  <a:lnTo>
                    <a:pt x="2075681" y="542720"/>
                  </a:lnTo>
                  <a:cubicBezTo>
                    <a:pt x="2075681" y="552178"/>
                    <a:pt x="2071925" y="561248"/>
                    <a:pt x="2065237" y="567935"/>
                  </a:cubicBezTo>
                  <a:cubicBezTo>
                    <a:pt x="2058550" y="574623"/>
                    <a:pt x="2049480" y="578380"/>
                    <a:pt x="2040022" y="578380"/>
                  </a:cubicBezTo>
                  <a:lnTo>
                    <a:pt x="35659" y="578380"/>
                  </a:lnTo>
                  <a:cubicBezTo>
                    <a:pt x="26202" y="578380"/>
                    <a:pt x="17132" y="574623"/>
                    <a:pt x="10444" y="567935"/>
                  </a:cubicBezTo>
                  <a:cubicBezTo>
                    <a:pt x="3757" y="561248"/>
                    <a:pt x="0" y="552178"/>
                    <a:pt x="0" y="542720"/>
                  </a:cubicBezTo>
                  <a:lnTo>
                    <a:pt x="0" y="35659"/>
                  </a:lnTo>
                  <a:cubicBezTo>
                    <a:pt x="0" y="26202"/>
                    <a:pt x="3757" y="17132"/>
                    <a:pt x="10444" y="10444"/>
                  </a:cubicBezTo>
                  <a:cubicBezTo>
                    <a:pt x="17132" y="3757"/>
                    <a:pt x="26202" y="0"/>
                    <a:pt x="35659" y="0"/>
                  </a:cubicBezTo>
                  <a:close/>
                </a:path>
              </a:pathLst>
            </a:custGeom>
            <a:solidFill>
              <a:srgbClr val="598C71"/>
            </a:solidFill>
            <a:ln w="19050" cap="rnd">
              <a:solidFill>
                <a:srgbClr val="FFFFFF"/>
              </a:solidFill>
              <a:prstDash val="solid"/>
              <a:round/>
            </a:ln>
          </p:spPr>
        </p:sp>
        <p:sp>
          <p:nvSpPr>
            <p:cNvPr name="TextBox 18" id="18"/>
            <p:cNvSpPr txBox="true"/>
            <p:nvPr/>
          </p:nvSpPr>
          <p:spPr>
            <a:xfrm>
              <a:off x="0" y="85725"/>
              <a:ext cx="2075681" cy="492655"/>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19" id="19"/>
          <p:cNvGrpSpPr/>
          <p:nvPr/>
        </p:nvGrpSpPr>
        <p:grpSpPr>
          <a:xfrm rot="0">
            <a:off x="9265579" y="4761218"/>
            <a:ext cx="7598798" cy="2117372"/>
            <a:chOff x="0" y="0"/>
            <a:chExt cx="2075681" cy="578380"/>
          </a:xfrm>
        </p:grpSpPr>
        <p:sp>
          <p:nvSpPr>
            <p:cNvPr name="Freeform 20" id="20"/>
            <p:cNvSpPr/>
            <p:nvPr/>
          </p:nvSpPr>
          <p:spPr>
            <a:xfrm flipH="false" flipV="false" rot="0">
              <a:off x="0" y="0"/>
              <a:ext cx="2075681" cy="578380"/>
            </a:xfrm>
            <a:custGeom>
              <a:avLst/>
              <a:gdLst/>
              <a:ahLst/>
              <a:cxnLst/>
              <a:rect r="r" b="b" t="t" l="l"/>
              <a:pathLst>
                <a:path h="578380" w="2075681">
                  <a:moveTo>
                    <a:pt x="35659" y="0"/>
                  </a:moveTo>
                  <a:lnTo>
                    <a:pt x="2040022" y="0"/>
                  </a:lnTo>
                  <a:cubicBezTo>
                    <a:pt x="2059716" y="0"/>
                    <a:pt x="2075681" y="15965"/>
                    <a:pt x="2075681" y="35659"/>
                  </a:cubicBezTo>
                  <a:lnTo>
                    <a:pt x="2075681" y="542720"/>
                  </a:lnTo>
                  <a:cubicBezTo>
                    <a:pt x="2075681" y="552178"/>
                    <a:pt x="2071925" y="561248"/>
                    <a:pt x="2065237" y="567935"/>
                  </a:cubicBezTo>
                  <a:cubicBezTo>
                    <a:pt x="2058550" y="574623"/>
                    <a:pt x="2049480" y="578380"/>
                    <a:pt x="2040022" y="578380"/>
                  </a:cubicBezTo>
                  <a:lnTo>
                    <a:pt x="35659" y="578380"/>
                  </a:lnTo>
                  <a:cubicBezTo>
                    <a:pt x="26202" y="578380"/>
                    <a:pt x="17132" y="574623"/>
                    <a:pt x="10444" y="567935"/>
                  </a:cubicBezTo>
                  <a:cubicBezTo>
                    <a:pt x="3757" y="561248"/>
                    <a:pt x="0" y="552178"/>
                    <a:pt x="0" y="542720"/>
                  </a:cubicBezTo>
                  <a:lnTo>
                    <a:pt x="0" y="35659"/>
                  </a:lnTo>
                  <a:cubicBezTo>
                    <a:pt x="0" y="26202"/>
                    <a:pt x="3757" y="17132"/>
                    <a:pt x="10444" y="10444"/>
                  </a:cubicBezTo>
                  <a:cubicBezTo>
                    <a:pt x="17132" y="3757"/>
                    <a:pt x="26202" y="0"/>
                    <a:pt x="35659" y="0"/>
                  </a:cubicBezTo>
                  <a:close/>
                </a:path>
              </a:pathLst>
            </a:custGeom>
            <a:solidFill>
              <a:srgbClr val="598C71"/>
            </a:solidFill>
            <a:ln w="19050" cap="rnd">
              <a:solidFill>
                <a:srgbClr val="FFFFFF"/>
              </a:solidFill>
              <a:prstDash val="solid"/>
              <a:round/>
            </a:ln>
          </p:spPr>
        </p:sp>
        <p:sp>
          <p:nvSpPr>
            <p:cNvPr name="TextBox 21" id="21"/>
            <p:cNvSpPr txBox="true"/>
            <p:nvPr/>
          </p:nvSpPr>
          <p:spPr>
            <a:xfrm>
              <a:off x="0" y="85725"/>
              <a:ext cx="2075681" cy="492655"/>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22" id="22"/>
          <p:cNvGrpSpPr/>
          <p:nvPr/>
        </p:nvGrpSpPr>
        <p:grpSpPr>
          <a:xfrm rot="0">
            <a:off x="1310124" y="7145290"/>
            <a:ext cx="7598798" cy="2117372"/>
            <a:chOff x="0" y="0"/>
            <a:chExt cx="2075681" cy="578380"/>
          </a:xfrm>
        </p:grpSpPr>
        <p:sp>
          <p:nvSpPr>
            <p:cNvPr name="Freeform 23" id="23"/>
            <p:cNvSpPr/>
            <p:nvPr/>
          </p:nvSpPr>
          <p:spPr>
            <a:xfrm flipH="false" flipV="false" rot="0">
              <a:off x="0" y="0"/>
              <a:ext cx="2075681" cy="578380"/>
            </a:xfrm>
            <a:custGeom>
              <a:avLst/>
              <a:gdLst/>
              <a:ahLst/>
              <a:cxnLst/>
              <a:rect r="r" b="b" t="t" l="l"/>
              <a:pathLst>
                <a:path h="578380" w="2075681">
                  <a:moveTo>
                    <a:pt x="35659" y="0"/>
                  </a:moveTo>
                  <a:lnTo>
                    <a:pt x="2040022" y="0"/>
                  </a:lnTo>
                  <a:cubicBezTo>
                    <a:pt x="2059716" y="0"/>
                    <a:pt x="2075681" y="15965"/>
                    <a:pt x="2075681" y="35659"/>
                  </a:cubicBezTo>
                  <a:lnTo>
                    <a:pt x="2075681" y="542720"/>
                  </a:lnTo>
                  <a:cubicBezTo>
                    <a:pt x="2075681" y="552178"/>
                    <a:pt x="2071925" y="561248"/>
                    <a:pt x="2065237" y="567935"/>
                  </a:cubicBezTo>
                  <a:cubicBezTo>
                    <a:pt x="2058550" y="574623"/>
                    <a:pt x="2049480" y="578380"/>
                    <a:pt x="2040022" y="578380"/>
                  </a:cubicBezTo>
                  <a:lnTo>
                    <a:pt x="35659" y="578380"/>
                  </a:lnTo>
                  <a:cubicBezTo>
                    <a:pt x="26202" y="578380"/>
                    <a:pt x="17132" y="574623"/>
                    <a:pt x="10444" y="567935"/>
                  </a:cubicBezTo>
                  <a:cubicBezTo>
                    <a:pt x="3757" y="561248"/>
                    <a:pt x="0" y="552178"/>
                    <a:pt x="0" y="542720"/>
                  </a:cubicBezTo>
                  <a:lnTo>
                    <a:pt x="0" y="35659"/>
                  </a:lnTo>
                  <a:cubicBezTo>
                    <a:pt x="0" y="26202"/>
                    <a:pt x="3757" y="17132"/>
                    <a:pt x="10444" y="10444"/>
                  </a:cubicBezTo>
                  <a:cubicBezTo>
                    <a:pt x="17132" y="3757"/>
                    <a:pt x="26202" y="0"/>
                    <a:pt x="35659" y="0"/>
                  </a:cubicBezTo>
                  <a:close/>
                </a:path>
              </a:pathLst>
            </a:custGeom>
            <a:solidFill>
              <a:srgbClr val="3B6951"/>
            </a:solidFill>
            <a:ln w="19050" cap="rnd">
              <a:solidFill>
                <a:srgbClr val="FFFFFF"/>
              </a:solidFill>
              <a:prstDash val="solid"/>
              <a:round/>
            </a:ln>
          </p:spPr>
        </p:sp>
        <p:sp>
          <p:nvSpPr>
            <p:cNvPr name="TextBox 24" id="24"/>
            <p:cNvSpPr txBox="true"/>
            <p:nvPr/>
          </p:nvSpPr>
          <p:spPr>
            <a:xfrm>
              <a:off x="0" y="85725"/>
              <a:ext cx="2075681" cy="492655"/>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25" id="25"/>
          <p:cNvGrpSpPr/>
          <p:nvPr/>
        </p:nvGrpSpPr>
        <p:grpSpPr>
          <a:xfrm rot="0">
            <a:off x="9265579" y="7145290"/>
            <a:ext cx="7598798" cy="2117372"/>
            <a:chOff x="0" y="0"/>
            <a:chExt cx="2075681" cy="578380"/>
          </a:xfrm>
        </p:grpSpPr>
        <p:sp>
          <p:nvSpPr>
            <p:cNvPr name="Freeform 26" id="26"/>
            <p:cNvSpPr/>
            <p:nvPr/>
          </p:nvSpPr>
          <p:spPr>
            <a:xfrm flipH="false" flipV="false" rot="0">
              <a:off x="0" y="0"/>
              <a:ext cx="2075681" cy="578380"/>
            </a:xfrm>
            <a:custGeom>
              <a:avLst/>
              <a:gdLst/>
              <a:ahLst/>
              <a:cxnLst/>
              <a:rect r="r" b="b" t="t" l="l"/>
              <a:pathLst>
                <a:path h="578380" w="2075681">
                  <a:moveTo>
                    <a:pt x="35659" y="0"/>
                  </a:moveTo>
                  <a:lnTo>
                    <a:pt x="2040022" y="0"/>
                  </a:lnTo>
                  <a:cubicBezTo>
                    <a:pt x="2059716" y="0"/>
                    <a:pt x="2075681" y="15965"/>
                    <a:pt x="2075681" y="35659"/>
                  </a:cubicBezTo>
                  <a:lnTo>
                    <a:pt x="2075681" y="542720"/>
                  </a:lnTo>
                  <a:cubicBezTo>
                    <a:pt x="2075681" y="552178"/>
                    <a:pt x="2071925" y="561248"/>
                    <a:pt x="2065237" y="567935"/>
                  </a:cubicBezTo>
                  <a:cubicBezTo>
                    <a:pt x="2058550" y="574623"/>
                    <a:pt x="2049480" y="578380"/>
                    <a:pt x="2040022" y="578380"/>
                  </a:cubicBezTo>
                  <a:lnTo>
                    <a:pt x="35659" y="578380"/>
                  </a:lnTo>
                  <a:cubicBezTo>
                    <a:pt x="26202" y="578380"/>
                    <a:pt x="17132" y="574623"/>
                    <a:pt x="10444" y="567935"/>
                  </a:cubicBezTo>
                  <a:cubicBezTo>
                    <a:pt x="3757" y="561248"/>
                    <a:pt x="0" y="552178"/>
                    <a:pt x="0" y="542720"/>
                  </a:cubicBezTo>
                  <a:lnTo>
                    <a:pt x="0" y="35659"/>
                  </a:lnTo>
                  <a:cubicBezTo>
                    <a:pt x="0" y="26202"/>
                    <a:pt x="3757" y="17132"/>
                    <a:pt x="10444" y="10444"/>
                  </a:cubicBezTo>
                  <a:cubicBezTo>
                    <a:pt x="17132" y="3757"/>
                    <a:pt x="26202" y="0"/>
                    <a:pt x="35659" y="0"/>
                  </a:cubicBezTo>
                  <a:close/>
                </a:path>
              </a:pathLst>
            </a:custGeom>
            <a:solidFill>
              <a:srgbClr val="3B6951"/>
            </a:solidFill>
            <a:ln w="19050" cap="rnd">
              <a:solidFill>
                <a:srgbClr val="FFFFFF"/>
              </a:solidFill>
              <a:prstDash val="solid"/>
              <a:round/>
            </a:ln>
          </p:spPr>
        </p:sp>
        <p:sp>
          <p:nvSpPr>
            <p:cNvPr name="TextBox 27" id="27"/>
            <p:cNvSpPr txBox="true"/>
            <p:nvPr/>
          </p:nvSpPr>
          <p:spPr>
            <a:xfrm>
              <a:off x="0" y="85725"/>
              <a:ext cx="2075681" cy="492655"/>
            </a:xfrm>
            <a:prstGeom prst="rect">
              <a:avLst/>
            </a:prstGeom>
          </p:spPr>
          <p:txBody>
            <a:bodyPr anchor="ctr" rtlCol="false" tIns="48980" lIns="48980" bIns="48980" rIns="48980"/>
            <a:lstStyle/>
            <a:p>
              <a:pPr algn="ctr" marL="0" indent="0" lvl="0">
                <a:lnSpc>
                  <a:spcPts val="2218"/>
                </a:lnSpc>
                <a:spcBef>
                  <a:spcPct val="0"/>
                </a:spcBef>
              </a:pPr>
            </a:p>
          </p:txBody>
        </p:sp>
      </p:grpSp>
      <p:sp>
        <p:nvSpPr>
          <p:cNvPr name="TextBox 28" id="28"/>
          <p:cNvSpPr txBox="true"/>
          <p:nvPr/>
        </p:nvSpPr>
        <p:spPr>
          <a:xfrm rot="0">
            <a:off x="10152218" y="2729633"/>
            <a:ext cx="5825519" cy="355990"/>
          </a:xfrm>
          <a:prstGeom prst="rect">
            <a:avLst/>
          </a:prstGeom>
        </p:spPr>
        <p:txBody>
          <a:bodyPr anchor="t" rtlCol="false" tIns="0" lIns="0" bIns="0" rIns="0">
            <a:spAutoFit/>
          </a:bodyPr>
          <a:lstStyle/>
          <a:p>
            <a:pPr algn="ctr">
              <a:lnSpc>
                <a:spcPts val="2953"/>
              </a:lnSpc>
              <a:spcBef>
                <a:spcPct val="0"/>
              </a:spcBef>
            </a:pPr>
            <a:r>
              <a:rPr lang="en-US" b="true" sz="2109" spc="-158">
                <a:solidFill>
                  <a:srgbClr val="FFFFFF"/>
                </a:solidFill>
                <a:latin typeface="Canva Sans Bold"/>
                <a:ea typeface="Canva Sans Bold"/>
                <a:cs typeface="Canva Sans Bold"/>
                <a:sym typeface="Canva Sans Bold"/>
              </a:rPr>
              <a:t>Task des</a:t>
            </a:r>
            <a:r>
              <a:rPr lang="en-US" b="true" sz="2109" spc="-158">
                <a:solidFill>
                  <a:srgbClr val="FFFFFF"/>
                </a:solidFill>
                <a:latin typeface="Canva Sans Bold"/>
                <a:ea typeface="Canva Sans Bold"/>
                <a:cs typeface="Canva Sans Bold"/>
                <a:sym typeface="Canva Sans Bold"/>
              </a:rPr>
              <a:t>ign drives large behavioral differences</a:t>
            </a:r>
          </a:p>
        </p:txBody>
      </p:sp>
      <p:sp>
        <p:nvSpPr>
          <p:cNvPr name="TextBox 29" id="29"/>
          <p:cNvSpPr txBox="true"/>
          <p:nvPr/>
        </p:nvSpPr>
        <p:spPr>
          <a:xfrm rot="0">
            <a:off x="9929158" y="3352322"/>
            <a:ext cx="6271640" cy="824100"/>
          </a:xfrm>
          <a:prstGeom prst="rect">
            <a:avLst/>
          </a:prstGeom>
        </p:spPr>
        <p:txBody>
          <a:bodyPr anchor="t" rtlCol="false" tIns="0" lIns="0" bIns="0" rIns="0">
            <a:spAutoFit/>
          </a:bodyPr>
          <a:lstStyle/>
          <a:p>
            <a:pPr algn="ctr">
              <a:lnSpc>
                <a:spcPts val="2197"/>
              </a:lnSpc>
            </a:pPr>
            <a:r>
              <a:rPr lang="en-US" sz="1801" spc="-37">
                <a:solidFill>
                  <a:srgbClr val="F8F6F7"/>
                </a:solidFill>
                <a:latin typeface="Aileron"/>
                <a:ea typeface="Aileron"/>
                <a:cs typeface="Aileron"/>
                <a:sym typeface="Aileron"/>
              </a:rPr>
              <a:t>Procedure type explains ~30pp variation in LL choices, meaning model predictions are partly shaped by experimental structure rather than pure user traits</a:t>
            </a:r>
          </a:p>
        </p:txBody>
      </p:sp>
      <p:sp>
        <p:nvSpPr>
          <p:cNvPr name="TextBox 30" id="30"/>
          <p:cNvSpPr txBox="true"/>
          <p:nvPr/>
        </p:nvSpPr>
        <p:spPr>
          <a:xfrm rot="0">
            <a:off x="2063166" y="5077459"/>
            <a:ext cx="6182176" cy="355990"/>
          </a:xfrm>
          <a:prstGeom prst="rect">
            <a:avLst/>
          </a:prstGeom>
        </p:spPr>
        <p:txBody>
          <a:bodyPr anchor="t" rtlCol="false" tIns="0" lIns="0" bIns="0" rIns="0">
            <a:spAutoFit/>
          </a:bodyPr>
          <a:lstStyle/>
          <a:p>
            <a:pPr algn="ctr">
              <a:lnSpc>
                <a:spcPts val="2953"/>
              </a:lnSpc>
              <a:spcBef>
                <a:spcPct val="0"/>
              </a:spcBef>
            </a:pPr>
            <a:r>
              <a:rPr lang="en-US" b="true" sz="2109" spc="-158">
                <a:solidFill>
                  <a:srgbClr val="FFFFFF"/>
                </a:solidFill>
                <a:latin typeface="Canva Sans Bold"/>
                <a:ea typeface="Canva Sans Bold"/>
                <a:cs typeface="Canva Sans Bold"/>
                <a:sym typeface="Canva Sans Bold"/>
              </a:rPr>
              <a:t>Onl</a:t>
            </a:r>
            <a:r>
              <a:rPr lang="en-US" b="true" sz="2109" spc="-158">
                <a:solidFill>
                  <a:srgbClr val="FFFFFF"/>
                </a:solidFill>
                <a:latin typeface="Canva Sans Bold"/>
                <a:ea typeface="Canva Sans Bold"/>
                <a:cs typeface="Canva Sans Bold"/>
                <a:sym typeface="Canva Sans Bold"/>
              </a:rPr>
              <a:t>ine vs. lab differences complicate interpretation</a:t>
            </a:r>
          </a:p>
        </p:txBody>
      </p:sp>
      <p:sp>
        <p:nvSpPr>
          <p:cNvPr name="TextBox 31" id="31"/>
          <p:cNvSpPr txBox="true"/>
          <p:nvPr/>
        </p:nvSpPr>
        <p:spPr>
          <a:xfrm rot="0">
            <a:off x="1973703" y="5700149"/>
            <a:ext cx="6271640" cy="824100"/>
          </a:xfrm>
          <a:prstGeom prst="rect">
            <a:avLst/>
          </a:prstGeom>
        </p:spPr>
        <p:txBody>
          <a:bodyPr anchor="t" rtlCol="false" tIns="0" lIns="0" bIns="0" rIns="0">
            <a:spAutoFit/>
          </a:bodyPr>
          <a:lstStyle/>
          <a:p>
            <a:pPr algn="ctr">
              <a:lnSpc>
                <a:spcPts val="2197"/>
              </a:lnSpc>
            </a:pPr>
            <a:r>
              <a:rPr lang="en-US" sz="1801" spc="-37">
                <a:solidFill>
                  <a:srgbClr val="F8F6F7"/>
                </a:solidFill>
                <a:latin typeface="Aileron"/>
                <a:ea typeface="Aileron"/>
                <a:cs typeface="Aileron"/>
                <a:sym typeface="Aileron"/>
              </a:rPr>
              <a:t>Online participants show ~8pp more impatience, so results depend on testing environment and may shift in real product contexts</a:t>
            </a:r>
          </a:p>
        </p:txBody>
      </p:sp>
      <p:sp>
        <p:nvSpPr>
          <p:cNvPr name="TextBox 32" id="32"/>
          <p:cNvSpPr txBox="true"/>
          <p:nvPr/>
        </p:nvSpPr>
        <p:spPr>
          <a:xfrm rot="0">
            <a:off x="10288596" y="5077459"/>
            <a:ext cx="5552763" cy="355990"/>
          </a:xfrm>
          <a:prstGeom prst="rect">
            <a:avLst/>
          </a:prstGeom>
        </p:spPr>
        <p:txBody>
          <a:bodyPr anchor="t" rtlCol="false" tIns="0" lIns="0" bIns="0" rIns="0">
            <a:spAutoFit/>
          </a:bodyPr>
          <a:lstStyle/>
          <a:p>
            <a:pPr algn="ctr">
              <a:lnSpc>
                <a:spcPts val="2953"/>
              </a:lnSpc>
              <a:spcBef>
                <a:spcPct val="0"/>
              </a:spcBef>
            </a:pPr>
            <a:r>
              <a:rPr lang="en-US" b="true" sz="2109" spc="-158">
                <a:solidFill>
                  <a:srgbClr val="FFFFFF"/>
                </a:solidFill>
                <a:latin typeface="Canva Sans Bold"/>
                <a:ea typeface="Canva Sans Bold"/>
                <a:cs typeface="Canva Sans Bold"/>
                <a:sym typeface="Canva Sans Bold"/>
              </a:rPr>
              <a:t>A</a:t>
            </a:r>
            <a:r>
              <a:rPr lang="en-US" b="true" sz="2109" spc="-158">
                <a:solidFill>
                  <a:srgbClr val="FFFFFF"/>
                </a:solidFill>
                <a:latin typeface="Canva Sans Bold"/>
                <a:ea typeface="Canva Sans Bold"/>
                <a:cs typeface="Canva Sans Bold"/>
                <a:sym typeface="Canva Sans Bold"/>
              </a:rPr>
              <a:t>ge effects are nonlinear and hard to generalize</a:t>
            </a:r>
          </a:p>
        </p:txBody>
      </p:sp>
      <p:sp>
        <p:nvSpPr>
          <p:cNvPr name="TextBox 33" id="33"/>
          <p:cNvSpPr txBox="true"/>
          <p:nvPr/>
        </p:nvSpPr>
        <p:spPr>
          <a:xfrm rot="0">
            <a:off x="9929158" y="5700149"/>
            <a:ext cx="6271640" cy="547875"/>
          </a:xfrm>
          <a:prstGeom prst="rect">
            <a:avLst/>
          </a:prstGeom>
        </p:spPr>
        <p:txBody>
          <a:bodyPr anchor="t" rtlCol="false" tIns="0" lIns="0" bIns="0" rIns="0">
            <a:spAutoFit/>
          </a:bodyPr>
          <a:lstStyle/>
          <a:p>
            <a:pPr algn="ctr">
              <a:lnSpc>
                <a:spcPts val="2197"/>
              </a:lnSpc>
            </a:pPr>
            <a:r>
              <a:rPr lang="en-US" sz="1801" spc="-37">
                <a:solidFill>
                  <a:srgbClr val="F8F6F7"/>
                </a:solidFill>
                <a:latin typeface="Aileron"/>
                <a:ea typeface="Aileron"/>
                <a:cs typeface="Aileron"/>
                <a:sym typeface="Aileron"/>
              </a:rPr>
              <a:t>Older users are slower and more variable in RT, but not uniformly less patient — demographic effects are not straightforward</a:t>
            </a:r>
          </a:p>
        </p:txBody>
      </p:sp>
      <p:sp>
        <p:nvSpPr>
          <p:cNvPr name="TextBox 34" id="34"/>
          <p:cNvSpPr txBox="true"/>
          <p:nvPr/>
        </p:nvSpPr>
        <p:spPr>
          <a:xfrm rot="0">
            <a:off x="2528553" y="7431040"/>
            <a:ext cx="5161940" cy="355990"/>
          </a:xfrm>
          <a:prstGeom prst="rect">
            <a:avLst/>
          </a:prstGeom>
        </p:spPr>
        <p:txBody>
          <a:bodyPr anchor="t" rtlCol="false" tIns="0" lIns="0" bIns="0" rIns="0">
            <a:spAutoFit/>
          </a:bodyPr>
          <a:lstStyle/>
          <a:p>
            <a:pPr algn="ctr">
              <a:lnSpc>
                <a:spcPts val="2953"/>
              </a:lnSpc>
              <a:spcBef>
                <a:spcPct val="0"/>
              </a:spcBef>
            </a:pPr>
            <a:r>
              <a:rPr lang="en-US" b="true" sz="2109" spc="-158">
                <a:solidFill>
                  <a:srgbClr val="FFFFFF"/>
                </a:solidFill>
                <a:latin typeface="Canva Sans Bold"/>
                <a:ea typeface="Canva Sans Bold"/>
                <a:cs typeface="Canva Sans Bold"/>
                <a:sym typeface="Canva Sans Bold"/>
              </a:rPr>
              <a:t>Feature </a:t>
            </a:r>
            <a:r>
              <a:rPr lang="en-US" b="true" sz="2109" spc="-158">
                <a:solidFill>
                  <a:srgbClr val="FFFFFF"/>
                </a:solidFill>
                <a:latin typeface="Canva Sans Bold"/>
                <a:ea typeface="Canva Sans Bold"/>
                <a:cs typeface="Canva Sans Bold"/>
                <a:sym typeface="Canva Sans Bold"/>
              </a:rPr>
              <a:t>im</a:t>
            </a:r>
            <a:r>
              <a:rPr lang="en-US" b="true" sz="2109" spc="-158">
                <a:solidFill>
                  <a:srgbClr val="FFFFFF"/>
                </a:solidFill>
                <a:latin typeface="Canva Sans Bold"/>
                <a:ea typeface="Canva Sans Bold"/>
                <a:cs typeface="Canva Sans Bold"/>
                <a:sym typeface="Canva Sans Bold"/>
              </a:rPr>
              <a:t>portance reflects task structure</a:t>
            </a:r>
          </a:p>
        </p:txBody>
      </p:sp>
      <p:sp>
        <p:nvSpPr>
          <p:cNvPr name="TextBox 35" id="35"/>
          <p:cNvSpPr txBox="true"/>
          <p:nvPr/>
        </p:nvSpPr>
        <p:spPr>
          <a:xfrm rot="0">
            <a:off x="1973703" y="8097923"/>
            <a:ext cx="6271640" cy="824100"/>
          </a:xfrm>
          <a:prstGeom prst="rect">
            <a:avLst/>
          </a:prstGeom>
        </p:spPr>
        <p:txBody>
          <a:bodyPr anchor="t" rtlCol="false" tIns="0" lIns="0" bIns="0" rIns="0">
            <a:spAutoFit/>
          </a:bodyPr>
          <a:lstStyle/>
          <a:p>
            <a:pPr algn="ctr">
              <a:lnSpc>
                <a:spcPts val="2197"/>
              </a:lnSpc>
            </a:pPr>
            <a:r>
              <a:rPr lang="en-US" sz="1801" spc="-37">
                <a:solidFill>
                  <a:srgbClr val="F8F6F7"/>
                </a:solidFill>
                <a:latin typeface="Aileron"/>
                <a:ea typeface="Aileron"/>
                <a:cs typeface="Aileron"/>
                <a:sym typeface="Aileron"/>
              </a:rPr>
              <a:t>MI ranking shows reward amounts and delays dominate; context variables matter for interpretation but contribute less predictive power</a:t>
            </a:r>
          </a:p>
        </p:txBody>
      </p:sp>
      <p:sp>
        <p:nvSpPr>
          <p:cNvPr name="TextBox 36" id="36"/>
          <p:cNvSpPr txBox="true"/>
          <p:nvPr/>
        </p:nvSpPr>
        <p:spPr>
          <a:xfrm rot="0">
            <a:off x="10401539" y="7421515"/>
            <a:ext cx="5326877" cy="355990"/>
          </a:xfrm>
          <a:prstGeom prst="rect">
            <a:avLst/>
          </a:prstGeom>
        </p:spPr>
        <p:txBody>
          <a:bodyPr anchor="t" rtlCol="false" tIns="0" lIns="0" bIns="0" rIns="0">
            <a:spAutoFit/>
          </a:bodyPr>
          <a:lstStyle/>
          <a:p>
            <a:pPr algn="ctr">
              <a:lnSpc>
                <a:spcPts val="2953"/>
              </a:lnSpc>
              <a:spcBef>
                <a:spcPct val="0"/>
              </a:spcBef>
            </a:pPr>
            <a:r>
              <a:rPr lang="en-US" b="true" sz="2109" spc="-158">
                <a:solidFill>
                  <a:srgbClr val="FFFFFF"/>
                </a:solidFill>
                <a:latin typeface="Canva Sans Bold"/>
                <a:ea typeface="Canva Sans Bold"/>
                <a:cs typeface="Canva Sans Bold"/>
                <a:sym typeface="Canva Sans Bold"/>
              </a:rPr>
              <a:t>Thresholds a</a:t>
            </a:r>
            <a:r>
              <a:rPr lang="en-US" b="true" sz="2109" spc="-158">
                <a:solidFill>
                  <a:srgbClr val="FFFFFF"/>
                </a:solidFill>
                <a:latin typeface="Canva Sans Bold"/>
                <a:ea typeface="Canva Sans Bold"/>
                <a:cs typeface="Canva Sans Bold"/>
                <a:sym typeface="Canva Sans Bold"/>
              </a:rPr>
              <a:t>nd effects vary across subgroups</a:t>
            </a:r>
          </a:p>
        </p:txBody>
      </p:sp>
      <p:sp>
        <p:nvSpPr>
          <p:cNvPr name="TextBox 37" id="37"/>
          <p:cNvSpPr txBox="true"/>
          <p:nvPr/>
        </p:nvSpPr>
        <p:spPr>
          <a:xfrm rot="0">
            <a:off x="9485455" y="8015629"/>
            <a:ext cx="7159046" cy="824100"/>
          </a:xfrm>
          <a:prstGeom prst="rect">
            <a:avLst/>
          </a:prstGeom>
        </p:spPr>
        <p:txBody>
          <a:bodyPr anchor="t" rtlCol="false" tIns="0" lIns="0" bIns="0" rIns="0">
            <a:spAutoFit/>
          </a:bodyPr>
          <a:lstStyle/>
          <a:p>
            <a:pPr algn="ctr">
              <a:lnSpc>
                <a:spcPts val="2197"/>
              </a:lnSpc>
            </a:pPr>
            <a:r>
              <a:rPr lang="en-US" sz="1801" spc="-37">
                <a:solidFill>
                  <a:srgbClr val="F8F6F7"/>
                </a:solidFill>
                <a:latin typeface="Aileron"/>
                <a:ea typeface="Aileron"/>
                <a:cs typeface="Aileron"/>
                <a:sym typeface="Aileron"/>
              </a:rPr>
              <a:t>The tipping ratio, impatience gap, and age‑related patterns are not uniform across all demographic or contextual segments, meaning some findings may only hold for specific groups rather than the full population</a:t>
            </a:r>
          </a:p>
        </p:txBody>
      </p:sp>
      <p:sp>
        <p:nvSpPr>
          <p:cNvPr name="TextBox 38" id="3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p:nvPr/>
        </p:nvGrpSpPr>
        <p:grpSpPr>
          <a:xfrm rot="0">
            <a:off x="10519593" y="6949684"/>
            <a:ext cx="7531986" cy="2960492"/>
            <a:chOff x="0" y="0"/>
            <a:chExt cx="2057431" cy="808686"/>
          </a:xfrm>
        </p:grpSpPr>
        <p:sp>
          <p:nvSpPr>
            <p:cNvPr name="Freeform 4" id="4"/>
            <p:cNvSpPr/>
            <p:nvPr/>
          </p:nvSpPr>
          <p:spPr>
            <a:xfrm flipH="false" flipV="false" rot="0">
              <a:off x="0" y="0"/>
              <a:ext cx="2057431" cy="808686"/>
            </a:xfrm>
            <a:custGeom>
              <a:avLst/>
              <a:gdLst/>
              <a:ahLst/>
              <a:cxnLst/>
              <a:rect r="r" b="b" t="t" l="l"/>
              <a:pathLst>
                <a:path h="808686" w="2057431">
                  <a:moveTo>
                    <a:pt x="102787" y="0"/>
                  </a:moveTo>
                  <a:lnTo>
                    <a:pt x="1954644" y="0"/>
                  </a:lnTo>
                  <a:cubicBezTo>
                    <a:pt x="1981905" y="0"/>
                    <a:pt x="2008049" y="10829"/>
                    <a:pt x="2027325" y="30106"/>
                  </a:cubicBezTo>
                  <a:cubicBezTo>
                    <a:pt x="2046602" y="49382"/>
                    <a:pt x="2057431" y="75526"/>
                    <a:pt x="2057431" y="102787"/>
                  </a:cubicBezTo>
                  <a:lnTo>
                    <a:pt x="2057431" y="705898"/>
                  </a:lnTo>
                  <a:cubicBezTo>
                    <a:pt x="2057431" y="762666"/>
                    <a:pt x="2011412" y="808686"/>
                    <a:pt x="1954644" y="808686"/>
                  </a:cubicBezTo>
                  <a:lnTo>
                    <a:pt x="102787" y="808686"/>
                  </a:lnTo>
                  <a:cubicBezTo>
                    <a:pt x="46019" y="808686"/>
                    <a:pt x="0" y="762666"/>
                    <a:pt x="0" y="705898"/>
                  </a:cubicBezTo>
                  <a:lnTo>
                    <a:pt x="0" y="102787"/>
                  </a:lnTo>
                  <a:cubicBezTo>
                    <a:pt x="0" y="46019"/>
                    <a:pt x="46019" y="0"/>
                    <a:pt x="102787" y="0"/>
                  </a:cubicBezTo>
                  <a:close/>
                </a:path>
              </a:pathLst>
            </a:custGeom>
            <a:solidFill>
              <a:srgbClr val="3D643D"/>
            </a:solidFill>
            <a:ln cap="rnd">
              <a:noFill/>
              <a:prstDash val="solid"/>
              <a:round/>
            </a:ln>
          </p:spPr>
        </p:sp>
        <p:sp>
          <p:nvSpPr>
            <p:cNvPr name="TextBox 5" id="5"/>
            <p:cNvSpPr txBox="true"/>
            <p:nvPr/>
          </p:nvSpPr>
          <p:spPr>
            <a:xfrm>
              <a:off x="0" y="85725"/>
              <a:ext cx="2057431" cy="722961"/>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6" id="6"/>
          <p:cNvGrpSpPr/>
          <p:nvPr/>
        </p:nvGrpSpPr>
        <p:grpSpPr>
          <a:xfrm rot="0">
            <a:off x="10336790" y="3989192"/>
            <a:ext cx="7531986" cy="2960492"/>
            <a:chOff x="0" y="0"/>
            <a:chExt cx="2057431" cy="808686"/>
          </a:xfrm>
        </p:grpSpPr>
        <p:sp>
          <p:nvSpPr>
            <p:cNvPr name="Freeform 7" id="7"/>
            <p:cNvSpPr/>
            <p:nvPr/>
          </p:nvSpPr>
          <p:spPr>
            <a:xfrm flipH="false" flipV="false" rot="0">
              <a:off x="0" y="0"/>
              <a:ext cx="2057431" cy="808686"/>
            </a:xfrm>
            <a:custGeom>
              <a:avLst/>
              <a:gdLst/>
              <a:ahLst/>
              <a:cxnLst/>
              <a:rect r="r" b="b" t="t" l="l"/>
              <a:pathLst>
                <a:path h="808686" w="2057431">
                  <a:moveTo>
                    <a:pt x="102787" y="0"/>
                  </a:moveTo>
                  <a:lnTo>
                    <a:pt x="1954644" y="0"/>
                  </a:lnTo>
                  <a:cubicBezTo>
                    <a:pt x="1981905" y="0"/>
                    <a:pt x="2008049" y="10829"/>
                    <a:pt x="2027325" y="30106"/>
                  </a:cubicBezTo>
                  <a:cubicBezTo>
                    <a:pt x="2046602" y="49382"/>
                    <a:pt x="2057431" y="75526"/>
                    <a:pt x="2057431" y="102787"/>
                  </a:cubicBezTo>
                  <a:lnTo>
                    <a:pt x="2057431" y="705898"/>
                  </a:lnTo>
                  <a:cubicBezTo>
                    <a:pt x="2057431" y="762666"/>
                    <a:pt x="2011412" y="808686"/>
                    <a:pt x="1954644" y="808686"/>
                  </a:cubicBezTo>
                  <a:lnTo>
                    <a:pt x="102787" y="808686"/>
                  </a:lnTo>
                  <a:cubicBezTo>
                    <a:pt x="46019" y="808686"/>
                    <a:pt x="0" y="762666"/>
                    <a:pt x="0" y="705898"/>
                  </a:cubicBezTo>
                  <a:lnTo>
                    <a:pt x="0" y="102787"/>
                  </a:lnTo>
                  <a:cubicBezTo>
                    <a:pt x="0" y="46019"/>
                    <a:pt x="46019" y="0"/>
                    <a:pt x="102787" y="0"/>
                  </a:cubicBezTo>
                  <a:close/>
                </a:path>
              </a:pathLst>
            </a:custGeom>
            <a:solidFill>
              <a:srgbClr val="79A479"/>
            </a:solidFill>
            <a:ln cap="rnd">
              <a:noFill/>
              <a:prstDash val="solid"/>
              <a:round/>
            </a:ln>
          </p:spPr>
        </p:sp>
        <p:sp>
          <p:nvSpPr>
            <p:cNvPr name="TextBox 8" id="8"/>
            <p:cNvSpPr txBox="true"/>
            <p:nvPr/>
          </p:nvSpPr>
          <p:spPr>
            <a:xfrm>
              <a:off x="0" y="85725"/>
              <a:ext cx="2057431" cy="722961"/>
            </a:xfrm>
            <a:prstGeom prst="rect">
              <a:avLst/>
            </a:prstGeom>
          </p:spPr>
          <p:txBody>
            <a:bodyPr anchor="ctr" rtlCol="false" tIns="48980" lIns="48980" bIns="48980" rIns="48980"/>
            <a:lstStyle/>
            <a:p>
              <a:pPr algn="ctr" marL="0" indent="0" lvl="0">
                <a:lnSpc>
                  <a:spcPts val="2218"/>
                </a:lnSpc>
                <a:spcBef>
                  <a:spcPct val="0"/>
                </a:spcBef>
              </a:pPr>
            </a:p>
          </p:txBody>
        </p:sp>
      </p:grpSp>
      <p:sp>
        <p:nvSpPr>
          <p:cNvPr name="Freeform 9" id="9"/>
          <p:cNvSpPr/>
          <p:nvPr/>
        </p:nvSpPr>
        <p:spPr>
          <a:xfrm flipH="false" flipV="false" rot="5120089">
            <a:off x="-3021265" y="-3988519"/>
            <a:ext cx="13529234" cy="13529234"/>
          </a:xfrm>
          <a:custGeom>
            <a:avLst/>
            <a:gdLst/>
            <a:ahLst/>
            <a:cxnLst/>
            <a:rect r="r" b="b" t="t" l="l"/>
            <a:pathLst>
              <a:path h="13529234" w="13529234">
                <a:moveTo>
                  <a:pt x="0" y="0"/>
                </a:moveTo>
                <a:lnTo>
                  <a:pt x="13529234" y="0"/>
                </a:lnTo>
                <a:lnTo>
                  <a:pt x="13529234" y="13529234"/>
                </a:lnTo>
                <a:lnTo>
                  <a:pt x="0" y="13529234"/>
                </a:lnTo>
                <a:lnTo>
                  <a:pt x="0" y="0"/>
                </a:lnTo>
                <a:close/>
              </a:path>
            </a:pathLst>
          </a:custGeom>
          <a:blipFill>
            <a:blip r:embed="rId3">
              <a:alphaModFix amt="6000"/>
            </a:blip>
            <a:stretch>
              <a:fillRect l="0" t="0" r="0" b="0"/>
            </a:stretch>
          </a:blipFill>
        </p:spPr>
      </p:sp>
      <p:sp>
        <p:nvSpPr>
          <p:cNvPr name="Freeform 10" id="10"/>
          <p:cNvSpPr/>
          <p:nvPr/>
        </p:nvSpPr>
        <p:spPr>
          <a:xfrm flipH="false" flipV="false" rot="5120089">
            <a:off x="-848034" y="-2084840"/>
            <a:ext cx="8981122" cy="8981122"/>
          </a:xfrm>
          <a:custGeom>
            <a:avLst/>
            <a:gdLst/>
            <a:ahLst/>
            <a:cxnLst/>
            <a:rect r="r" b="b" t="t" l="l"/>
            <a:pathLst>
              <a:path h="8981122" w="8981122">
                <a:moveTo>
                  <a:pt x="0" y="0"/>
                </a:moveTo>
                <a:lnTo>
                  <a:pt x="8981122" y="0"/>
                </a:lnTo>
                <a:lnTo>
                  <a:pt x="8981122" y="8981122"/>
                </a:lnTo>
                <a:lnTo>
                  <a:pt x="0" y="8981122"/>
                </a:lnTo>
                <a:lnTo>
                  <a:pt x="0" y="0"/>
                </a:lnTo>
                <a:close/>
              </a:path>
            </a:pathLst>
          </a:custGeom>
          <a:blipFill>
            <a:blip r:embed="rId3">
              <a:alphaModFix amt="12000"/>
            </a:blip>
            <a:stretch>
              <a:fillRect l="0" t="0" r="0" b="0"/>
            </a:stretch>
          </a:blipFill>
        </p:spPr>
      </p:sp>
      <p:sp>
        <p:nvSpPr>
          <p:cNvPr name="TextBox 11" id="11"/>
          <p:cNvSpPr txBox="true"/>
          <p:nvPr/>
        </p:nvSpPr>
        <p:spPr>
          <a:xfrm rot="0">
            <a:off x="1028700" y="980035"/>
            <a:ext cx="10084065" cy="1155976"/>
          </a:xfrm>
          <a:prstGeom prst="rect">
            <a:avLst/>
          </a:prstGeom>
        </p:spPr>
        <p:txBody>
          <a:bodyPr anchor="t" rtlCol="false" tIns="0" lIns="0" bIns="0" rIns="0">
            <a:spAutoFit/>
          </a:bodyPr>
          <a:lstStyle/>
          <a:p>
            <a:pPr algn="l">
              <a:lnSpc>
                <a:spcPts val="8613"/>
              </a:lnSpc>
            </a:pPr>
            <a:r>
              <a:rPr lang="en-US" sz="8700" spc="-817" b="true">
                <a:solidFill>
                  <a:srgbClr val="163B42"/>
                </a:solidFill>
                <a:latin typeface="Canva Sans Bold"/>
                <a:ea typeface="Canva Sans Bold"/>
                <a:cs typeface="Canva Sans Bold"/>
                <a:sym typeface="Canva Sans Bold"/>
              </a:rPr>
              <a:t>Recommendations</a:t>
            </a:r>
          </a:p>
        </p:txBody>
      </p:sp>
      <p:grpSp>
        <p:nvGrpSpPr>
          <p:cNvPr name="Group 12" id="12"/>
          <p:cNvGrpSpPr/>
          <p:nvPr/>
        </p:nvGrpSpPr>
        <p:grpSpPr>
          <a:xfrm rot="0">
            <a:off x="1028700" y="3179987"/>
            <a:ext cx="8370728" cy="6594374"/>
            <a:chOff x="0" y="0"/>
            <a:chExt cx="2286541" cy="1801314"/>
          </a:xfrm>
        </p:grpSpPr>
        <p:sp>
          <p:nvSpPr>
            <p:cNvPr name="Freeform 13" id="13"/>
            <p:cNvSpPr/>
            <p:nvPr/>
          </p:nvSpPr>
          <p:spPr>
            <a:xfrm flipH="false" flipV="false" rot="0">
              <a:off x="0" y="0"/>
              <a:ext cx="2286541" cy="1801314"/>
            </a:xfrm>
            <a:custGeom>
              <a:avLst/>
              <a:gdLst/>
              <a:ahLst/>
              <a:cxnLst/>
              <a:rect r="r" b="b" t="t" l="l"/>
              <a:pathLst>
                <a:path h="1801314" w="2286541">
                  <a:moveTo>
                    <a:pt x="32371" y="0"/>
                  </a:moveTo>
                  <a:lnTo>
                    <a:pt x="2254170" y="0"/>
                  </a:lnTo>
                  <a:cubicBezTo>
                    <a:pt x="2272048" y="0"/>
                    <a:pt x="2286541" y="14493"/>
                    <a:pt x="2286541" y="32371"/>
                  </a:cubicBezTo>
                  <a:lnTo>
                    <a:pt x="2286541" y="1768943"/>
                  </a:lnTo>
                  <a:cubicBezTo>
                    <a:pt x="2286541" y="1786821"/>
                    <a:pt x="2272048" y="1801314"/>
                    <a:pt x="2254170" y="1801314"/>
                  </a:cubicBezTo>
                  <a:lnTo>
                    <a:pt x="32371" y="1801314"/>
                  </a:lnTo>
                  <a:cubicBezTo>
                    <a:pt x="14493" y="1801314"/>
                    <a:pt x="0" y="1786821"/>
                    <a:pt x="0" y="1768943"/>
                  </a:cubicBezTo>
                  <a:lnTo>
                    <a:pt x="0" y="32371"/>
                  </a:lnTo>
                  <a:cubicBezTo>
                    <a:pt x="0" y="14493"/>
                    <a:pt x="14493" y="0"/>
                    <a:pt x="32371" y="0"/>
                  </a:cubicBezTo>
                  <a:close/>
                </a:path>
              </a:pathLst>
            </a:custGeom>
            <a:solidFill>
              <a:srgbClr val="F8F6F7"/>
            </a:solidFill>
            <a:ln w="19050" cap="rnd">
              <a:solidFill>
                <a:srgbClr val="FFFFFF"/>
              </a:solidFill>
              <a:prstDash val="solid"/>
              <a:round/>
            </a:ln>
          </p:spPr>
        </p:sp>
        <p:sp>
          <p:nvSpPr>
            <p:cNvPr name="TextBox 14" id="14"/>
            <p:cNvSpPr txBox="true"/>
            <p:nvPr/>
          </p:nvSpPr>
          <p:spPr>
            <a:xfrm>
              <a:off x="0" y="85725"/>
              <a:ext cx="2286541" cy="1715589"/>
            </a:xfrm>
            <a:prstGeom prst="rect">
              <a:avLst/>
            </a:prstGeom>
          </p:spPr>
          <p:txBody>
            <a:bodyPr anchor="ctr" rtlCol="false" tIns="48980" lIns="48980" bIns="48980" rIns="48980"/>
            <a:lstStyle/>
            <a:p>
              <a:pPr algn="ctr" marL="0" indent="0" lvl="0">
                <a:lnSpc>
                  <a:spcPts val="2218"/>
                </a:lnSpc>
                <a:spcBef>
                  <a:spcPct val="0"/>
                </a:spcBef>
              </a:pPr>
            </a:p>
          </p:txBody>
        </p:sp>
      </p:grpSp>
      <p:grpSp>
        <p:nvGrpSpPr>
          <p:cNvPr name="Group 15" id="15"/>
          <p:cNvGrpSpPr/>
          <p:nvPr/>
        </p:nvGrpSpPr>
        <p:grpSpPr>
          <a:xfrm rot="0">
            <a:off x="10153988" y="1028700"/>
            <a:ext cx="7531986" cy="2960084"/>
            <a:chOff x="0" y="0"/>
            <a:chExt cx="2057400" cy="808609"/>
          </a:xfrm>
        </p:grpSpPr>
        <p:sp>
          <p:nvSpPr>
            <p:cNvPr name="Freeform 16" id="16"/>
            <p:cNvSpPr/>
            <p:nvPr/>
          </p:nvSpPr>
          <p:spPr>
            <a:xfrm flipH="false" flipV="false" rot="0">
              <a:off x="0" y="0"/>
              <a:ext cx="2057400" cy="808609"/>
            </a:xfrm>
            <a:custGeom>
              <a:avLst/>
              <a:gdLst/>
              <a:ahLst/>
              <a:cxnLst/>
              <a:rect r="r" b="b" t="t" l="l"/>
              <a:pathLst>
                <a:path h="808609" w="2057400">
                  <a:moveTo>
                    <a:pt x="2057400" y="102787"/>
                  </a:moveTo>
                  <a:lnTo>
                    <a:pt x="2057400" y="705822"/>
                  </a:lnTo>
                  <a:cubicBezTo>
                    <a:pt x="2057400" y="762590"/>
                    <a:pt x="2011381" y="808609"/>
                    <a:pt x="1954613" y="808609"/>
                  </a:cubicBezTo>
                  <a:lnTo>
                    <a:pt x="102787" y="808609"/>
                  </a:lnTo>
                  <a:cubicBezTo>
                    <a:pt x="46019" y="808609"/>
                    <a:pt x="0" y="762590"/>
                    <a:pt x="0" y="705822"/>
                  </a:cubicBezTo>
                  <a:lnTo>
                    <a:pt x="0" y="102787"/>
                  </a:lnTo>
                  <a:cubicBezTo>
                    <a:pt x="0" y="46019"/>
                    <a:pt x="46019" y="0"/>
                    <a:pt x="102787" y="0"/>
                  </a:cubicBezTo>
                  <a:lnTo>
                    <a:pt x="1954613" y="0"/>
                  </a:lnTo>
                  <a:cubicBezTo>
                    <a:pt x="2011381" y="0"/>
                    <a:pt x="2057400" y="46019"/>
                    <a:pt x="2057400" y="102787"/>
                  </a:cubicBezTo>
                  <a:close/>
                </a:path>
              </a:pathLst>
            </a:custGeom>
            <a:solidFill>
              <a:srgbClr val="B8DDB8"/>
            </a:solidFill>
            <a:ln cap="rnd">
              <a:noFill/>
              <a:prstDash val="solid"/>
              <a:round/>
            </a:ln>
          </p:spPr>
        </p:sp>
        <p:sp>
          <p:nvSpPr>
            <p:cNvPr name="TextBox 17" id="17"/>
            <p:cNvSpPr txBox="true"/>
            <p:nvPr/>
          </p:nvSpPr>
          <p:spPr>
            <a:xfrm>
              <a:off x="0" y="85725"/>
              <a:ext cx="2057400" cy="722884"/>
            </a:xfrm>
            <a:prstGeom prst="rect">
              <a:avLst/>
            </a:prstGeom>
          </p:spPr>
          <p:txBody>
            <a:bodyPr anchor="ctr" rtlCol="false" tIns="48980" lIns="48980" bIns="48980" rIns="48980"/>
            <a:lstStyle/>
            <a:p>
              <a:pPr algn="ctr" marL="0" indent="0" lvl="0">
                <a:lnSpc>
                  <a:spcPts val="2218"/>
                </a:lnSpc>
                <a:spcBef>
                  <a:spcPct val="0"/>
                </a:spcBef>
              </a:pPr>
            </a:p>
          </p:txBody>
        </p:sp>
      </p:grpSp>
      <p:sp>
        <p:nvSpPr>
          <p:cNvPr name="TextBox 18" id="18"/>
          <p:cNvSpPr txBox="true"/>
          <p:nvPr/>
        </p:nvSpPr>
        <p:spPr>
          <a:xfrm rot="0">
            <a:off x="10777667" y="1536829"/>
            <a:ext cx="6650232" cy="2403217"/>
          </a:xfrm>
          <a:prstGeom prst="rect">
            <a:avLst/>
          </a:prstGeom>
        </p:spPr>
        <p:txBody>
          <a:bodyPr anchor="t" rtlCol="false" tIns="0" lIns="0" bIns="0" rIns="0">
            <a:spAutoFit/>
          </a:bodyPr>
          <a:lstStyle/>
          <a:p>
            <a:pPr algn="l">
              <a:lnSpc>
                <a:spcPts val="3174"/>
              </a:lnSpc>
            </a:pPr>
            <a:r>
              <a:rPr lang="en-US" sz="2601" spc="-54">
                <a:solidFill>
                  <a:srgbClr val="000000"/>
                </a:solidFill>
                <a:latin typeface="Aileron"/>
                <a:ea typeface="Aileron"/>
                <a:cs typeface="Aileron"/>
                <a:sym typeface="Aileron"/>
              </a:rPr>
              <a:t>1. Pricing </a:t>
            </a:r>
            <a:r>
              <a:rPr lang="en-US" sz="2601" spc="-54" b="true">
                <a:solidFill>
                  <a:srgbClr val="000000"/>
                </a:solidFill>
                <a:latin typeface="Aileron Bold"/>
                <a:ea typeface="Aileron Bold"/>
                <a:cs typeface="Aileron Bold"/>
                <a:sym typeface="Aileron Bold"/>
              </a:rPr>
              <a:t>subscription tiers</a:t>
            </a:r>
            <a:r>
              <a:rPr lang="en-US" sz="2601" spc="-54">
                <a:solidFill>
                  <a:srgbClr val="000000"/>
                </a:solidFill>
                <a:latin typeface="Aileron"/>
                <a:ea typeface="Aileron"/>
                <a:cs typeface="Aileron"/>
                <a:sym typeface="Aileron"/>
              </a:rPr>
              <a:t> with </a:t>
            </a:r>
          </a:p>
          <a:p>
            <a:pPr algn="l" marL="561698" indent="-280849" lvl="1">
              <a:lnSpc>
                <a:spcPts val="3174"/>
              </a:lnSpc>
              <a:buFont typeface="Arial"/>
              <a:buChar char="•"/>
            </a:pPr>
            <a:r>
              <a:rPr lang="en-US" b="true" sz="2601" spc="-54">
                <a:solidFill>
                  <a:srgbClr val="000000"/>
                </a:solidFill>
                <a:latin typeface="Aileron Bold"/>
                <a:ea typeface="Aileron Bold"/>
                <a:cs typeface="Aileron Bold"/>
                <a:sym typeface="Aileron Bold"/>
              </a:rPr>
              <a:t>upfront value clarity</a:t>
            </a:r>
            <a:r>
              <a:rPr lang="en-US" sz="2601" spc="-54">
                <a:solidFill>
                  <a:srgbClr val="000000"/>
                </a:solidFill>
                <a:latin typeface="Aileron"/>
                <a:ea typeface="Aileron"/>
                <a:cs typeface="Aileron"/>
                <a:sym typeface="Aileron"/>
              </a:rPr>
              <a:t> for patient customers (annual plans, discounts) </a:t>
            </a:r>
          </a:p>
          <a:p>
            <a:pPr algn="l" marL="561698" indent="-280849" lvl="1">
              <a:lnSpc>
                <a:spcPts val="3174"/>
              </a:lnSpc>
              <a:buFont typeface="Arial"/>
              <a:buChar char="•"/>
            </a:pPr>
            <a:r>
              <a:rPr lang="en-US" b="true" sz="2601" spc="-54">
                <a:solidFill>
                  <a:srgbClr val="000000"/>
                </a:solidFill>
                <a:latin typeface="Aileron Bold"/>
                <a:ea typeface="Aileron Bold"/>
                <a:cs typeface="Aileron Bold"/>
                <a:sym typeface="Aileron Bold"/>
              </a:rPr>
              <a:t>flex lower-barrier</a:t>
            </a:r>
            <a:r>
              <a:rPr lang="en-US" sz="2601" spc="-54">
                <a:solidFill>
                  <a:srgbClr val="000000"/>
                </a:solidFill>
                <a:latin typeface="Aileron"/>
                <a:ea typeface="Aileron"/>
                <a:cs typeface="Aileron"/>
                <a:sym typeface="Aileron"/>
              </a:rPr>
              <a:t> entry for impatient customers (free trials, weekly passes). </a:t>
            </a:r>
          </a:p>
          <a:p>
            <a:pPr algn="l">
              <a:lnSpc>
                <a:spcPts val="3174"/>
              </a:lnSpc>
            </a:pPr>
          </a:p>
        </p:txBody>
      </p:sp>
      <p:sp>
        <p:nvSpPr>
          <p:cNvPr name="TextBox 19" id="19"/>
          <p:cNvSpPr txBox="true"/>
          <p:nvPr/>
        </p:nvSpPr>
        <p:spPr>
          <a:xfrm rot="0">
            <a:off x="1301038" y="3170462"/>
            <a:ext cx="7842962" cy="7203817"/>
          </a:xfrm>
          <a:prstGeom prst="rect">
            <a:avLst/>
          </a:prstGeom>
        </p:spPr>
        <p:txBody>
          <a:bodyPr anchor="t" rtlCol="false" tIns="0" lIns="0" bIns="0" rIns="0">
            <a:spAutoFit/>
          </a:bodyPr>
          <a:lstStyle/>
          <a:p>
            <a:pPr algn="l">
              <a:lnSpc>
                <a:spcPts val="3174"/>
              </a:lnSpc>
            </a:pPr>
          </a:p>
          <a:p>
            <a:pPr algn="l">
              <a:lnSpc>
                <a:spcPts val="3174"/>
              </a:lnSpc>
            </a:pPr>
            <a:r>
              <a:rPr lang="en-US" sz="2601" spc="-54" b="true">
                <a:solidFill>
                  <a:srgbClr val="000000"/>
                </a:solidFill>
                <a:latin typeface="Canva Sans Bold"/>
                <a:ea typeface="Canva Sans Bold"/>
                <a:cs typeface="Canva Sans Bold"/>
                <a:sym typeface="Canva Sans Bold"/>
              </a:rPr>
              <a:t>CUSTOMER SEGMENTATION</a:t>
            </a:r>
          </a:p>
          <a:p>
            <a:pPr algn="l">
              <a:lnSpc>
                <a:spcPts val="3174"/>
              </a:lnSpc>
            </a:pPr>
          </a:p>
          <a:p>
            <a:pPr algn="l">
              <a:lnSpc>
                <a:spcPts val="3174"/>
              </a:lnSpc>
            </a:pPr>
            <a:r>
              <a:rPr lang="en-US" sz="2601" spc="-54" b="true">
                <a:solidFill>
                  <a:srgbClr val="000000"/>
                </a:solidFill>
                <a:latin typeface="Aileron Bold"/>
                <a:ea typeface="Aileron Bold"/>
                <a:cs typeface="Aileron Bold"/>
                <a:sym typeface="Aileron Bold"/>
              </a:rPr>
              <a:t>Patient Customers </a:t>
            </a:r>
          </a:p>
          <a:p>
            <a:pPr algn="l">
              <a:lnSpc>
                <a:spcPts val="3174"/>
              </a:lnSpc>
            </a:pPr>
            <a:r>
              <a:rPr lang="en-US" sz="2601" spc="-54">
                <a:solidFill>
                  <a:srgbClr val="000000"/>
                </a:solidFill>
                <a:latin typeface="Aileron"/>
                <a:ea typeface="Aileron"/>
                <a:cs typeface="Aileron"/>
                <a:sym typeface="Aileron"/>
              </a:rPr>
              <a:t>→ Long-term value maximizers</a:t>
            </a:r>
          </a:p>
          <a:p>
            <a:pPr algn="l" marL="1123397" indent="-374466" lvl="2">
              <a:lnSpc>
                <a:spcPts val="3174"/>
              </a:lnSpc>
              <a:buFont typeface="Arial"/>
              <a:buChar char="⚬"/>
            </a:pPr>
            <a:r>
              <a:rPr lang="en-US" sz="2601" spc="-54">
                <a:solidFill>
                  <a:srgbClr val="000000"/>
                </a:solidFill>
                <a:latin typeface="Aileron"/>
                <a:ea typeface="Aileron"/>
                <a:cs typeface="Aileron"/>
                <a:sym typeface="Aileron"/>
              </a:rPr>
              <a:t>Respond to: loyalty programs, exclusive perks, tiered rewards, content library depth</a:t>
            </a:r>
          </a:p>
          <a:p>
            <a:pPr algn="l" marL="1123397" indent="-374466" lvl="2">
              <a:lnSpc>
                <a:spcPts val="3174"/>
              </a:lnSpc>
              <a:buFont typeface="Arial"/>
              <a:buChar char="⚬"/>
            </a:pPr>
            <a:r>
              <a:rPr lang="en-US" sz="2601" spc="-54">
                <a:solidFill>
                  <a:srgbClr val="000000"/>
                </a:solidFill>
                <a:latin typeface="Aileron"/>
                <a:ea typeface="Aileron"/>
                <a:cs typeface="Aileron"/>
                <a:sym typeface="Aileron"/>
              </a:rPr>
              <a:t>Strategy: High lifetime value (LTV) focus</a:t>
            </a:r>
          </a:p>
          <a:p>
            <a:pPr algn="l">
              <a:lnSpc>
                <a:spcPts val="3174"/>
              </a:lnSpc>
            </a:pPr>
          </a:p>
          <a:p>
            <a:pPr algn="l">
              <a:lnSpc>
                <a:spcPts val="3174"/>
              </a:lnSpc>
            </a:pPr>
            <a:r>
              <a:rPr lang="en-US" sz="2601" spc="-54" b="true">
                <a:solidFill>
                  <a:srgbClr val="000000"/>
                </a:solidFill>
                <a:latin typeface="Aileron Bold"/>
                <a:ea typeface="Aileron Bold"/>
                <a:cs typeface="Aileron Bold"/>
                <a:sym typeface="Aileron Bold"/>
              </a:rPr>
              <a:t>Impatient Customers</a:t>
            </a:r>
            <a:r>
              <a:rPr lang="en-US" sz="2601" spc="-54">
                <a:solidFill>
                  <a:srgbClr val="000000"/>
                </a:solidFill>
                <a:latin typeface="Aileron"/>
                <a:ea typeface="Aileron"/>
                <a:cs typeface="Aileron"/>
                <a:sym typeface="Aileron"/>
              </a:rPr>
              <a:t> </a:t>
            </a:r>
          </a:p>
          <a:p>
            <a:pPr algn="l">
              <a:lnSpc>
                <a:spcPts val="3174"/>
              </a:lnSpc>
            </a:pPr>
            <a:r>
              <a:rPr lang="en-US" sz="2601" spc="-54">
                <a:solidFill>
                  <a:srgbClr val="000000"/>
                </a:solidFill>
                <a:latin typeface="Aileron"/>
                <a:ea typeface="Aileron"/>
                <a:cs typeface="Aileron"/>
                <a:sym typeface="Aileron"/>
              </a:rPr>
              <a:t>→ Immediate gratification seekers</a:t>
            </a:r>
          </a:p>
          <a:p>
            <a:pPr algn="l" marL="1123397" indent="-374466" lvl="2">
              <a:lnSpc>
                <a:spcPts val="3174"/>
              </a:lnSpc>
              <a:buFont typeface="Arial"/>
              <a:buChar char="⚬"/>
            </a:pPr>
            <a:r>
              <a:rPr lang="en-US" sz="2601" spc="-54">
                <a:solidFill>
                  <a:srgbClr val="000000"/>
                </a:solidFill>
                <a:latin typeface="Aileron"/>
                <a:ea typeface="Aileron"/>
                <a:cs typeface="Aileron"/>
                <a:sym typeface="Aileron"/>
              </a:rPr>
              <a:t>Respond to: instant discounts, new content drops, quick wins/achievements</a:t>
            </a:r>
          </a:p>
          <a:p>
            <a:pPr algn="l" marL="1123397" indent="-374466" lvl="2">
              <a:lnSpc>
                <a:spcPts val="3174"/>
              </a:lnSpc>
              <a:buFont typeface="Arial"/>
              <a:buChar char="⚬"/>
            </a:pPr>
            <a:r>
              <a:rPr lang="en-US" sz="2601" spc="-54">
                <a:solidFill>
                  <a:srgbClr val="000000"/>
                </a:solidFill>
                <a:latin typeface="Aileron"/>
                <a:ea typeface="Aileron"/>
                <a:cs typeface="Aileron"/>
                <a:sym typeface="Aileron"/>
              </a:rPr>
              <a:t>Strategy: Short-term engagement + conversion to loyalty</a:t>
            </a:r>
          </a:p>
          <a:p>
            <a:pPr algn="l">
              <a:lnSpc>
                <a:spcPts val="3174"/>
              </a:lnSpc>
            </a:pPr>
          </a:p>
          <a:p>
            <a:pPr algn="l">
              <a:lnSpc>
                <a:spcPts val="3174"/>
              </a:lnSpc>
            </a:pPr>
          </a:p>
          <a:p>
            <a:pPr algn="l">
              <a:lnSpc>
                <a:spcPts val="3174"/>
              </a:lnSpc>
            </a:pPr>
          </a:p>
        </p:txBody>
      </p:sp>
      <p:sp>
        <p:nvSpPr>
          <p:cNvPr name="TextBox 20" id="20"/>
          <p:cNvSpPr txBox="true"/>
          <p:nvPr/>
        </p:nvSpPr>
        <p:spPr>
          <a:xfrm rot="0">
            <a:off x="10960470" y="3930521"/>
            <a:ext cx="6650232" cy="3603367"/>
          </a:xfrm>
          <a:prstGeom prst="rect">
            <a:avLst/>
          </a:prstGeom>
        </p:spPr>
        <p:txBody>
          <a:bodyPr anchor="t" rtlCol="false" tIns="0" lIns="0" bIns="0" rIns="0">
            <a:spAutoFit/>
          </a:bodyPr>
          <a:lstStyle/>
          <a:p>
            <a:pPr algn="l">
              <a:lnSpc>
                <a:spcPts val="3174"/>
              </a:lnSpc>
            </a:pPr>
          </a:p>
          <a:p>
            <a:pPr algn="l">
              <a:lnSpc>
                <a:spcPts val="3174"/>
              </a:lnSpc>
            </a:pPr>
            <a:r>
              <a:rPr lang="en-US" sz="2601" spc="-54">
                <a:solidFill>
                  <a:srgbClr val="000000"/>
                </a:solidFill>
                <a:latin typeface="Aileron"/>
                <a:ea typeface="Aileron"/>
                <a:cs typeface="Aileron"/>
                <a:sym typeface="Aileron"/>
              </a:rPr>
              <a:t>2.</a:t>
            </a:r>
            <a:r>
              <a:rPr lang="en-US" sz="2601" spc="-54">
                <a:solidFill>
                  <a:srgbClr val="000000"/>
                </a:solidFill>
                <a:latin typeface="Aileron"/>
                <a:ea typeface="Aileron"/>
                <a:cs typeface="Aileron"/>
                <a:sym typeface="Aileron"/>
              </a:rPr>
              <a:t> Lifetime Value Management: Use predictive models to identify which segment each customer belongs to based on behavioral signals (churn indicators, engagement patterns)</a:t>
            </a:r>
          </a:p>
          <a:p>
            <a:pPr algn="l" marL="561698" indent="-280849" lvl="1">
              <a:lnSpc>
                <a:spcPts val="3174"/>
              </a:lnSpc>
              <a:buFont typeface="Arial"/>
              <a:buChar char="•"/>
            </a:pPr>
            <a:r>
              <a:rPr lang="en-US" sz="2601" spc="-54">
                <a:solidFill>
                  <a:srgbClr val="000000"/>
                </a:solidFill>
                <a:latin typeface="Aileron"/>
                <a:ea typeface="Aileron"/>
                <a:cs typeface="Aileron"/>
                <a:sym typeface="Aileron"/>
              </a:rPr>
              <a:t>allocate retention budget accordingly. </a:t>
            </a:r>
          </a:p>
          <a:p>
            <a:pPr algn="l">
              <a:lnSpc>
                <a:spcPts val="3174"/>
              </a:lnSpc>
            </a:pPr>
          </a:p>
          <a:p>
            <a:pPr algn="l">
              <a:lnSpc>
                <a:spcPts val="3174"/>
              </a:lnSpc>
            </a:pPr>
          </a:p>
        </p:txBody>
      </p:sp>
      <p:sp>
        <p:nvSpPr>
          <p:cNvPr name="TextBox 21" id="21"/>
          <p:cNvSpPr txBox="true"/>
          <p:nvPr/>
        </p:nvSpPr>
        <p:spPr>
          <a:xfrm rot="0">
            <a:off x="11112765" y="6700287"/>
            <a:ext cx="6650232" cy="2803267"/>
          </a:xfrm>
          <a:prstGeom prst="rect">
            <a:avLst/>
          </a:prstGeom>
        </p:spPr>
        <p:txBody>
          <a:bodyPr anchor="t" rtlCol="false" tIns="0" lIns="0" bIns="0" rIns="0">
            <a:spAutoFit/>
          </a:bodyPr>
          <a:lstStyle/>
          <a:p>
            <a:pPr algn="l">
              <a:lnSpc>
                <a:spcPts val="3174"/>
              </a:lnSpc>
            </a:pPr>
          </a:p>
          <a:p>
            <a:pPr algn="l">
              <a:lnSpc>
                <a:spcPts val="3174"/>
              </a:lnSpc>
            </a:pPr>
          </a:p>
          <a:p>
            <a:pPr algn="l">
              <a:lnSpc>
                <a:spcPts val="3174"/>
              </a:lnSpc>
            </a:pPr>
            <a:r>
              <a:rPr lang="en-US" sz="2601" spc="-54">
                <a:solidFill>
                  <a:srgbClr val="FFFFFF"/>
                </a:solidFill>
                <a:latin typeface="Aileron"/>
                <a:ea typeface="Aileron"/>
                <a:cs typeface="Aileron"/>
                <a:sym typeface="Aileron"/>
              </a:rPr>
              <a:t>3.</a:t>
            </a:r>
            <a:r>
              <a:rPr lang="en-US" sz="2601" spc="-54">
                <a:solidFill>
                  <a:srgbClr val="FFFFFF"/>
                </a:solidFill>
                <a:latin typeface="Aileron"/>
                <a:ea typeface="Aileron"/>
                <a:cs typeface="Aileron"/>
                <a:sym typeface="Aileron"/>
              </a:rPr>
              <a:t> Engagement Strategy: </a:t>
            </a:r>
          </a:p>
          <a:p>
            <a:pPr algn="l" marL="561698" indent="-280849" lvl="1">
              <a:lnSpc>
                <a:spcPts val="3174"/>
              </a:lnSpc>
              <a:buFont typeface="Arial"/>
              <a:buChar char="•"/>
            </a:pPr>
            <a:r>
              <a:rPr lang="en-US" b="true" sz="2601" spc="-54">
                <a:solidFill>
                  <a:srgbClr val="FFFFFF"/>
                </a:solidFill>
                <a:latin typeface="Aileron Bold"/>
                <a:ea typeface="Aileron Bold"/>
                <a:cs typeface="Aileron Bold"/>
                <a:sym typeface="Aileron Bold"/>
              </a:rPr>
              <a:t>d</a:t>
            </a:r>
            <a:r>
              <a:rPr lang="en-US" b="true" sz="2601" spc="-54">
                <a:solidFill>
                  <a:srgbClr val="FFFFFF"/>
                </a:solidFill>
                <a:latin typeface="Aileron Bold"/>
                <a:ea typeface="Aileron Bold"/>
                <a:cs typeface="Aileron Bold"/>
                <a:sym typeface="Aileron Bold"/>
              </a:rPr>
              <a:t>ual</a:t>
            </a:r>
            <a:r>
              <a:rPr lang="en-US" sz="2601" spc="-54">
                <a:solidFill>
                  <a:srgbClr val="FFFFFF"/>
                </a:solidFill>
                <a:latin typeface="Aileron"/>
                <a:ea typeface="Aileron"/>
                <a:cs typeface="Aileron"/>
                <a:sym typeface="Aileron"/>
              </a:rPr>
              <a:t> </a:t>
            </a:r>
            <a:r>
              <a:rPr lang="en-US" b="true" sz="2601" spc="-54">
                <a:solidFill>
                  <a:srgbClr val="FFFFFF"/>
                </a:solidFill>
                <a:latin typeface="Aileron Bold"/>
                <a:ea typeface="Aileron Bold"/>
                <a:cs typeface="Aileron Bold"/>
                <a:sym typeface="Aileron Bold"/>
              </a:rPr>
              <a:t>reward </a:t>
            </a:r>
            <a:r>
              <a:rPr lang="en-US" sz="2601" spc="-54">
                <a:solidFill>
                  <a:srgbClr val="FFFFFF"/>
                </a:solidFill>
                <a:latin typeface="Aileron"/>
                <a:ea typeface="Aileron"/>
                <a:cs typeface="Aileron"/>
                <a:sym typeface="Aileron"/>
              </a:rPr>
              <a:t>systems loyalty points and exclusive content for patient ones</a:t>
            </a:r>
          </a:p>
          <a:p>
            <a:pPr algn="l" marL="561698" indent="-280849" lvl="1">
              <a:lnSpc>
                <a:spcPts val="3174"/>
              </a:lnSpc>
              <a:buFont typeface="Arial"/>
              <a:buChar char="•"/>
            </a:pPr>
            <a:r>
              <a:rPr lang="en-US" sz="2601" spc="-54">
                <a:solidFill>
                  <a:srgbClr val="FFFFFF"/>
                </a:solidFill>
                <a:latin typeface="Aileron"/>
                <a:ea typeface="Aileron"/>
                <a:cs typeface="Aileron"/>
                <a:sym typeface="Aileron"/>
              </a:rPr>
              <a:t>gamification, instant notifications, and limited-time offers for impatient ones.</a:t>
            </a:r>
          </a:p>
        </p:txBody>
      </p:sp>
      <p:sp>
        <p:nvSpPr>
          <p:cNvPr name="TextBox 22" id="22"/>
          <p:cNvSpPr txBox="true"/>
          <p:nvPr/>
        </p:nvSpPr>
        <p:spPr>
          <a:xfrm rot="0">
            <a:off x="1169354" y="2126486"/>
            <a:ext cx="7842962" cy="1603117"/>
          </a:xfrm>
          <a:prstGeom prst="rect">
            <a:avLst/>
          </a:prstGeom>
        </p:spPr>
        <p:txBody>
          <a:bodyPr anchor="t" rtlCol="false" tIns="0" lIns="0" bIns="0" rIns="0">
            <a:spAutoFit/>
          </a:bodyPr>
          <a:lstStyle/>
          <a:p>
            <a:pPr algn="l">
              <a:lnSpc>
                <a:spcPts val="3174"/>
              </a:lnSpc>
            </a:pPr>
            <a:r>
              <a:rPr lang="en-US" b="true" sz="2601" spc="-54">
                <a:solidFill>
                  <a:srgbClr val="163B42"/>
                </a:solidFill>
                <a:latin typeface="Canva Sans Bold"/>
                <a:ea typeface="Canva Sans Bold"/>
                <a:cs typeface="Canva Sans Bold"/>
                <a:sym typeface="Canva Sans Bold"/>
              </a:rPr>
              <a:t>One-size-fits-all approach won't work!</a:t>
            </a:r>
          </a:p>
          <a:p>
            <a:pPr algn="l">
              <a:lnSpc>
                <a:spcPts val="3174"/>
              </a:lnSpc>
            </a:pPr>
          </a:p>
          <a:p>
            <a:pPr algn="l">
              <a:lnSpc>
                <a:spcPts val="3174"/>
              </a:lnSpc>
            </a:pPr>
          </a:p>
          <a:p>
            <a:pPr algn="l">
              <a:lnSpc>
                <a:spcPts val="3174"/>
              </a:lnSpc>
            </a:pPr>
          </a:p>
        </p:txBody>
      </p:sp>
      <p:sp>
        <p:nvSpPr>
          <p:cNvPr name="AutoShape 23" id="23"/>
          <p:cNvSpPr/>
          <p:nvPr/>
        </p:nvSpPr>
        <p:spPr>
          <a:xfrm>
            <a:off x="9672738" y="5736967"/>
            <a:ext cx="481249" cy="0"/>
          </a:xfrm>
          <a:prstGeom prst="line">
            <a:avLst/>
          </a:prstGeom>
          <a:ln cap="flat" w="38100">
            <a:solidFill>
              <a:srgbClr val="000000"/>
            </a:solidFill>
            <a:prstDash val="solid"/>
            <a:headEnd type="none" len="sm" w="sm"/>
            <a:tailEnd type="arrow" len="sm" w="med"/>
          </a:ln>
        </p:spPr>
      </p:sp>
      <p:sp>
        <p:nvSpPr>
          <p:cNvPr name="TextBox 24" id="2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Freeform 3" id="3"/>
          <p:cNvSpPr/>
          <p:nvPr/>
        </p:nvSpPr>
        <p:spPr>
          <a:xfrm flipH="false" flipV="false" rot="7999235">
            <a:off x="-3385574" y="-1573212"/>
            <a:ext cx="16325817" cy="16325817"/>
          </a:xfrm>
          <a:custGeom>
            <a:avLst/>
            <a:gdLst/>
            <a:ahLst/>
            <a:cxnLst/>
            <a:rect r="r" b="b" t="t" l="l"/>
            <a:pathLst>
              <a:path h="16325817" w="16325817">
                <a:moveTo>
                  <a:pt x="0" y="0"/>
                </a:moveTo>
                <a:lnTo>
                  <a:pt x="16325817" y="0"/>
                </a:lnTo>
                <a:lnTo>
                  <a:pt x="16325817" y="16325817"/>
                </a:lnTo>
                <a:lnTo>
                  <a:pt x="0" y="16325817"/>
                </a:lnTo>
                <a:lnTo>
                  <a:pt x="0" y="0"/>
                </a:lnTo>
                <a:close/>
              </a:path>
            </a:pathLst>
          </a:custGeom>
          <a:blipFill>
            <a:blip r:embed="rId3">
              <a:alphaModFix amt="6000"/>
            </a:blip>
            <a:stretch>
              <a:fillRect l="0" t="0" r="0" b="0"/>
            </a:stretch>
          </a:blipFill>
        </p:spPr>
      </p:sp>
      <p:sp>
        <p:nvSpPr>
          <p:cNvPr name="Freeform 4" id="4"/>
          <p:cNvSpPr/>
          <p:nvPr/>
        </p:nvSpPr>
        <p:spPr>
          <a:xfrm flipH="false" flipV="false" rot="5120089">
            <a:off x="-892299" y="836642"/>
            <a:ext cx="11506109" cy="11506109"/>
          </a:xfrm>
          <a:custGeom>
            <a:avLst/>
            <a:gdLst/>
            <a:ahLst/>
            <a:cxnLst/>
            <a:rect r="r" b="b" t="t" l="l"/>
            <a:pathLst>
              <a:path h="11506109" w="11506109">
                <a:moveTo>
                  <a:pt x="0" y="0"/>
                </a:moveTo>
                <a:lnTo>
                  <a:pt x="11506109" y="0"/>
                </a:lnTo>
                <a:lnTo>
                  <a:pt x="11506109" y="11506109"/>
                </a:lnTo>
                <a:lnTo>
                  <a:pt x="0" y="11506109"/>
                </a:lnTo>
                <a:lnTo>
                  <a:pt x="0" y="0"/>
                </a:lnTo>
                <a:close/>
              </a:path>
            </a:pathLst>
          </a:custGeom>
          <a:blipFill>
            <a:blip r:embed="rId3">
              <a:alphaModFix amt="12000"/>
            </a:blip>
            <a:stretch>
              <a:fillRect l="0" t="0" r="0" b="0"/>
            </a:stretch>
          </a:blipFill>
        </p:spPr>
      </p:sp>
      <p:sp>
        <p:nvSpPr>
          <p:cNvPr name="Freeform 5" id="5"/>
          <p:cNvSpPr/>
          <p:nvPr/>
        </p:nvSpPr>
        <p:spPr>
          <a:xfrm flipH="false" flipV="true" rot="6480827">
            <a:off x="12489001" y="-3080284"/>
            <a:ext cx="5423860" cy="8217969"/>
          </a:xfrm>
          <a:custGeom>
            <a:avLst/>
            <a:gdLst/>
            <a:ahLst/>
            <a:cxnLst/>
            <a:rect r="r" b="b" t="t" l="l"/>
            <a:pathLst>
              <a:path h="8217969" w="5423860">
                <a:moveTo>
                  <a:pt x="0" y="8217968"/>
                </a:moveTo>
                <a:lnTo>
                  <a:pt x="5423860" y="8217968"/>
                </a:lnTo>
                <a:lnTo>
                  <a:pt x="5423860" y="0"/>
                </a:lnTo>
                <a:lnTo>
                  <a:pt x="0" y="0"/>
                </a:lnTo>
                <a:lnTo>
                  <a:pt x="0" y="8217968"/>
                </a:lnTo>
                <a:close/>
              </a:path>
            </a:pathLst>
          </a:custGeom>
          <a:blipFill>
            <a:blip r:embed="rId4">
              <a:alphaModFix amt="3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858624" y="5083655"/>
            <a:ext cx="12356480" cy="3771271"/>
          </a:xfrm>
          <a:prstGeom prst="rect">
            <a:avLst/>
          </a:prstGeom>
        </p:spPr>
        <p:txBody>
          <a:bodyPr anchor="t" rtlCol="false" tIns="0" lIns="0" bIns="0" rIns="0">
            <a:spAutoFit/>
          </a:bodyPr>
          <a:lstStyle/>
          <a:p>
            <a:pPr algn="l">
              <a:lnSpc>
                <a:spcPts val="14484"/>
              </a:lnSpc>
            </a:pPr>
            <a:r>
              <a:rPr lang="en-US" sz="14630" spc="-1375" b="true">
                <a:solidFill>
                  <a:srgbClr val="FFFFFF"/>
                </a:solidFill>
                <a:latin typeface="Canva Sans Bold"/>
                <a:ea typeface="Canva Sans Bold"/>
                <a:cs typeface="Canva Sans Bold"/>
                <a:sym typeface="Canva Sans Bold"/>
              </a:rPr>
              <a:t>Thank You</a:t>
            </a:r>
          </a:p>
          <a:p>
            <a:pPr algn="l">
              <a:lnSpc>
                <a:spcPts val="14484"/>
              </a:lnSpc>
            </a:pPr>
            <a:r>
              <a:rPr lang="en-US" sz="14630" spc="-1375" b="true">
                <a:solidFill>
                  <a:srgbClr val="FFFFFF"/>
                </a:solidFill>
                <a:latin typeface="Canva Sans Bold"/>
                <a:ea typeface="Canva Sans Bold"/>
                <a:cs typeface="Canva Sans Bold"/>
                <a:sym typeface="Canva Sans Bold"/>
              </a:rPr>
              <a:t>Questions?</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DAHFL_jRfrc</dc:identifier>
  <dcterms:modified xsi:type="dcterms:W3CDTF">2011-08-01T06:04:30Z</dcterms:modified>
  <cp:revision>1</cp:revision>
  <dc:title>Hackathon Spring ‘26</dc:title>
</cp:coreProperties>
</file>